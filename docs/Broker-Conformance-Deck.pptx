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</p:sldIdLst>
  <p:sldSz cy="6858000" cx="12191675"/>
  <p:notesSz cx="6858000" cy="12191675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150A3C2-1550-49CB-926A-73FA1EEA900E}">
  <a:tblStyle styleId="{1150A3C2-1550-49CB-926A-73FA1EEA900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Frame the goal: this is honest capability MAPPING across three OSS brokers, not a winner-take-all score. Production today is Kafka + Azure Service Bus; this PoC measures Artemis, RabbitMQ, and Kafka self-hosted. Walk the legend - the circle-slash means a declared, by-design gap, which is very different from a fail.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g3edeb268e3c_2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" name="Google Shape;33;g3edeb268e3c_2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g3edeb268e3c_2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" name="Google Shape;76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These are self-declared capabilities. Artemis declares the most; Kafka declares the least because it only implements what a partitioned log does natively. The totals on the right are the measured outcome: Artemis 17 pass, RabbitMQ 15, Kafka 8 - but read the buckets, not just the pass count. Kafka's gaps are by design.</a:t>
            </a:r>
            <a:endParaRPr/>
          </a:p>
        </p:txBody>
      </p:sp>
      <p:sp>
        <p:nvSpPr>
          <p:cNvPr id="77" name="Google Shape;77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edeb268e3c_2_4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g3edeb268e3c_2_4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g3edeb268e3c_2_4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edeb268e3c_2_8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3" name="Google Shape;133;g3edeb268e3c_2_8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g3edeb268e3c_2_8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9" name="Google Shape;159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This is the whole story on one slide. Read down the columns: Artemis is all green but one by-design gap (replay). RabbitMQ is green but three honest gaps. Kafka shows its shape clearly - green where logs win, amber/red where queue/scheduler features are needed. S10 now passes everywhere; the run-1 fail-open bug is fixed.</a:t>
            </a:r>
            <a:endParaRPr/>
          </a:p>
        </p:txBody>
      </p:sp>
      <p:sp>
        <p:nvSpPr>
          <p:cNvPr id="160" name="Google Shape;160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8" name="Google Shape;168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Proves the adapter contract works at all before anything harder.  Kafka's extra latency is one-time client/topic bootstrap, not steady-state.</a:t>
            </a:r>
            <a:endParaRPr/>
          </a:p>
        </p:txBody>
      </p:sp>
      <p:sp>
        <p:nvSpPr>
          <p:cNvPr id="169" name="Google Shape;169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9" name="Google Shape;199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headline log-vs-scheduler boundary: Kafka has no broker timer.  Artemis is native; RabbitMQ uses the delayed-message plugin (now archived).  Both queue brokers held ~3s as required.</a:t>
            </a:r>
            <a:endParaRPr/>
          </a:p>
        </p:txBody>
      </p:sp>
      <p:sp>
        <p:nvSpPr>
          <p:cNvPr id="200" name="Google Shape;200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0" name="Google Shape;2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⊘ here is an honest, declared gap — not a failure.  Decisive for the Azure Service Bus 'schedule now, cancel later' workload.</a:t>
            </a:r>
            <a:endParaRPr/>
          </a:p>
        </p:txBody>
      </p:sp>
      <p:sp>
        <p:nvSpPr>
          <p:cNvPr id="231" name="Google Shape;231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1" name="Google Shape;261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Observability of deferred work — you can see what's queued for the future.  Pairs with S3: Artemis alone can both list and cancel.</a:t>
            </a:r>
            <a:endParaRPr/>
          </a:p>
        </p:txBody>
      </p:sp>
      <p:sp>
        <p:nvSpPr>
          <p:cNvPr id="262" name="Google Shape;262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2" name="Google Shape;29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Server-side selective fan-out by message type.  In Kafka you'd filter client-side or fan into per-type topics — a design choice, not a bug.</a:t>
            </a:r>
            <a:endParaRPr/>
          </a:p>
        </p:txBody>
      </p:sp>
      <p:sp>
        <p:nvSpPr>
          <p:cNvPr id="293" name="Google Shape;293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3" name="Google Shape;32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 pattern logs do well — every consumer group reads the full stream.  All three broadcast cleanly to N independent consumers.</a:t>
            </a:r>
            <a:endParaRPr/>
          </a:p>
        </p:txBody>
      </p:sp>
      <p:sp>
        <p:nvSpPr>
          <p:cNvPr id="324" name="Google Shape;324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4" name="Google Shape;3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At-least-once with no loss on crash — all three deliver.  Kafka's redelivery via offset-seek + group rebalance cost ~20s here: a real latency signal.  Only Artemis reports a precise delivery-count.</a:t>
            </a:r>
            <a:endParaRPr/>
          </a:p>
        </p:txBody>
      </p:sp>
      <p:sp>
        <p:nvSpPr>
          <p:cNvPr id="355" name="Google Shape;355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5" name="Google Shape;38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Quarantine bad messages instead of retrying forever.  Kafka's gap here also gates S11 (retry queue) — same missing primitive.</a:t>
            </a:r>
            <a:endParaRPr/>
          </a:p>
        </p:txBody>
      </p:sp>
      <p:sp>
        <p:nvSpPr>
          <p:cNvPr id="386" name="Google Shape;386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4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6" name="Google Shape;416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Horizontal scale-out — a strength for all three.  Kafka's split granularity is the partition, so balance is coarser than a shared queue.</a:t>
            </a:r>
            <a:endParaRPr/>
          </a:p>
        </p:txBody>
      </p:sp>
      <p:sp>
        <p:nvSpPr>
          <p:cNvPr id="417" name="Google Shape;417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5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47" name="Google Shape;44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Validates the application-level idempotency wrapper, independent of the broker.  With the store: deduped to one effect. Store down: fails open and still processes once.  This was the run-1 known issue; it is resolved.</a:t>
            </a:r>
            <a:endParaRPr/>
          </a:p>
        </p:txBody>
      </p:sp>
      <p:sp>
        <p:nvSpPr>
          <p:cNvPr id="448" name="Google Shape;448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6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8" name="Google Shape;478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Resilient backoff retry without head-of-line blocking.  Healthy traffic kept flowing in tens of ms while the poison message backed off.</a:t>
            </a:r>
            <a:endParaRPr/>
          </a:p>
        </p:txBody>
      </p:sp>
      <p:sp>
        <p:nvSpPr>
          <p:cNvPr id="479" name="Google Shape;479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7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9" name="Google Shape;50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Per-entity ordering at scale (e.g., all events for one order).  Rabbit's consistent-hash landed both groups on one queue here — order held, distribution skewed.  Kafka does this natively via key→partition.</a:t>
            </a:r>
            <a:endParaRPr/>
          </a:p>
        </p:txBody>
      </p:sp>
      <p:sp>
        <p:nvSpPr>
          <p:cNvPr id="510" name="Google Shape;510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8" name="Shape 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Google Shape;53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0" name="Google Shape;540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Protection against accidental double-publish, handled in the broker.  Kafka's idempotent producer prevents retry-dupes, not application-level duplicate IDs.</a:t>
            </a:r>
            <a:endParaRPr/>
          </a:p>
        </p:txBody>
      </p:sp>
      <p:sp>
        <p:nvSpPr>
          <p:cNvPr id="541" name="Google Shape;541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9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Google Shape;570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1" name="Google Shape;57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Urgent work jumping the queue is a queue feature, not a log feature.  In Kafka, offset order is the only order; priority would need separate topics.</a:t>
            </a:r>
            <a:endParaRPr/>
          </a:p>
        </p:txBody>
      </p:sp>
      <p:sp>
        <p:nvSpPr>
          <p:cNvPr id="572" name="Google Shape;572;p1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2" name="Google Shape;60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Synchronous-feeling RPC over async messaging.  Watch Kafka's rebalance latency against tight request/reply budgets.</a:t>
            </a:r>
            <a:endParaRPr/>
          </a:p>
        </p:txBody>
      </p:sp>
      <p:sp>
        <p:nvSpPr>
          <p:cNvPr id="603" name="Google Shape;603;p1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1" name="Shape 6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Google Shape;6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33" name="Google Shape;633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Drop stale work automatically, per message.  Kafka retention deletes by time/size for the whole topic — not per-message routing.</a:t>
            </a:r>
            <a:endParaRPr/>
          </a:p>
        </p:txBody>
      </p:sp>
      <p:sp>
        <p:nvSpPr>
          <p:cNvPr id="634" name="Google Shape;634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2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4" name="Google Shape;664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No missed events across disconnects.  Kafka's durable offsets are a natural fit for this pattern.</a:t>
            </a:r>
            <a:endParaRPr/>
          </a:p>
        </p:txBody>
      </p:sp>
      <p:sp>
        <p:nvSpPr>
          <p:cNvPr id="665" name="Google Shape;665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3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Google Shape;694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5" name="Google Shape;69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Ordered processing with hot standby, no duplicate active workers.  The 1-partition workaround trades away the parallelism that S9/S12 rely on.  One of the two most defensible 'Kafka isn't worse, it's different' points.</a:t>
            </a:r>
            <a:endParaRPr/>
          </a:p>
        </p:txBody>
      </p:sp>
      <p:sp>
        <p:nvSpPr>
          <p:cNvPr id="696" name="Google Shape;696;p2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4" name="Shape 7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5" name="Google Shape;725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6" name="Google Shape;726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Rebuild state / onboard new consumers from history.  Artemis is a queue: consumed messages are gone — an honest ⊘, not a break.  This is exactly why Kafka stays in the stack for streaming workloads.</a:t>
            </a:r>
            <a:endParaRPr/>
          </a:p>
        </p:txBody>
      </p:sp>
      <p:sp>
        <p:nvSpPr>
          <p:cNvPr id="727" name="Google Shape;727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5" name="Shape 7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Google Shape;756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7" name="Google Shape;7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This slide reframes the pass count. Kafka isn't 'worse' - it's a different primitive. The two most defensible talking points are the S18 single-active tunable (you can get it with a 1-partition topic, but you lose parallelism) and the consumer-group latency numbers. Land the headline: pick the tool by workload shape, log vs queue.</a:t>
            </a:r>
            <a:endParaRPr/>
          </a:p>
        </p:txBody>
      </p:sp>
      <p:sp>
        <p:nvSpPr>
          <p:cNvPr id="758" name="Google Shape;758;p2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recommendation is workload routing, not a single broker. Kafka stays for streaming/replay (we already run it). Artemis is the pick for the broker-native queue workloads, especially the ASB scheduling replacement - it's the only one that passed S2-S4 plus S13. RabbitMQ is viable but you give up scheduled cancel/list and native dedup, and its scheduling rides the archived plugin. Close on the caveats so nobody over-reads the numbers.</a:t>
            </a:r>
            <a:endParaRPr/>
          </a:p>
        </p:txBody>
      </p:sp>
      <p:sp>
        <p:nvSpPr>
          <p:cNvPr id="786" name="Google Shape;786;p2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05" name="Google Shape;805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This is the load-bearing implementation finding. Wolverine has no Artemis/AMQP-1.0 transport, so it can't even participate in an Artemis comparison. MassTransit can reach Artemis but its scheduler targets an ActiveMQ Classic header Artemis ignores, so scheduled sends fire immediately - the one feature we most need is broken. Plus v8 is EOL end-2026 and v9 dropped ActiveMQ and went commercial. Hand-rolling a thin IMessageScheduler seam schedules at the broker via x-opt-delivery-time, verified live, with no framework lock-in.</a:t>
            </a:r>
            <a:endParaRPr/>
          </a:p>
        </p:txBody>
      </p:sp>
      <p:sp>
        <p:nvSpPr>
          <p:cNvPr id="806" name="Google Shape;806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6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Google Shape;81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8" name="Google Shape;81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migration is a single seam, not a big-bang rewrite. Step 1 adds interfaces with zero behavior change. Step 2 routes existing code through them - the file counts are an estimate from the current grep, treat them as a floor. Step 3 adds the three adapters, each declaring capabilities. Step 4 is a one-env-var factory wrapped in Cockatiel. Cutover is per-service and reversible: default asb, flip to artemis lowest-traffic first, then delete the ASB adapter once stable.</a:t>
            </a:r>
            <a:endParaRPr/>
          </a:p>
        </p:txBody>
      </p:sp>
      <p:sp>
        <p:nvSpPr>
          <p:cNvPr id="819" name="Google Shape;81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10.png"/><Relationship Id="rId9" Type="http://schemas.openxmlformats.org/officeDocument/2006/relationships/image" Target="../media/image22.png"/><Relationship Id="rId5" Type="http://schemas.openxmlformats.org/officeDocument/2006/relationships/image" Target="../media/image8.png"/><Relationship Id="rId6" Type="http://schemas.openxmlformats.org/officeDocument/2006/relationships/image" Target="../media/image6.png"/><Relationship Id="rId7" Type="http://schemas.openxmlformats.org/officeDocument/2006/relationships/image" Target="../media/image51.png"/><Relationship Id="rId8" Type="http://schemas.openxmlformats.org/officeDocument/2006/relationships/image" Target="../media/image1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18.png"/><Relationship Id="rId5" Type="http://schemas.openxmlformats.org/officeDocument/2006/relationships/image" Target="../media/image9.png"/><Relationship Id="rId6" Type="http://schemas.openxmlformats.org/officeDocument/2006/relationships/image" Target="../media/image3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6.png"/><Relationship Id="rId4" Type="http://schemas.openxmlformats.org/officeDocument/2006/relationships/image" Target="../media/image19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9.png"/><Relationship Id="rId4" Type="http://schemas.openxmlformats.org/officeDocument/2006/relationships/image" Target="../media/image19.png"/><Relationship Id="rId5" Type="http://schemas.openxmlformats.org/officeDocument/2006/relationships/image" Target="../media/image3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3.png"/><Relationship Id="rId4" Type="http://schemas.openxmlformats.org/officeDocument/2006/relationships/image" Target="../media/image19.png"/><Relationship Id="rId5" Type="http://schemas.openxmlformats.org/officeDocument/2006/relationships/image" Target="../media/image17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5.png"/><Relationship Id="rId4" Type="http://schemas.openxmlformats.org/officeDocument/2006/relationships/image" Target="../media/image19.png"/><Relationship Id="rId5" Type="http://schemas.openxmlformats.org/officeDocument/2006/relationships/image" Target="../media/image1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6.png"/><Relationship Id="rId4" Type="http://schemas.openxmlformats.org/officeDocument/2006/relationships/image" Target="../media/image19.png"/><Relationship Id="rId5" Type="http://schemas.openxmlformats.org/officeDocument/2006/relationships/image" Target="../media/image1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9.png"/><Relationship Id="rId4" Type="http://schemas.openxmlformats.org/officeDocument/2006/relationships/image" Target="../media/image19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5.png"/><Relationship Id="rId4" Type="http://schemas.openxmlformats.org/officeDocument/2006/relationships/image" Target="../media/image1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2.png"/><Relationship Id="rId4" Type="http://schemas.openxmlformats.org/officeDocument/2006/relationships/image" Target="../media/image19.png"/><Relationship Id="rId5" Type="http://schemas.openxmlformats.org/officeDocument/2006/relationships/image" Target="../media/image17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76.png"/><Relationship Id="rId4" Type="http://schemas.openxmlformats.org/officeDocument/2006/relationships/image" Target="../media/image19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2.png"/><Relationship Id="rId4" Type="http://schemas.openxmlformats.org/officeDocument/2006/relationships/image" Target="../media/image1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0.png"/><Relationship Id="rId4" Type="http://schemas.openxmlformats.org/officeDocument/2006/relationships/image" Target="../media/image19.png"/><Relationship Id="rId5" Type="http://schemas.openxmlformats.org/officeDocument/2006/relationships/image" Target="../media/image1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84.png"/><Relationship Id="rId4" Type="http://schemas.openxmlformats.org/officeDocument/2006/relationships/image" Target="../media/image19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8.png"/><Relationship Id="rId4" Type="http://schemas.openxmlformats.org/officeDocument/2006/relationships/image" Target="../media/image19.png"/><Relationship Id="rId5" Type="http://schemas.openxmlformats.org/officeDocument/2006/relationships/image" Target="../media/image1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1.png"/><Relationship Id="rId4" Type="http://schemas.openxmlformats.org/officeDocument/2006/relationships/image" Target="../media/image19.png"/><Relationship Id="rId5" Type="http://schemas.openxmlformats.org/officeDocument/2006/relationships/image" Target="../media/image3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0.png"/><Relationship Id="rId4" Type="http://schemas.openxmlformats.org/officeDocument/2006/relationships/image" Target="../media/image1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6.png"/><Relationship Id="rId4" Type="http://schemas.openxmlformats.org/officeDocument/2006/relationships/image" Target="../media/image19.png"/><Relationship Id="rId5" Type="http://schemas.openxmlformats.org/officeDocument/2006/relationships/image" Target="../media/image3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3.png"/><Relationship Id="rId4" Type="http://schemas.openxmlformats.org/officeDocument/2006/relationships/image" Target="../media/image1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2.png"/><Relationship Id="rId4" Type="http://schemas.openxmlformats.org/officeDocument/2006/relationships/image" Target="../media/image19.png"/><Relationship Id="rId5" Type="http://schemas.openxmlformats.org/officeDocument/2006/relationships/image" Target="../media/image31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94.png"/><Relationship Id="rId4" Type="http://schemas.openxmlformats.org/officeDocument/2006/relationships/image" Target="../media/image17.png"/><Relationship Id="rId5" Type="http://schemas.openxmlformats.org/officeDocument/2006/relationships/image" Target="../media/image19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00.png"/><Relationship Id="rId4" Type="http://schemas.openxmlformats.org/officeDocument/2006/relationships/image" Target="../media/image17.png"/><Relationship Id="rId5" Type="http://schemas.openxmlformats.org/officeDocument/2006/relationships/image" Target="../media/image106.png"/><Relationship Id="rId6" Type="http://schemas.openxmlformats.org/officeDocument/2006/relationships/image" Target="../media/image96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01.png"/><Relationship Id="rId4" Type="http://schemas.openxmlformats.org/officeDocument/2006/relationships/image" Target="../media/image103.png"/><Relationship Id="rId5" Type="http://schemas.openxmlformats.org/officeDocument/2006/relationships/image" Target="../media/image95.png"/><Relationship Id="rId6" Type="http://schemas.openxmlformats.org/officeDocument/2006/relationships/image" Target="../media/image104.png"/><Relationship Id="rId7" Type="http://schemas.openxmlformats.org/officeDocument/2006/relationships/image" Target="../media/image9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6314F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8961120" y="-2194560"/>
            <a:ext cx="5852160" cy="5852160"/>
          </a:xfrm>
          <a:prstGeom prst="ellipse">
            <a:avLst/>
          </a:prstGeom>
          <a:solidFill>
            <a:srgbClr val="21496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3"/>
          <p:cNvSpPr/>
          <p:nvPr/>
        </p:nvSpPr>
        <p:spPr>
          <a:xfrm>
            <a:off x="10424160" y="3840480"/>
            <a:ext cx="4023360" cy="4023360"/>
          </a:xfrm>
          <a:prstGeom prst="ellipse">
            <a:avLst/>
          </a:prstGeom>
          <a:solidFill>
            <a:srgbClr val="0A4F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3"/>
          <p:cNvSpPr/>
          <p:nvPr/>
        </p:nvSpPr>
        <p:spPr>
          <a:xfrm>
            <a:off x="822960" y="86868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DB6CC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9DB6CC"/>
                </a:solidFill>
                <a:latin typeface="Calibri"/>
                <a:ea typeface="Calibri"/>
                <a:cs typeface="Calibri"/>
                <a:sym typeface="Calibri"/>
              </a:rPr>
              <a:t>MESSAGING PLATFORM POC  —  CONFORMANCE SUITE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3"/>
          <p:cNvSpPr/>
          <p:nvPr/>
        </p:nvSpPr>
        <p:spPr>
          <a:xfrm>
            <a:off x="777240" y="1554480"/>
            <a:ext cx="1005840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Bookman Old Style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Broker Conformance: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Bookman Old Style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19 scenarios, three brokers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/>
          <p:nvPr/>
        </p:nvSpPr>
        <p:spPr>
          <a:xfrm>
            <a:off x="822960" y="3611880"/>
            <a:ext cx="10515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FD3CF"/>
              </a:buClr>
              <a:buSzPts val="2100"/>
              <a:buFont typeface="Calibri"/>
              <a:buNone/>
            </a:pPr>
            <a:r>
              <a:rPr b="1" i="0" lang="en-US" sz="2100" u="none" cap="none" strike="noStrike">
                <a:solidFill>
                  <a:srgbClr val="8FD3CF"/>
                </a:solidFill>
                <a:latin typeface="Calibri"/>
                <a:ea typeface="Calibri"/>
                <a:cs typeface="Calibri"/>
                <a:sym typeface="Calibri"/>
              </a:rPr>
              <a:t>Apache ActiveMQ Artemis</a:t>
            </a:r>
            <a:r>
              <a:rPr b="0" i="0" lang="en-US" sz="2100" u="none" cap="none" strike="noStrike">
                <a:solidFill>
                  <a:srgbClr val="7C97AE"/>
                </a:solidFill>
                <a:latin typeface="Calibri"/>
                <a:ea typeface="Calibri"/>
                <a:cs typeface="Calibri"/>
                <a:sym typeface="Calibri"/>
              </a:rPr>
              <a:t>   ·   </a:t>
            </a:r>
            <a:r>
              <a:rPr b="1" i="0" lang="en-US" sz="2100" u="none" cap="none" strike="noStrike">
                <a:solidFill>
                  <a:srgbClr val="E7B58C"/>
                </a:solidFill>
                <a:latin typeface="Calibri"/>
                <a:ea typeface="Calibri"/>
                <a:cs typeface="Calibri"/>
                <a:sym typeface="Calibri"/>
              </a:rPr>
              <a:t>RabbitMQ</a:t>
            </a:r>
            <a:r>
              <a:rPr b="0" i="0" lang="en-US" sz="2100" u="none" cap="none" strike="noStrike">
                <a:solidFill>
                  <a:srgbClr val="7C97AE"/>
                </a:solidFill>
                <a:latin typeface="Calibri"/>
                <a:ea typeface="Calibri"/>
                <a:cs typeface="Calibri"/>
                <a:sym typeface="Calibri"/>
              </a:rPr>
              <a:t>   ·   </a:t>
            </a:r>
            <a:r>
              <a:rPr b="1" i="0" lang="en-US" sz="2100" u="none" cap="none" strike="noStrike">
                <a:solidFill>
                  <a:srgbClr val="AEB1E6"/>
                </a:solidFill>
                <a:latin typeface="Calibri"/>
                <a:ea typeface="Calibri"/>
                <a:cs typeface="Calibri"/>
                <a:sym typeface="Calibri"/>
              </a:rPr>
              <a:t>Apache Kafka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/>
          <p:nvPr/>
        </p:nvSpPr>
        <p:spPr>
          <a:xfrm>
            <a:off x="822960" y="4297680"/>
            <a:ext cx="103327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3D2E0"/>
              </a:buClr>
              <a:buSzPts val="1500"/>
              <a:buFont typeface="Calibri"/>
              <a:buNone/>
            </a:pPr>
            <a:r>
              <a:rPr b="0" i="1" lang="en-US" sz="1500" u="none" cap="none" strike="noStrike">
                <a:solidFill>
                  <a:srgbClr val="C3D2E0"/>
                </a:solidFill>
                <a:latin typeface="Calibri"/>
                <a:ea typeface="Calibri"/>
                <a:cs typeface="Calibri"/>
                <a:sym typeface="Calibri"/>
              </a:rPr>
              <a:t>Honest capability mapping — not a score race. Measured against pluggable adapters through one resilience decorator.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822960" y="5532120"/>
            <a:ext cx="384048" cy="384048"/>
          </a:xfrm>
          <a:prstGeom prst="ellipse">
            <a:avLst/>
          </a:prstGeom>
          <a:solidFill>
            <a:srgbClr val="1E9E6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2960" y="5532120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✓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3"/>
          <p:cNvSpPr/>
          <p:nvPr/>
        </p:nvSpPr>
        <p:spPr>
          <a:xfrm>
            <a:off x="1298448" y="5532120"/>
            <a:ext cx="33832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3EEF0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E3EEF0"/>
                </a:solidFill>
                <a:latin typeface="Calibri"/>
                <a:ea typeface="Calibri"/>
                <a:cs typeface="Calibri"/>
                <a:sym typeface="Calibri"/>
              </a:rPr>
              <a:t>PASS — behaves as required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3"/>
          <p:cNvSpPr/>
          <p:nvPr/>
        </p:nvSpPr>
        <p:spPr>
          <a:xfrm>
            <a:off x="4480560" y="5532120"/>
            <a:ext cx="384048" cy="384048"/>
          </a:xfrm>
          <a:prstGeom prst="ellipse">
            <a:avLst/>
          </a:prstGeom>
          <a:solidFill>
            <a:srgbClr val="C2962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" name="Google Shape;26;p3"/>
          <p:cNvSpPr/>
          <p:nvPr/>
        </p:nvSpPr>
        <p:spPr>
          <a:xfrm>
            <a:off x="4480560" y="5532120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⊘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3"/>
          <p:cNvSpPr/>
          <p:nvPr/>
        </p:nvSpPr>
        <p:spPr>
          <a:xfrm>
            <a:off x="4956048" y="5532120"/>
            <a:ext cx="33832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3EEF0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E3EEF0"/>
                </a:solidFill>
                <a:latin typeface="Calibri"/>
                <a:ea typeface="Calibri"/>
                <a:cs typeface="Calibri"/>
                <a:sym typeface="Calibri"/>
              </a:rPr>
              <a:t>UNSUPPORTED — honest, by-design gap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3"/>
          <p:cNvSpPr/>
          <p:nvPr/>
        </p:nvSpPr>
        <p:spPr>
          <a:xfrm>
            <a:off x="8138160" y="5532120"/>
            <a:ext cx="384048" cy="384048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" name="Google Shape;29;p3"/>
          <p:cNvSpPr/>
          <p:nvPr/>
        </p:nvSpPr>
        <p:spPr>
          <a:xfrm>
            <a:off x="8138160" y="5532120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✗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3"/>
          <p:cNvSpPr/>
          <p:nvPr/>
        </p:nvSpPr>
        <p:spPr>
          <a:xfrm>
            <a:off x="8613648" y="5532120"/>
            <a:ext cx="33832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3EEF0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E3EEF0"/>
                </a:solidFill>
                <a:latin typeface="Calibri"/>
                <a:ea typeface="Calibri"/>
                <a:cs typeface="Calibri"/>
                <a:sym typeface="Calibri"/>
              </a:rPr>
              <a:t>FAIL — a real break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4"/>
          <p:cNvSpPr/>
          <p:nvPr/>
        </p:nvSpPr>
        <p:spPr>
          <a:xfrm>
            <a:off x="777240" y="457200"/>
            <a:ext cx="106071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314F"/>
              </a:buClr>
              <a:buSzPts val="2700"/>
              <a:buFont typeface="Bookman Old Style"/>
              <a:buNone/>
            </a:pPr>
            <a:r>
              <a:rPr b="1" i="0" lang="en-US" sz="2700" u="none" cap="none" strike="noStrike">
                <a:solidFill>
                  <a:srgbClr val="16314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The decision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4"/>
          <p:cNvSpPr/>
          <p:nvPr/>
        </p:nvSpPr>
        <p:spPr>
          <a:xfrm>
            <a:off x="777240" y="1078992"/>
            <a:ext cx="106986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670"/>
              </a:buClr>
              <a:buSzPts val="1500"/>
              <a:buFont typeface="Calibri"/>
              <a:buNone/>
            </a:pPr>
            <a:r>
              <a:rPr b="0" i="1" lang="en-US" sz="150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Azure Service Bus is deprecated for our use case — we must preserve scheduled, cancellable delivery.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4"/>
          <p:cNvSpPr/>
          <p:nvPr/>
        </p:nvSpPr>
        <p:spPr>
          <a:xfrm>
            <a:off x="777240" y="1783080"/>
            <a:ext cx="4160400" cy="4206300"/>
          </a:xfrm>
          <a:prstGeom prst="roundRect">
            <a:avLst>
              <a:gd fmla="val 2637" name="adj"/>
            </a:avLst>
          </a:prstGeom>
          <a:solidFill>
            <a:srgbClr val="16314F"/>
          </a:solidFill>
          <a:ln>
            <a:noFill/>
          </a:ln>
          <a:effectLst>
            <a:outerShdw blurRad="88900" rotWithShape="0" algn="bl" dir="5400000" dist="38100">
              <a:srgbClr val="000000">
                <a:alpha val="1216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4"/>
          <p:cNvSpPr/>
          <p:nvPr/>
        </p:nvSpPr>
        <p:spPr>
          <a:xfrm>
            <a:off x="1097280" y="2103120"/>
            <a:ext cx="777300" cy="777300"/>
          </a:xfrm>
          <a:prstGeom prst="ellipse">
            <a:avLst/>
          </a:prstGeom>
          <a:solidFill>
            <a:srgbClr val="0F6E6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0" name="Google Shape;40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99362" y="2305202"/>
            <a:ext cx="373075" cy="373075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Google Shape;41;p4"/>
          <p:cNvSpPr/>
          <p:nvPr/>
        </p:nvSpPr>
        <p:spPr>
          <a:xfrm>
            <a:off x="2057400" y="2212848"/>
            <a:ext cx="27432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Bookman Old Style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The core capability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4"/>
          <p:cNvSpPr/>
          <p:nvPr/>
        </p:nvSpPr>
        <p:spPr>
          <a:xfrm>
            <a:off x="1097280" y="3154680"/>
            <a:ext cx="3520500" cy="128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Calibri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Schedule a message that triggers an action at a future time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AFC4D6"/>
              </a:buClr>
              <a:buSzPts val="1700"/>
              <a:buFont typeface="Calibri"/>
              <a:buNone/>
            </a:pPr>
            <a:r>
              <a:rPr b="0" i="0" lang="en-US" sz="1700" u="none" cap="none" strike="noStrike">
                <a:solidFill>
                  <a:srgbClr val="AFC4D6"/>
                </a:solidFill>
                <a:latin typeface="Calibri"/>
                <a:ea typeface="Calibri"/>
                <a:cs typeface="Calibri"/>
                <a:sym typeface="Calibri"/>
              </a:rPr>
              <a:t>— and cancel it before it fires.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4"/>
          <p:cNvSpPr/>
          <p:nvPr/>
        </p:nvSpPr>
        <p:spPr>
          <a:xfrm>
            <a:off x="1097280" y="4617720"/>
            <a:ext cx="35661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9DB6CC"/>
              </a:buClr>
              <a:buSzPts val="1350"/>
              <a:buFont typeface="Calibri"/>
              <a:buNone/>
            </a:pPr>
            <a:r>
              <a:rPr b="0" i="1" lang="en-US" sz="1350" u="none" cap="none" strike="noStrike">
                <a:solidFill>
                  <a:srgbClr val="9DB6CC"/>
                </a:solidFill>
                <a:latin typeface="Calibri"/>
                <a:ea typeface="Calibri"/>
                <a:cs typeface="Calibri"/>
                <a:sym typeface="Calibri"/>
              </a:rPr>
              <a:t>This is the part of Service Bus we depend on most — so it is the requirement we cannot compromise.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4"/>
          <p:cNvSpPr/>
          <p:nvPr/>
        </p:nvSpPr>
        <p:spPr>
          <a:xfrm>
            <a:off x="5257800" y="1783080"/>
            <a:ext cx="3108900" cy="1280100"/>
          </a:xfrm>
          <a:prstGeom prst="roundRect">
            <a:avLst>
              <a:gd fmla="val 7143" name="adj"/>
            </a:avLst>
          </a:prstGeom>
          <a:solidFill>
            <a:srgbClr val="F4F6F8"/>
          </a:solidFill>
          <a:ln cap="flat" cmpd="sng" w="12700">
            <a:solidFill>
              <a:srgbClr val="DBE2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" name="Google Shape;45;p4"/>
          <p:cNvSpPr/>
          <p:nvPr/>
        </p:nvSpPr>
        <p:spPr>
          <a:xfrm>
            <a:off x="5458968" y="2057400"/>
            <a:ext cx="713100" cy="713100"/>
          </a:xfrm>
          <a:prstGeom prst="ellipse">
            <a:avLst/>
          </a:prstGeom>
          <a:solidFill>
            <a:srgbClr val="E9F2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6" name="Google Shape;46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644408" y="2242840"/>
            <a:ext cx="342351" cy="342351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Google Shape;47;p4"/>
          <p:cNvSpPr/>
          <p:nvPr/>
        </p:nvSpPr>
        <p:spPr>
          <a:xfrm>
            <a:off x="6309360" y="1984248"/>
            <a:ext cx="19203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6E6E"/>
              </a:buClr>
              <a:buSzPts val="1600"/>
              <a:buFont typeface="Bookman Old Style"/>
              <a:buNone/>
            </a:pPr>
            <a:r>
              <a:rPr b="1" i="0" lang="en-US" sz="1600" u="none" cap="none" strike="noStrike">
                <a:solidFill>
                  <a:srgbClr val="0F6E6E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R1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4"/>
          <p:cNvSpPr/>
          <p:nvPr/>
        </p:nvSpPr>
        <p:spPr>
          <a:xfrm>
            <a:off x="6309360" y="2331720"/>
            <a:ext cx="19203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450"/>
              <a:buFont typeface="Calibri"/>
              <a:buNone/>
            </a:pPr>
            <a:r>
              <a:rPr b="1" i="0" lang="en-US" sz="145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Future scheduling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4"/>
          <p:cNvSpPr/>
          <p:nvPr/>
        </p:nvSpPr>
        <p:spPr>
          <a:xfrm>
            <a:off x="8549640" y="1783080"/>
            <a:ext cx="3108900" cy="1280100"/>
          </a:xfrm>
          <a:prstGeom prst="roundRect">
            <a:avLst>
              <a:gd fmla="val 7143" name="adj"/>
            </a:avLst>
          </a:prstGeom>
          <a:solidFill>
            <a:srgbClr val="F4F6F8"/>
          </a:solidFill>
          <a:ln cap="flat" cmpd="sng" w="12700">
            <a:solidFill>
              <a:srgbClr val="DBE2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" name="Google Shape;50;p4"/>
          <p:cNvSpPr/>
          <p:nvPr/>
        </p:nvSpPr>
        <p:spPr>
          <a:xfrm>
            <a:off x="8750808" y="2057400"/>
            <a:ext cx="713100" cy="713100"/>
          </a:xfrm>
          <a:prstGeom prst="ellipse">
            <a:avLst/>
          </a:prstGeom>
          <a:solidFill>
            <a:srgbClr val="E9F2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1" name="Google Shape;51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936248" y="2242840"/>
            <a:ext cx="342351" cy="342351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4"/>
          <p:cNvSpPr/>
          <p:nvPr/>
        </p:nvSpPr>
        <p:spPr>
          <a:xfrm>
            <a:off x="9601200" y="1984248"/>
            <a:ext cx="19203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6E6E"/>
              </a:buClr>
              <a:buSzPts val="1600"/>
              <a:buFont typeface="Bookman Old Style"/>
              <a:buNone/>
            </a:pPr>
            <a:r>
              <a:rPr b="1" i="0" lang="en-US" sz="1600" u="none" cap="none" strike="noStrike">
                <a:solidFill>
                  <a:srgbClr val="0F6E6E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R2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4"/>
          <p:cNvSpPr/>
          <p:nvPr/>
        </p:nvSpPr>
        <p:spPr>
          <a:xfrm>
            <a:off x="9601200" y="2331720"/>
            <a:ext cx="19203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450"/>
              <a:buFont typeface="Calibri"/>
              <a:buNone/>
            </a:pPr>
            <a:r>
              <a:rPr b="1" i="0" lang="en-US" sz="145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AMQP (or strong case)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4"/>
          <p:cNvSpPr/>
          <p:nvPr/>
        </p:nvSpPr>
        <p:spPr>
          <a:xfrm>
            <a:off x="5257800" y="3246120"/>
            <a:ext cx="3108900" cy="1280100"/>
          </a:xfrm>
          <a:prstGeom prst="roundRect">
            <a:avLst>
              <a:gd fmla="val 7143" name="adj"/>
            </a:avLst>
          </a:prstGeom>
          <a:solidFill>
            <a:srgbClr val="F4F6F8"/>
          </a:solidFill>
          <a:ln cap="flat" cmpd="sng" w="12700">
            <a:solidFill>
              <a:srgbClr val="DBE2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4"/>
          <p:cNvSpPr/>
          <p:nvPr/>
        </p:nvSpPr>
        <p:spPr>
          <a:xfrm>
            <a:off x="5458968" y="3520440"/>
            <a:ext cx="713100" cy="713100"/>
          </a:xfrm>
          <a:prstGeom prst="ellipse">
            <a:avLst/>
          </a:prstGeom>
          <a:solidFill>
            <a:srgbClr val="E9F2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6" name="Google Shape;56;p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644408" y="3705880"/>
            <a:ext cx="342351" cy="342351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4"/>
          <p:cNvSpPr/>
          <p:nvPr/>
        </p:nvSpPr>
        <p:spPr>
          <a:xfrm>
            <a:off x="6309360" y="3447288"/>
            <a:ext cx="19203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6E6E"/>
              </a:buClr>
              <a:buSzPts val="1600"/>
              <a:buFont typeface="Bookman Old Style"/>
              <a:buNone/>
            </a:pPr>
            <a:r>
              <a:rPr b="1" i="0" lang="en-US" sz="1600" u="none" cap="none" strike="noStrike">
                <a:solidFill>
                  <a:srgbClr val="0F6E6E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R3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4"/>
          <p:cNvSpPr/>
          <p:nvPr/>
        </p:nvSpPr>
        <p:spPr>
          <a:xfrm>
            <a:off x="6309360" y="3794760"/>
            <a:ext cx="19203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450"/>
              <a:buFont typeface="Calibri"/>
              <a:buNone/>
            </a:pPr>
            <a:r>
              <a:rPr b="1" i="0" lang="en-US" sz="145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Local Docker Compose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4"/>
          <p:cNvSpPr/>
          <p:nvPr/>
        </p:nvSpPr>
        <p:spPr>
          <a:xfrm>
            <a:off x="8549640" y="3246120"/>
            <a:ext cx="3108900" cy="1280100"/>
          </a:xfrm>
          <a:prstGeom prst="roundRect">
            <a:avLst>
              <a:gd fmla="val 7143" name="adj"/>
            </a:avLst>
          </a:prstGeom>
          <a:solidFill>
            <a:srgbClr val="F4F6F8"/>
          </a:solidFill>
          <a:ln cap="flat" cmpd="sng" w="12700">
            <a:solidFill>
              <a:srgbClr val="DBE2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4"/>
          <p:cNvSpPr/>
          <p:nvPr/>
        </p:nvSpPr>
        <p:spPr>
          <a:xfrm>
            <a:off x="8750808" y="3520440"/>
            <a:ext cx="713100" cy="713100"/>
          </a:xfrm>
          <a:prstGeom prst="ellipse">
            <a:avLst/>
          </a:prstGeom>
          <a:solidFill>
            <a:srgbClr val="E9F2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61" name="Google Shape;61;p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936248" y="3705880"/>
            <a:ext cx="342351" cy="342351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4"/>
          <p:cNvSpPr/>
          <p:nvPr/>
        </p:nvSpPr>
        <p:spPr>
          <a:xfrm>
            <a:off x="9601200" y="3447288"/>
            <a:ext cx="19203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6E6E"/>
              </a:buClr>
              <a:buSzPts val="1600"/>
              <a:buFont typeface="Bookman Old Style"/>
              <a:buNone/>
            </a:pPr>
            <a:r>
              <a:rPr b="1" i="0" lang="en-US" sz="1600" u="none" cap="none" strike="noStrike">
                <a:solidFill>
                  <a:srgbClr val="0F6E6E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R4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4"/>
          <p:cNvSpPr/>
          <p:nvPr/>
        </p:nvSpPr>
        <p:spPr>
          <a:xfrm>
            <a:off x="9601200" y="3794760"/>
            <a:ext cx="19203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450"/>
              <a:buFont typeface="Calibri"/>
              <a:buNone/>
            </a:pPr>
            <a:r>
              <a:rPr b="1" i="0" lang="en-US" sz="145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.NET + TypeScript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4"/>
          <p:cNvSpPr/>
          <p:nvPr/>
        </p:nvSpPr>
        <p:spPr>
          <a:xfrm>
            <a:off x="5257800" y="4709160"/>
            <a:ext cx="3108900" cy="1280100"/>
          </a:xfrm>
          <a:prstGeom prst="roundRect">
            <a:avLst>
              <a:gd fmla="val 7143" name="adj"/>
            </a:avLst>
          </a:prstGeom>
          <a:solidFill>
            <a:srgbClr val="F4F6F8"/>
          </a:solidFill>
          <a:ln cap="flat" cmpd="sng" w="12700">
            <a:solidFill>
              <a:srgbClr val="DBE2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p4"/>
          <p:cNvSpPr/>
          <p:nvPr/>
        </p:nvSpPr>
        <p:spPr>
          <a:xfrm>
            <a:off x="5458968" y="4983480"/>
            <a:ext cx="713100" cy="713100"/>
          </a:xfrm>
          <a:prstGeom prst="ellipse">
            <a:avLst/>
          </a:prstGeom>
          <a:solidFill>
            <a:srgbClr val="E9F2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66" name="Google Shape;66;p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644408" y="5168920"/>
            <a:ext cx="342351" cy="342351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4"/>
          <p:cNvSpPr/>
          <p:nvPr/>
        </p:nvSpPr>
        <p:spPr>
          <a:xfrm>
            <a:off x="6309360" y="4910328"/>
            <a:ext cx="19203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6E6E"/>
              </a:buClr>
              <a:buSzPts val="1600"/>
              <a:buFont typeface="Bookman Old Style"/>
              <a:buNone/>
            </a:pPr>
            <a:r>
              <a:rPr b="1" i="0" lang="en-US" sz="1600" u="none" cap="none" strike="noStrike">
                <a:solidFill>
                  <a:srgbClr val="0F6E6E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R5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4"/>
          <p:cNvSpPr/>
          <p:nvPr/>
        </p:nvSpPr>
        <p:spPr>
          <a:xfrm>
            <a:off x="6309360" y="5257800"/>
            <a:ext cx="19203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450"/>
              <a:buFont typeface="Calibri"/>
              <a:buNone/>
            </a:pPr>
            <a:r>
              <a:rPr b="1" i="0" lang="en-US" sz="145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Easy to stand up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4"/>
          <p:cNvSpPr/>
          <p:nvPr/>
        </p:nvSpPr>
        <p:spPr>
          <a:xfrm>
            <a:off x="8549640" y="4709160"/>
            <a:ext cx="3108900" cy="1280100"/>
          </a:xfrm>
          <a:prstGeom prst="roundRect">
            <a:avLst>
              <a:gd fmla="val 7143" name="adj"/>
            </a:avLst>
          </a:prstGeom>
          <a:solidFill>
            <a:srgbClr val="F4F6F8"/>
          </a:solidFill>
          <a:ln cap="flat" cmpd="sng" w="12700">
            <a:solidFill>
              <a:srgbClr val="DBE2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p4"/>
          <p:cNvSpPr/>
          <p:nvPr/>
        </p:nvSpPr>
        <p:spPr>
          <a:xfrm>
            <a:off x="8750808" y="4983480"/>
            <a:ext cx="713100" cy="713100"/>
          </a:xfrm>
          <a:prstGeom prst="ellipse">
            <a:avLst/>
          </a:prstGeom>
          <a:solidFill>
            <a:srgbClr val="E9F2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71" name="Google Shape;71;p4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936248" y="5168920"/>
            <a:ext cx="342351" cy="342351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4"/>
          <p:cNvSpPr/>
          <p:nvPr/>
        </p:nvSpPr>
        <p:spPr>
          <a:xfrm>
            <a:off x="9601200" y="4910328"/>
            <a:ext cx="19203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6E6E"/>
              </a:buClr>
              <a:buSzPts val="1600"/>
              <a:buFont typeface="Bookman Old Style"/>
              <a:buNone/>
            </a:pPr>
            <a:r>
              <a:rPr b="1" i="0" lang="en-US" sz="1600" u="none" cap="none" strike="noStrike">
                <a:solidFill>
                  <a:srgbClr val="0F6E6E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R6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4"/>
          <p:cNvSpPr/>
          <p:nvPr/>
        </p:nvSpPr>
        <p:spPr>
          <a:xfrm>
            <a:off x="9601200" y="5257800"/>
            <a:ext cx="19203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450"/>
              <a:buFont typeface="Calibri"/>
              <a:buNone/>
            </a:pPr>
            <a:r>
              <a:rPr b="1" i="0" lang="en-US" sz="145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Low maintenance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5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314F"/>
              </a:buClr>
              <a:buSzPts val="2600"/>
              <a:buFont typeface="Bookman Old Style"/>
              <a:buNone/>
            </a:pPr>
            <a:r>
              <a:rPr b="1" i="0" lang="en-US" sz="2600" u="none" cap="none" strike="noStrike">
                <a:solidFill>
                  <a:srgbClr val="16314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Capability summary (self-declared)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5"/>
          <p:cNvSpPr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670"/>
              </a:buClr>
              <a:buSzPts val="1450"/>
              <a:buFont typeface="Calibri"/>
              <a:buNone/>
            </a:pPr>
            <a:r>
              <a:rPr b="0" i="1" lang="en-US" sz="14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What each adapter says it can do — before we measure whether it actually does.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5"/>
          <p:cNvSpPr/>
          <p:nvPr/>
        </p:nvSpPr>
        <p:spPr>
          <a:xfrm>
            <a:off x="7818120" y="1600200"/>
            <a:ext cx="3794760" cy="1280160"/>
          </a:xfrm>
          <a:prstGeom prst="roundRect">
            <a:avLst>
              <a:gd fmla="val 7143" name="adj"/>
            </a:avLst>
          </a:prstGeom>
          <a:solidFill>
            <a:srgbClr val="E9F2F1"/>
          </a:solidFill>
          <a:ln cap="flat" cmpd="sng" w="19050">
            <a:solidFill>
              <a:srgbClr val="0F6E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5"/>
          <p:cNvSpPr/>
          <p:nvPr/>
        </p:nvSpPr>
        <p:spPr>
          <a:xfrm>
            <a:off x="8046720" y="1728216"/>
            <a:ext cx="3291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6E6E"/>
              </a:buClr>
              <a:buSzPts val="1700"/>
              <a:buFont typeface="Bookman Old Style"/>
              <a:buNone/>
            </a:pPr>
            <a:r>
              <a:rPr b="1" i="0" lang="en-US" sz="1700" u="none" cap="none" strike="noStrike">
                <a:solidFill>
                  <a:srgbClr val="0F6E6E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Artemis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5"/>
          <p:cNvSpPr/>
          <p:nvPr/>
        </p:nvSpPr>
        <p:spPr>
          <a:xfrm>
            <a:off x="8046720" y="2167128"/>
            <a:ext cx="33832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9E63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1E9E63"/>
                </a:solidFill>
                <a:latin typeface="Calibri"/>
                <a:ea typeface="Calibri"/>
                <a:cs typeface="Calibri"/>
                <a:sym typeface="Calibri"/>
              </a:rPr>
              <a:t>18</a:t>
            </a:r>
            <a:r>
              <a:rPr b="0" i="0" lang="en-US" sz="130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 ✓   </a:t>
            </a:r>
            <a:r>
              <a:rPr b="1" i="0" lang="en-US" sz="2600" u="none" cap="none" strike="noStrike">
                <a:solidFill>
                  <a:srgbClr val="C2962A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r>
              <a:rPr b="0" i="0" lang="en-US" sz="130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 ⊘   </a:t>
            </a:r>
            <a:r>
              <a:rPr b="1" i="0" lang="en-US" sz="260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b="0" i="0" lang="en-US" sz="130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 ✗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5"/>
          <p:cNvSpPr/>
          <p:nvPr/>
        </p:nvSpPr>
        <p:spPr>
          <a:xfrm>
            <a:off x="7818120" y="3017520"/>
            <a:ext cx="3794760" cy="1280160"/>
          </a:xfrm>
          <a:prstGeom prst="roundRect">
            <a:avLst>
              <a:gd fmla="val 7143" name="adj"/>
            </a:avLst>
          </a:prstGeom>
          <a:solidFill>
            <a:srgbClr val="F6ECE4"/>
          </a:solidFill>
          <a:ln cap="flat" cmpd="sng" w="19050">
            <a:solidFill>
              <a:srgbClr val="C061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5"/>
          <p:cNvSpPr/>
          <p:nvPr/>
        </p:nvSpPr>
        <p:spPr>
          <a:xfrm>
            <a:off x="8046720" y="3145536"/>
            <a:ext cx="3291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612F"/>
              </a:buClr>
              <a:buSzPts val="1700"/>
              <a:buFont typeface="Bookman Old Style"/>
              <a:buNone/>
            </a:pPr>
            <a:r>
              <a:rPr b="1" i="0" lang="en-US" sz="1700" u="none" cap="none" strike="noStrike">
                <a:solidFill>
                  <a:srgbClr val="C0612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RabbitMQ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5"/>
          <p:cNvSpPr/>
          <p:nvPr/>
        </p:nvSpPr>
        <p:spPr>
          <a:xfrm>
            <a:off x="8046720" y="3584448"/>
            <a:ext cx="33832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9E63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1E9E63"/>
                </a:solidFill>
                <a:latin typeface="Calibri"/>
                <a:ea typeface="Calibri"/>
                <a:cs typeface="Calibri"/>
                <a:sym typeface="Calibri"/>
              </a:rPr>
              <a:t>16</a:t>
            </a:r>
            <a:r>
              <a:rPr b="0" i="0" lang="en-US" sz="130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 ✓   </a:t>
            </a:r>
            <a:r>
              <a:rPr b="1" i="0" lang="en-US" sz="2600" u="none" cap="none" strike="noStrike">
                <a:solidFill>
                  <a:srgbClr val="C2962A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r>
              <a:rPr b="0" i="0" lang="en-US" sz="130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 ⊘   </a:t>
            </a:r>
            <a:r>
              <a:rPr b="1" i="0" lang="en-US" sz="260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b="0" i="0" lang="en-US" sz="130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 ✗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5"/>
          <p:cNvSpPr/>
          <p:nvPr/>
        </p:nvSpPr>
        <p:spPr>
          <a:xfrm>
            <a:off x="7818120" y="4434840"/>
            <a:ext cx="3794760" cy="1280160"/>
          </a:xfrm>
          <a:prstGeom prst="roundRect">
            <a:avLst>
              <a:gd fmla="val 7143" name="adj"/>
            </a:avLst>
          </a:prstGeom>
          <a:solidFill>
            <a:srgbClr val="ECEDF6"/>
          </a:solidFill>
          <a:ln cap="flat" cmpd="sng" w="19050">
            <a:solidFill>
              <a:srgbClr val="43479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5"/>
          <p:cNvSpPr/>
          <p:nvPr/>
        </p:nvSpPr>
        <p:spPr>
          <a:xfrm>
            <a:off x="8046720" y="4562856"/>
            <a:ext cx="3291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3479B"/>
              </a:buClr>
              <a:buSzPts val="1700"/>
              <a:buFont typeface="Bookman Old Style"/>
              <a:buNone/>
            </a:pPr>
            <a:r>
              <a:rPr b="1" i="0" lang="en-US" sz="1700" u="none" cap="none" strike="noStrike">
                <a:solidFill>
                  <a:srgbClr val="43479B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Kafka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5"/>
          <p:cNvSpPr/>
          <p:nvPr/>
        </p:nvSpPr>
        <p:spPr>
          <a:xfrm>
            <a:off x="8046720" y="5001768"/>
            <a:ext cx="33832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9E63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1E9E63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r>
              <a:rPr b="0" i="0" lang="en-US" sz="130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 ✓   </a:t>
            </a:r>
            <a:r>
              <a:rPr b="1" i="0" lang="en-US" sz="2600" u="none" cap="none" strike="noStrike">
                <a:solidFill>
                  <a:srgbClr val="C2962A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0" i="0" lang="en-US" sz="130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 ⊘   </a:t>
            </a:r>
            <a:r>
              <a:rPr b="1" i="0" lang="en-US" sz="260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r>
              <a:rPr b="0" i="0" lang="en-US" sz="130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 ✗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90" name="Google Shape;90;p5"/>
          <p:cNvGraphicFramePr/>
          <p:nvPr/>
        </p:nvGraphicFramePr>
        <p:xfrm>
          <a:off x="548640" y="160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{1150A3C2-1550-49CB-926A-73FA1EEA900E}</a:tableStyleId>
              </a:tblPr>
              <a:tblGrid>
                <a:gridCol w="3108950"/>
                <a:gridCol w="1280150"/>
                <a:gridCol w="1280150"/>
                <a:gridCol w="1280150"/>
              </a:tblGrid>
              <a:tr h="310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50"/>
                        <a:buFont typeface="Calibri"/>
                        <a:buNone/>
                      </a:pPr>
                      <a:r>
                        <a:rPr b="1" lang="en-US" sz="11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Capability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25400" marB="25400" marR="76200" marL="762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14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50"/>
                        <a:buFont typeface="Calibri"/>
                        <a:buNone/>
                      </a:pPr>
                      <a:r>
                        <a:rPr b="1" lang="en-US" sz="11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Artemis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25400" marB="25400" marR="76200" marL="762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6E6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50"/>
                        <a:buFont typeface="Calibri"/>
                        <a:buNone/>
                      </a:pPr>
                      <a:r>
                        <a:rPr b="1" lang="en-US" sz="11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RabbitMQ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25400" marB="25400" marR="76200" marL="762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612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50"/>
                        <a:buFont typeface="Calibri"/>
                        <a:buNone/>
                      </a:pPr>
                      <a:r>
                        <a:rPr b="1" lang="en-US" sz="11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Kafka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25400" marB="25400" marR="76200" marL="762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43479B"/>
                    </a:solidFill>
                  </a:tcPr>
                </a:tc>
              </a:tr>
              <a:tr h="310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3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F29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Protocol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25400" marB="25400" marR="76200" marL="762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3"/>
                        </a:buClr>
                        <a:buSzPts val="1050"/>
                        <a:buFont typeface="Calibri"/>
                        <a:buNone/>
                      </a:pPr>
                      <a:r>
                        <a:rPr lang="en-US" sz="1050" u="none" cap="none" strike="noStrike">
                          <a:solidFill>
                            <a:srgbClr val="1F29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AMQP 1.0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25400" marB="25400" marR="76200" marL="762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3"/>
                        </a:buClr>
                        <a:buSzPts val="1050"/>
                        <a:buFont typeface="Calibri"/>
                        <a:buNone/>
                      </a:pPr>
                      <a:r>
                        <a:rPr lang="en-US" sz="1050" u="none" cap="none" strike="noStrike">
                          <a:solidFill>
                            <a:srgbClr val="1F29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AMQP 0.9.1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25400" marB="25400" marR="76200" marL="762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3"/>
                        </a:buClr>
                        <a:buSzPts val="1050"/>
                        <a:buFont typeface="Calibri"/>
                        <a:buNone/>
                      </a:pPr>
                      <a:r>
                        <a:rPr lang="en-US" sz="1050" u="none" cap="none" strike="noStrike">
                          <a:solidFill>
                            <a:srgbClr val="1F29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Kafka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25400" marB="25400" marR="76200" marL="762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10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3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F29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Native scheduling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25400" marB="25400" marR="76200" marL="762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46A47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46A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25400" marB="25400" marR="76200" marL="762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B667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5B667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 (plugin)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25400" marB="25400" marR="76200" marL="762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B667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5B667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25400" marB="25400" marR="76200" marL="762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6F8"/>
                    </a:solidFill>
                  </a:tcPr>
                </a:tc>
              </a:tr>
              <a:tr h="310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3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F29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Cancel scheduled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25400" marB="25400" marR="76200" marL="762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46A47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46A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25400" marB="25400" marR="76200" marL="762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B667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5B667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25400" marB="25400" marR="76200" marL="762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B667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5B667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25400" marB="25400" marR="76200" marL="762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6F8"/>
                    </a:solidFill>
                  </a:tcPr>
                </a:tc>
              </a:tr>
              <a:tr h="310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3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F29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List scheduled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25400" marB="25400" marR="76200" marL="762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46A47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46A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25400" marB="25400" marR="76200" marL="762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B667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5B667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25400" marB="25400" marR="76200" marL="762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B667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5B667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25400" marB="25400" marR="76200" marL="762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6F8"/>
                    </a:solidFill>
                  </a:tcPr>
                </a:tc>
              </a:tr>
              <a:tr h="310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3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F29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Pub/sub (topic filter)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25400" marB="25400" marR="76200" marL="762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46A47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46A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25400" marB="25400" marR="76200" marL="762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46A47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46A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25400" marB="25400" marR="76200" marL="762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B667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5B667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25400" marB="25400" marR="76200" marL="762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6F8"/>
                    </a:solidFill>
                  </a:tcPr>
                </a:tc>
              </a:tr>
              <a:tr h="310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3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F29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Fanout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25400" marB="25400" marR="76200" marL="762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46A47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46A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25400" marB="25400" marR="76200" marL="762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46A47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46A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25400" marB="25400" marR="76200" marL="762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46A47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46A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25400" marB="25400" marR="76200" marL="762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6F4EC"/>
                    </a:solidFill>
                  </a:tcPr>
                </a:tc>
              </a:tr>
              <a:tr h="310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3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F29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Manual ack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25400" marB="25400" marR="76200" marL="762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46A47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46A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25400" marB="25400" marR="76200" marL="762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46A47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46A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25400" marB="25400" marR="76200" marL="762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46A47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46A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25400" marB="25400" marR="76200" marL="762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6F4EC"/>
                    </a:solidFill>
                  </a:tcPr>
                </a:tc>
              </a:tr>
              <a:tr h="310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3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F29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Dead-letter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25400" marB="25400" marR="76200" marL="762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46A47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46A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25400" marB="25400" marR="76200" marL="762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46A47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46A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25400" marB="25400" marR="76200" marL="762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B667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5B667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25400" marB="25400" marR="76200" marL="762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6F8"/>
                    </a:solidFill>
                  </a:tcPr>
                </a:tc>
              </a:tr>
              <a:tr h="310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3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F29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Precise delivery-count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25400" marB="25400" marR="76200" marL="762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46A47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46A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25400" marB="25400" marR="76200" marL="762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B667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5B667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25400" marB="25400" marR="76200" marL="762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B667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5B667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25400" marB="25400" marR="76200" marL="762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6F8"/>
                    </a:solidFill>
                  </a:tcPr>
                </a:tc>
              </a:tr>
              <a:tr h="310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3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F29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Broker-native dedup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25400" marB="25400" marR="76200" marL="762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46A47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46A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25400" marB="25400" marR="76200" marL="762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B667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5B667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25400" marB="25400" marR="76200" marL="762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B667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5B667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25400" marB="25400" marR="76200" marL="762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6F8"/>
                    </a:solidFill>
                  </a:tcPr>
                </a:tc>
              </a:tr>
              <a:tr h="310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3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F29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Stream replay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25400" marB="25400" marR="76200" marL="762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B667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5B667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25400" marB="25400" marR="76200" marL="762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46A47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46A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25400" marB="25400" marR="76200" marL="762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46A47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46A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25400" marB="25400" marR="76200" marL="762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6F4EC"/>
                    </a:solidFill>
                  </a:tcPr>
                </a:tc>
              </a:tr>
              <a:tr h="310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3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F29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Message groups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25400" marB="25400" marR="76200" marL="762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46A47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46A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25400" marB="25400" marR="76200" marL="762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46A47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46A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25400" marB="25400" marR="76200" marL="762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46A47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46A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25400" marB="25400" marR="76200" marL="762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6F4EC"/>
                    </a:solidFill>
                  </a:tcPr>
                </a:tc>
              </a:tr>
            </a:tbl>
          </a:graphicData>
        </a:graphic>
      </p:graphicFrame>
      <p:sp>
        <p:nvSpPr>
          <p:cNvPr id="91" name="Google Shape;91;p5"/>
          <p:cNvSpPr/>
          <p:nvPr/>
        </p:nvSpPr>
        <p:spPr>
          <a:xfrm>
            <a:off x="7818120" y="5943600"/>
            <a:ext cx="38404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670"/>
              </a:buClr>
              <a:buSzPts val="1150"/>
              <a:buFont typeface="Calibri"/>
              <a:buNone/>
            </a:pPr>
            <a:r>
              <a:rPr b="0" i="1" lang="en-US" sz="11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Totals are measured (next slides). 'yes/no' above is what the adapter declares.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6"/>
          <p:cNvSpPr/>
          <p:nvPr/>
        </p:nvSpPr>
        <p:spPr>
          <a:xfrm>
            <a:off x="777240" y="457200"/>
            <a:ext cx="106071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314F"/>
              </a:buClr>
              <a:buSzPts val="2700"/>
              <a:buFont typeface="Bookman Old Style"/>
              <a:buNone/>
            </a:pPr>
            <a:r>
              <a:rPr b="1" i="0" lang="en-US" sz="2700" u="none" cap="none" strike="noStrike">
                <a:solidFill>
                  <a:srgbClr val="16314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Scheduling: the crux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6"/>
          <p:cNvSpPr/>
          <p:nvPr/>
        </p:nvSpPr>
        <p:spPr>
          <a:xfrm>
            <a:off x="777240" y="1078992"/>
            <a:ext cx="106986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670"/>
              </a:buClr>
              <a:buSzPts val="1500"/>
              <a:buFont typeface="Calibri"/>
              <a:buNone/>
            </a:pPr>
            <a:r>
              <a:rPr b="0" i="1" lang="en-US" sz="150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The one requirement we cannot compromise is where the two brokers diverge hardest.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6"/>
          <p:cNvSpPr/>
          <p:nvPr/>
        </p:nvSpPr>
        <p:spPr>
          <a:xfrm>
            <a:off x="777240" y="1783080"/>
            <a:ext cx="5074800" cy="4297800"/>
          </a:xfrm>
          <a:prstGeom prst="roundRect">
            <a:avLst>
              <a:gd fmla="val 2553" name="adj"/>
            </a:avLst>
          </a:prstGeom>
          <a:solidFill>
            <a:srgbClr val="FFFFFF"/>
          </a:solidFill>
          <a:ln cap="flat" cmpd="sng" w="25400">
            <a:solidFill>
              <a:srgbClr val="0F6E6E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38100">
              <a:srgbClr val="000000">
                <a:alpha val="1216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6"/>
          <p:cNvSpPr/>
          <p:nvPr/>
        </p:nvSpPr>
        <p:spPr>
          <a:xfrm>
            <a:off x="1069848" y="2029968"/>
            <a:ext cx="731400" cy="731400"/>
          </a:xfrm>
          <a:prstGeom prst="ellipse">
            <a:avLst/>
          </a:prstGeom>
          <a:solidFill>
            <a:srgbClr val="0F6E6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01" name="Google Shape;101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60043" y="2220163"/>
            <a:ext cx="351130" cy="351130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6"/>
          <p:cNvSpPr/>
          <p:nvPr/>
        </p:nvSpPr>
        <p:spPr>
          <a:xfrm>
            <a:off x="1920240" y="2057400"/>
            <a:ext cx="37491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314F"/>
              </a:buClr>
              <a:buSzPts val="1850"/>
              <a:buFont typeface="Bookman Old Style"/>
              <a:buNone/>
            </a:pPr>
            <a:r>
              <a:rPr b="1" i="0" lang="en-US" sz="1850" u="none" cap="none" strike="noStrike">
                <a:solidFill>
                  <a:srgbClr val="16314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Artemis — native &amp; cancellable</a:t>
            </a:r>
            <a:endParaRPr b="0" i="0" sz="1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6"/>
          <p:cNvSpPr/>
          <p:nvPr/>
        </p:nvSpPr>
        <p:spPr>
          <a:xfrm>
            <a:off x="1097280" y="2990088"/>
            <a:ext cx="310800" cy="3108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04" name="Google Shape;104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78113" y="3070921"/>
            <a:ext cx="149230" cy="149230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6"/>
          <p:cNvSpPr/>
          <p:nvPr/>
        </p:nvSpPr>
        <p:spPr>
          <a:xfrm>
            <a:off x="1527048" y="2916936"/>
            <a:ext cx="4160400" cy="71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Set a scheduled-delivery time; the broker holds it — over AMQP.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6"/>
          <p:cNvSpPr/>
          <p:nvPr/>
        </p:nvSpPr>
        <p:spPr>
          <a:xfrm>
            <a:off x="1097280" y="3767328"/>
            <a:ext cx="310800" cy="3108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07" name="Google Shape;107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78113" y="3848161"/>
            <a:ext cx="149230" cy="149230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6"/>
          <p:cNvSpPr/>
          <p:nvPr/>
        </p:nvSpPr>
        <p:spPr>
          <a:xfrm>
            <a:off x="1527048" y="3694176"/>
            <a:ext cx="4160400" cy="71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Persisted in the journal; survives restart &amp; failover.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6"/>
          <p:cNvSpPr/>
          <p:nvPr/>
        </p:nvSpPr>
        <p:spPr>
          <a:xfrm>
            <a:off x="1097280" y="4544568"/>
            <a:ext cx="310800" cy="3108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10" name="Google Shape;110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78113" y="4625401"/>
            <a:ext cx="149230" cy="149230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6"/>
          <p:cNvSpPr/>
          <p:nvPr/>
        </p:nvSpPr>
        <p:spPr>
          <a:xfrm>
            <a:off x="1527048" y="4471416"/>
            <a:ext cx="4160400" cy="71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List / remove via QueueControl — a real cancel story.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6"/>
          <p:cNvSpPr/>
          <p:nvPr/>
        </p:nvSpPr>
        <p:spPr>
          <a:xfrm>
            <a:off x="1097280" y="5321808"/>
            <a:ext cx="310800" cy="3108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13" name="Google Shape;113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78113" y="5402641"/>
            <a:ext cx="149230" cy="14923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6"/>
          <p:cNvSpPr/>
          <p:nvPr/>
        </p:nvSpPr>
        <p:spPr>
          <a:xfrm>
            <a:off x="1527048" y="5248656"/>
            <a:ext cx="4160400" cy="71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scheduled.message.count metric to alert on pending work.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6"/>
          <p:cNvSpPr/>
          <p:nvPr/>
        </p:nvSpPr>
        <p:spPr>
          <a:xfrm>
            <a:off x="6355080" y="1783080"/>
            <a:ext cx="5074800" cy="4297800"/>
          </a:xfrm>
          <a:prstGeom prst="roundRect">
            <a:avLst>
              <a:gd fmla="val 2553" name="adj"/>
            </a:avLst>
          </a:prstGeom>
          <a:solidFill>
            <a:srgbClr val="FFFFFF"/>
          </a:solidFill>
          <a:ln cap="flat" cmpd="sng" w="25400">
            <a:solidFill>
              <a:srgbClr val="A04A2C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5400000" dist="38100">
              <a:srgbClr val="000000">
                <a:alpha val="1216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6"/>
          <p:cNvSpPr/>
          <p:nvPr/>
        </p:nvSpPr>
        <p:spPr>
          <a:xfrm>
            <a:off x="6647688" y="2029968"/>
            <a:ext cx="731400" cy="731400"/>
          </a:xfrm>
          <a:prstGeom prst="ellipse">
            <a:avLst/>
          </a:prstGeom>
          <a:solidFill>
            <a:srgbClr val="A04A2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17" name="Google Shape;117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837883" y="2220163"/>
            <a:ext cx="351130" cy="35113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6"/>
          <p:cNvSpPr/>
          <p:nvPr/>
        </p:nvSpPr>
        <p:spPr>
          <a:xfrm>
            <a:off x="7498080" y="2057400"/>
            <a:ext cx="37491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314F"/>
              </a:buClr>
              <a:buSzPts val="1850"/>
              <a:buFont typeface="Bookman Old Style"/>
              <a:buNone/>
            </a:pPr>
            <a:r>
              <a:rPr b="1" i="0" lang="en-US" sz="1850" u="none" cap="none" strike="noStrike">
                <a:solidFill>
                  <a:srgbClr val="16314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RabbitMQ — the plugin path</a:t>
            </a:r>
            <a:endParaRPr b="0" i="0" sz="1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6"/>
          <p:cNvSpPr/>
          <p:nvPr/>
        </p:nvSpPr>
        <p:spPr>
          <a:xfrm>
            <a:off x="6675120" y="2990088"/>
            <a:ext cx="310800" cy="3108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20" name="Google Shape;120;p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755953" y="3070921"/>
            <a:ext cx="149230" cy="149230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6"/>
          <p:cNvSpPr/>
          <p:nvPr/>
        </p:nvSpPr>
        <p:spPr>
          <a:xfrm>
            <a:off x="7104888" y="2916936"/>
            <a:ext cx="4160400" cy="71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No native scheduling; relies on x-delayed-message plugin.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6"/>
          <p:cNvSpPr/>
          <p:nvPr/>
        </p:nvSpPr>
        <p:spPr>
          <a:xfrm>
            <a:off x="6675120" y="3767328"/>
            <a:ext cx="310800" cy="3108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23" name="Google Shape;123;p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755953" y="3848161"/>
            <a:ext cx="149230" cy="14923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6"/>
          <p:cNvSpPr/>
          <p:nvPr/>
        </p:nvSpPr>
        <p:spPr>
          <a:xfrm>
            <a:off x="7104888" y="3694176"/>
            <a:ext cx="4160400" cy="71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Short delays only — the plugin's own guidance.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6"/>
          <p:cNvSpPr/>
          <p:nvPr/>
        </p:nvSpPr>
        <p:spPr>
          <a:xfrm>
            <a:off x="6675120" y="4544568"/>
            <a:ext cx="310800" cy="3108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26" name="Google Shape;126;p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755953" y="4625401"/>
            <a:ext cx="149230" cy="149230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6"/>
          <p:cNvSpPr/>
          <p:nvPr/>
        </p:nvSpPr>
        <p:spPr>
          <a:xfrm>
            <a:off x="7104888" y="4471416"/>
            <a:ext cx="4160400" cy="71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Stored node-local in Mnesia; lost on node / plugin loss.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6"/>
          <p:cNvSpPr/>
          <p:nvPr/>
        </p:nvSpPr>
        <p:spPr>
          <a:xfrm>
            <a:off x="6675120" y="5321808"/>
            <a:ext cx="310800" cy="3108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29" name="Google Shape;129;p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755953" y="5402641"/>
            <a:ext cx="149230" cy="14923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6"/>
          <p:cNvSpPr/>
          <p:nvPr/>
        </p:nvSpPr>
        <p:spPr>
          <a:xfrm>
            <a:off x="7104888" y="5248656"/>
            <a:ext cx="4160400" cy="71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No clean cancel API · plugin repo archived Apr 2026.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E2238"/>
        </a:solid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"/>
          <p:cNvSpPr/>
          <p:nvPr/>
        </p:nvSpPr>
        <p:spPr>
          <a:xfrm>
            <a:off x="822960" y="868680"/>
            <a:ext cx="105156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0A98C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E0A98C"/>
                </a:solidFill>
                <a:latin typeface="Calibri"/>
                <a:ea typeface="Calibri"/>
                <a:cs typeface="Calibri"/>
                <a:sym typeface="Calibri"/>
              </a:rPr>
              <a:t>THE PART WE’D RELY ON MOST — IS THE PART NO LONGER MAINTAINED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7"/>
          <p:cNvSpPr/>
          <p:nvPr/>
        </p:nvSpPr>
        <p:spPr>
          <a:xfrm>
            <a:off x="822960" y="1325880"/>
            <a:ext cx="105156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Bookman Old Style"/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RabbitMQ’s scheduling risk, in three numbers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7"/>
          <p:cNvSpPr/>
          <p:nvPr/>
        </p:nvSpPr>
        <p:spPr>
          <a:xfrm>
            <a:off x="868680" y="2514600"/>
            <a:ext cx="3383400" cy="2834700"/>
          </a:xfrm>
          <a:prstGeom prst="roundRect">
            <a:avLst>
              <a:gd fmla="val 3871" name="adj"/>
            </a:avLst>
          </a:prstGeom>
          <a:solidFill>
            <a:srgbClr val="1A2F45"/>
          </a:solidFill>
          <a:ln cap="flat" cmpd="sng" w="12700">
            <a:solidFill>
              <a:srgbClr val="2E4A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"/>
          <p:cNvSpPr/>
          <p:nvPr/>
        </p:nvSpPr>
        <p:spPr>
          <a:xfrm>
            <a:off x="1161288" y="2788920"/>
            <a:ext cx="658500" cy="658500"/>
          </a:xfrm>
          <a:prstGeom prst="ellipse">
            <a:avLst/>
          </a:prstGeom>
          <a:solidFill>
            <a:srgbClr val="A04A2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40" name="Google Shape;140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2464" y="2960096"/>
            <a:ext cx="316017" cy="316017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7"/>
          <p:cNvSpPr/>
          <p:nvPr/>
        </p:nvSpPr>
        <p:spPr>
          <a:xfrm>
            <a:off x="868680" y="3246120"/>
            <a:ext cx="3383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0A98C"/>
              </a:buClr>
              <a:buSzPts val="4000"/>
              <a:buFont typeface="Bookman Old Style"/>
              <a:buNone/>
            </a:pPr>
            <a:r>
              <a:rPr b="1" i="0" lang="en-US" sz="4000" u="none" cap="none" strike="noStrike">
                <a:solidFill>
                  <a:srgbClr val="E0A98C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Apr 2026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7"/>
          <p:cNvSpPr/>
          <p:nvPr/>
        </p:nvSpPr>
        <p:spPr>
          <a:xfrm>
            <a:off x="1143000" y="4206240"/>
            <a:ext cx="28347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Plugin archived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7"/>
          <p:cNvSpPr/>
          <p:nvPr/>
        </p:nvSpPr>
        <p:spPr>
          <a:xfrm>
            <a:off x="1143000" y="4617720"/>
            <a:ext cx="28347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9BED2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A9BED2"/>
                </a:solidFill>
                <a:latin typeface="Calibri"/>
                <a:ea typeface="Calibri"/>
                <a:cs typeface="Calibri"/>
                <a:sym typeface="Calibri"/>
              </a:rPr>
              <a:t>No more fixes, security patches, or version-compat guarantees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7"/>
          <p:cNvSpPr/>
          <p:nvPr/>
        </p:nvSpPr>
        <p:spPr>
          <a:xfrm>
            <a:off x="4416552" y="2514600"/>
            <a:ext cx="3383400" cy="2834700"/>
          </a:xfrm>
          <a:prstGeom prst="roundRect">
            <a:avLst>
              <a:gd fmla="val 3871" name="adj"/>
            </a:avLst>
          </a:prstGeom>
          <a:solidFill>
            <a:srgbClr val="1A2F45"/>
          </a:solidFill>
          <a:ln cap="flat" cmpd="sng" w="12700">
            <a:solidFill>
              <a:srgbClr val="2E4A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7"/>
          <p:cNvSpPr/>
          <p:nvPr/>
        </p:nvSpPr>
        <p:spPr>
          <a:xfrm>
            <a:off x="4709160" y="2788920"/>
            <a:ext cx="658500" cy="658500"/>
          </a:xfrm>
          <a:prstGeom prst="ellipse">
            <a:avLst/>
          </a:prstGeom>
          <a:solidFill>
            <a:srgbClr val="A04A2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46" name="Google Shape;146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880336" y="2960096"/>
            <a:ext cx="316017" cy="316017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7"/>
          <p:cNvSpPr/>
          <p:nvPr/>
        </p:nvSpPr>
        <p:spPr>
          <a:xfrm>
            <a:off x="4416552" y="3246120"/>
            <a:ext cx="3383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0A98C"/>
              </a:buClr>
              <a:buSzPts val="4000"/>
              <a:buFont typeface="Bookman Old Style"/>
              <a:buNone/>
            </a:pPr>
            <a:r>
              <a:rPr b="1" i="0" lang="en-US" sz="4000" u="none" cap="none" strike="noStrike">
                <a:solidFill>
                  <a:srgbClr val="E0A98C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1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7"/>
          <p:cNvSpPr/>
          <p:nvPr/>
        </p:nvSpPr>
        <p:spPr>
          <a:xfrm>
            <a:off x="4690872" y="4206240"/>
            <a:ext cx="28347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Disk replica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7"/>
          <p:cNvSpPr/>
          <p:nvPr/>
        </p:nvSpPr>
        <p:spPr>
          <a:xfrm>
            <a:off x="4690872" y="4617720"/>
            <a:ext cx="28347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9BED2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A9BED2"/>
                </a:solidFill>
                <a:latin typeface="Calibri"/>
                <a:ea typeface="Calibri"/>
                <a:cs typeface="Calibri"/>
                <a:sym typeface="Calibri"/>
              </a:rPr>
              <a:t>Delayed messages live in one node-local Mnesia table — lost with the node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7"/>
          <p:cNvSpPr/>
          <p:nvPr/>
        </p:nvSpPr>
        <p:spPr>
          <a:xfrm>
            <a:off x="7955280" y="2514600"/>
            <a:ext cx="3383400" cy="2834700"/>
          </a:xfrm>
          <a:prstGeom prst="roundRect">
            <a:avLst>
              <a:gd fmla="val 3871" name="adj"/>
            </a:avLst>
          </a:prstGeom>
          <a:solidFill>
            <a:srgbClr val="1A2F45"/>
          </a:solidFill>
          <a:ln cap="flat" cmpd="sng" w="12700">
            <a:solidFill>
              <a:srgbClr val="2E4A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7"/>
          <p:cNvSpPr/>
          <p:nvPr/>
        </p:nvSpPr>
        <p:spPr>
          <a:xfrm>
            <a:off x="8247888" y="2788920"/>
            <a:ext cx="658500" cy="658500"/>
          </a:xfrm>
          <a:prstGeom prst="ellipse">
            <a:avLst/>
          </a:prstGeom>
          <a:solidFill>
            <a:srgbClr val="A04A2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52" name="Google Shape;152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419064" y="2960096"/>
            <a:ext cx="316017" cy="316017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7"/>
          <p:cNvSpPr/>
          <p:nvPr/>
        </p:nvSpPr>
        <p:spPr>
          <a:xfrm>
            <a:off x="7955280" y="3246120"/>
            <a:ext cx="3383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0A98C"/>
              </a:buClr>
              <a:buSzPts val="4000"/>
              <a:buFont typeface="Bookman Old Style"/>
              <a:buNone/>
            </a:pPr>
            <a:r>
              <a:rPr b="1" i="0" lang="en-US" sz="4000" u="none" cap="none" strike="noStrike">
                <a:solidFill>
                  <a:srgbClr val="E0A98C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0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7"/>
          <p:cNvSpPr/>
          <p:nvPr/>
        </p:nvSpPr>
        <p:spPr>
          <a:xfrm>
            <a:off x="8229600" y="4206240"/>
            <a:ext cx="28347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Cancel APIs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7"/>
          <p:cNvSpPr/>
          <p:nvPr/>
        </p:nvSpPr>
        <p:spPr>
          <a:xfrm>
            <a:off x="8229600" y="4617720"/>
            <a:ext cx="28347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9BED2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A9BED2"/>
                </a:solidFill>
                <a:latin typeface="Calibri"/>
                <a:ea typeface="Calibri"/>
                <a:cs typeface="Calibri"/>
                <a:sym typeface="Calibri"/>
              </a:rPr>
              <a:t>No clean first-class way to pull back a scheduled message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7"/>
          <p:cNvSpPr/>
          <p:nvPr/>
        </p:nvSpPr>
        <p:spPr>
          <a:xfrm>
            <a:off x="868680" y="5623560"/>
            <a:ext cx="104241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3D2E0"/>
              </a:buClr>
              <a:buSzPts val="1450"/>
              <a:buFont typeface="Calibri"/>
              <a:buNone/>
            </a:pPr>
            <a:r>
              <a:rPr b="0" i="1" lang="en-US" sz="1450" u="none" cap="none" strike="noStrike">
                <a:solidFill>
                  <a:srgbClr val="C3D2E0"/>
                </a:solidFill>
                <a:latin typeface="Calibri"/>
                <a:ea typeface="Calibri"/>
                <a:cs typeface="Calibri"/>
                <a:sym typeface="Calibri"/>
              </a:rPr>
              <a:t>None of these is fatal for short, best-effort delays. All three are disqualifying for durable, cancellable, long-lived scheduling.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8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314F"/>
              </a:buClr>
              <a:buSzPts val="2600"/>
              <a:buFont typeface="Bookman Old Style"/>
              <a:buNone/>
            </a:pPr>
            <a:r>
              <a:rPr b="1" i="0" lang="en-US" sz="2600" u="none" cap="none" strike="noStrike">
                <a:solidFill>
                  <a:srgbClr val="16314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Conformance matrix — 19 scenarios × 3 brokers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8"/>
          <p:cNvSpPr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670"/>
              </a:buClr>
              <a:buSzPts val="1450"/>
              <a:buFont typeface="Calibri"/>
              <a:buNone/>
            </a:pPr>
            <a:r>
              <a:rPr b="0" i="1" lang="en-US" sz="14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✓ pass   ·   ⊘ unsupported (honest, by-design gap)   ·   ✗ fail (real break)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64" name="Google Shape;164;p8"/>
          <p:cNvGraphicFramePr/>
          <p:nvPr/>
        </p:nvGraphicFramePr>
        <p:xfrm>
          <a:off x="548640" y="155448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{1150A3C2-1550-49CB-926A-73FA1EEA900E}</a:tableStyleId>
              </a:tblPr>
              <a:tblGrid>
                <a:gridCol w="502925"/>
                <a:gridCol w="2057400"/>
                <a:gridCol w="4599425"/>
                <a:gridCol w="1307600"/>
                <a:gridCol w="1371600"/>
                <a:gridCol w="1252725"/>
              </a:tblGrid>
              <a:tr h="2148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50"/>
                        <a:buFont typeface="Calibri"/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#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14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50"/>
                        <a:buFont typeface="Calibri"/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Scenario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14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50"/>
                        <a:buFont typeface="Calibri"/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What it tests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14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50"/>
                        <a:buFont typeface="Calibri"/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Artemis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6E6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50"/>
                        <a:buFont typeface="Calibri"/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RabbitMQ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612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50"/>
                        <a:buFont typeface="Calibri"/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Kafka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43479B"/>
                    </a:solidFill>
                  </a:tcPr>
                </a:tc>
              </a:tr>
              <a:tr h="2148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314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16314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S1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3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1F29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Immediate send/receive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B6670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5B667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Basic send → consume round-trip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9E63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E9E6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✓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9E63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E9E6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✓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9E63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E9E6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✓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6F4EC"/>
                    </a:solidFill>
                  </a:tcPr>
                </a:tc>
              </a:tr>
              <a:tr h="2148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314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16314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S2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3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1F29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Scheduled delivery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B6670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5B667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Message held until a future time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9E63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E9E6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✓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9E63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E9E6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✓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392B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C039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✗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E2DE"/>
                    </a:solidFill>
                  </a:tcPr>
                </a:tc>
              </a:tr>
              <a:tr h="2148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314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16314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S3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3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1F29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Cancel scheduled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B6670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5B667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Retract a scheduled message before it fires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9E63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E9E6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✓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962A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C296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⊘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BF1D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962A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C296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⊘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BF1D8"/>
                    </a:solidFill>
                  </a:tcPr>
                </a:tc>
              </a:tr>
              <a:tr h="2148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314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16314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S4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3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1F29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List pending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B6670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5B667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Enumerate scheduled, not-yet-delivered messages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9E63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E9E6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✓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962A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C296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⊘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BF1D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962A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C296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⊘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BF1D8"/>
                    </a:solidFill>
                  </a:tcPr>
                </a:tc>
              </a:tr>
              <a:tr h="2148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314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16314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S5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3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1F29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Pub/sub (topic routing)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B6670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5B667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Routing-key filtered subscriptions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9E63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E9E6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✓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9E63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E9E6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✓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962A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C296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⊘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BF1D8"/>
                    </a:solidFill>
                  </a:tcPr>
                </a:tc>
              </a:tr>
              <a:tr h="2148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314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16314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S6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3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1F29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Fanout multicast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B6670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5B667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One publish → every subscriber gets a copy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9E63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E9E6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✓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9E63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E9E6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✓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9E63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E9E6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✓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6F4EC"/>
                    </a:solidFill>
                  </a:tcPr>
                </a:tc>
              </a:tr>
              <a:tr h="2148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314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16314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S7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3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1F29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Explicit ack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B6670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5B667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Consumer ack/nack + redelivery on crash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9E63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E9E6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✓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9E63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E9E6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✓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9E63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E9E6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✓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6F4EC"/>
                    </a:solidFill>
                  </a:tcPr>
                </a:tc>
              </a:tr>
              <a:tr h="2148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314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16314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S8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3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1F29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Poison → dead-letter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B6670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5B667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Redeliver N times, then route to a DLQ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9E63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E9E6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✓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9E63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E9E6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✓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962A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C296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⊘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BF1D8"/>
                    </a:solidFill>
                  </a:tcPr>
                </a:tc>
              </a:tr>
              <a:tr h="2148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314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16314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S9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3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1F29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Competing consumers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B6670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5B667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Shared queue, work split fairly, no dupes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9E63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E9E6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✓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9E63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E9E6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✓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9E63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E9E6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✓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6F4EC"/>
                    </a:solidFill>
                  </a:tcPr>
                </a:tc>
              </a:tr>
              <a:tr h="2148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314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16314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S10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3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1F29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Idempotent consumer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B6670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5B667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App-level dedup + fail-open on store outage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9E63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E9E6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✓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9E63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E9E6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✓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9E63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E9E6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✓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6F4EC"/>
                    </a:solidFill>
                  </a:tcPr>
                </a:tc>
              </a:tr>
              <a:tr h="2148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314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16314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S11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3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1F29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Retry queue (non-blocking)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B6670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5B667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Non-blocking delayed retry; healthy msgs flow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9E63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E9E6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✓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9E63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E9E6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✓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962A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C296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⊘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BF1D8"/>
                    </a:solidFill>
                  </a:tcPr>
                </a:tc>
              </a:tr>
              <a:tr h="2148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314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16314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S12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3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1F29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Message groups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B6670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5B667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Same key stays ordered, pinned to one consumer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9E63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E9E6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✓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9E63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E9E6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✓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9E63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E9E6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✓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6F4EC"/>
                    </a:solidFill>
                  </a:tcPr>
                </a:tc>
              </a:tr>
              <a:tr h="2148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314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16314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S13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3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1F29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Broker-native dedup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B6670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5B667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Broker drops duplicate publishes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9E63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E9E6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✓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962A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C296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⊘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BF1D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962A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C296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⊘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BF1D8"/>
                    </a:solidFill>
                  </a:tcPr>
                </a:tc>
              </a:tr>
              <a:tr h="2148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314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16314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S14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3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1F29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Priority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B6670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5B667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High-priority message overtakes the backlog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9E63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E9E6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✓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9E63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E9E6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✓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392B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C039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✗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E2DE"/>
                    </a:solidFill>
                  </a:tcPr>
                </a:tc>
              </a:tr>
              <a:tr h="2148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314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16314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S15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3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1F29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Request/reply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B6670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5B667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replyTo + correlationId RPC over messaging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9E63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E9E6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✓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9E63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E9E6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✓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9E63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E9E6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✓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6F4EC"/>
                    </a:solidFill>
                  </a:tcPr>
                </a:tc>
              </a:tr>
              <a:tr h="2148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314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16314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S16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3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1F29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TTL → expiry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B6670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5B667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Unconsumed message expires to an expiry address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9E63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E9E6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✓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9E63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E9E6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✓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392B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C039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✗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E2DE"/>
                    </a:solidFill>
                  </a:tcPr>
                </a:tc>
              </a:tr>
              <a:tr h="2148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314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16314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S17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3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1F29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Durable subscription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B6670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5B667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Offline subscriber gets messages on reattach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9E63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E9E6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✓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9E63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E9E6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✓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9E63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E9E6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✓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6F4EC"/>
                    </a:solidFill>
                  </a:tcPr>
                </a:tc>
              </a:tr>
              <a:tr h="2148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314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16314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S18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3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1F29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Single active consumer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B6670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5B667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One active, standby fails over, order kept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9E63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E9E6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✓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9E63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E9E6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✓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392B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C039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✗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E2DE"/>
                    </a:solidFill>
                  </a:tcPr>
                </a:tc>
              </a:tr>
              <a:tr h="2148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314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16314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S19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3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1F29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Stream replay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B6670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5B667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New subscriber replays full history from offset 0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962A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C2962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⊘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BF1D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9E63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E9E6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✓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9E63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E9E6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✓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6F4EC"/>
                    </a:solidFill>
                  </a:tcPr>
                </a:tc>
              </a:tr>
              <a:tr h="2148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t/>
                      </a:r>
                      <a:endParaRPr sz="1200" u="none" cap="none" strike="noStrike"/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14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50"/>
                        <a:buFont typeface="Calibri"/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TOTAL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14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FE6E4"/>
                        </a:buClr>
                        <a:buSzPts val="950"/>
                        <a:buFont typeface="Calibri"/>
                        <a:buNone/>
                      </a:pPr>
                      <a:r>
                        <a:rPr i="1" lang="en-US" sz="950" u="none" cap="none" strike="noStrike">
                          <a:solidFill>
                            <a:srgbClr val="CFE6E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 scenarios measured  ·  run 2 (idempotency fail-open fixed)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14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18✓ 1⊘ 0✗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6E6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16✓ 3⊘ 0✗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612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9✓ 6⊘ 4✗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63500" marL="635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43479B"/>
                    </a:solidFill>
                  </a:tcPr>
                </a:tc>
              </a:tr>
            </a:tbl>
          </a:graphicData>
        </a:graphic>
      </p:graphicFrame>
      <p:sp>
        <p:nvSpPr>
          <p:cNvPr id="165" name="Google Shape;165;p8"/>
          <p:cNvSpPr/>
          <p:nvPr/>
        </p:nvSpPr>
        <p:spPr>
          <a:xfrm>
            <a:off x="548640" y="65105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670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Artemis and RabbitMQ have zero failures; Kafka's four fails (S2, S14, S16, S18) are all log-vs-queue boundaries.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9"/>
          <p:cNvSpPr/>
          <p:nvPr/>
        </p:nvSpPr>
        <p:spPr>
          <a:xfrm>
            <a:off x="548640" y="347472"/>
            <a:ext cx="841248" cy="530352"/>
          </a:xfrm>
          <a:prstGeom prst="roundRect">
            <a:avLst>
              <a:gd fmla="val 17241" name="adj"/>
            </a:avLst>
          </a:prstGeom>
          <a:solidFill>
            <a:srgbClr val="1631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9"/>
          <p:cNvSpPr/>
          <p:nvPr/>
        </p:nvSpPr>
        <p:spPr>
          <a:xfrm>
            <a:off x="548640" y="347472"/>
            <a:ext cx="841248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Bookman Old Style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S1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9"/>
          <p:cNvSpPr/>
          <p:nvPr/>
        </p:nvSpPr>
        <p:spPr>
          <a:xfrm>
            <a:off x="1536192" y="329184"/>
            <a:ext cx="76809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314F"/>
              </a:buClr>
              <a:buSzPts val="2400"/>
              <a:buFont typeface="Bookman Old Style"/>
              <a:buNone/>
            </a:pPr>
            <a:r>
              <a:rPr b="1" i="0" lang="en-US" sz="2400" u="none" cap="none" strike="noStrike">
                <a:solidFill>
                  <a:srgbClr val="16314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Immediate send/receive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9"/>
          <p:cNvSpPr/>
          <p:nvPr/>
        </p:nvSpPr>
        <p:spPr>
          <a:xfrm>
            <a:off x="9692640" y="457200"/>
            <a:ext cx="1947672" cy="365760"/>
          </a:xfrm>
          <a:prstGeom prst="roundRect">
            <a:avLst>
              <a:gd fmla="val 50000" name="adj"/>
            </a:avLst>
          </a:prstGeom>
          <a:solidFill>
            <a:srgbClr val="F4F6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9"/>
          <p:cNvSpPr/>
          <p:nvPr/>
        </p:nvSpPr>
        <p:spPr>
          <a:xfrm>
            <a:off x="9692640" y="457200"/>
            <a:ext cx="194767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6314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6314F"/>
                </a:solidFill>
                <a:latin typeface="Calibri"/>
                <a:ea typeface="Calibri"/>
                <a:cs typeface="Calibri"/>
                <a:sym typeface="Calibri"/>
              </a:rPr>
              <a:t>BASELINE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9"/>
          <p:cNvSpPr/>
          <p:nvPr/>
        </p:nvSpPr>
        <p:spPr>
          <a:xfrm>
            <a:off x="566928" y="950976"/>
            <a:ext cx="11064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670"/>
              </a:buClr>
              <a:buSzPts val="1450"/>
              <a:buFont typeface="Calibri"/>
              <a:buNone/>
            </a:pPr>
            <a:r>
              <a:rPr b="0" i="1" lang="en-US" sz="14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Send one message and receive it — the basic round-trip that proves the connection and adapter work.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77" name="Google Shape;177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608" y="1371600"/>
            <a:ext cx="10698480" cy="2991948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9"/>
          <p:cNvSpPr/>
          <p:nvPr/>
        </p:nvSpPr>
        <p:spPr>
          <a:xfrm>
            <a:off x="566928" y="4572000"/>
            <a:ext cx="3520440" cy="1371600"/>
          </a:xfrm>
          <a:prstGeom prst="roundRect">
            <a:avLst>
              <a:gd fmla="val 5333" name="adj"/>
            </a:avLst>
          </a:prstGeom>
          <a:solidFill>
            <a:srgbClr val="E6F4EC"/>
          </a:solidFill>
          <a:ln cap="flat" cmpd="sng" w="15875">
            <a:solidFill>
              <a:srgbClr val="0F6E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9"/>
          <p:cNvSpPr/>
          <p:nvPr/>
        </p:nvSpPr>
        <p:spPr>
          <a:xfrm>
            <a:off x="749808" y="4736592"/>
            <a:ext cx="457200" cy="457200"/>
          </a:xfrm>
          <a:prstGeom prst="ellipse">
            <a:avLst/>
          </a:prstGeom>
          <a:solidFill>
            <a:srgbClr val="1E9E6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80" name="Google Shape;180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73252" y="4860036"/>
            <a:ext cx="210312" cy="210312"/>
          </a:xfrm>
          <a:prstGeom prst="rect">
            <a:avLst/>
          </a:prstGeom>
          <a:noFill/>
          <a:ln>
            <a:noFill/>
          </a:ln>
        </p:spPr>
      </p:pic>
      <p:sp>
        <p:nvSpPr>
          <p:cNvPr id="181" name="Google Shape;181;p9"/>
          <p:cNvSpPr/>
          <p:nvPr/>
        </p:nvSpPr>
        <p:spPr>
          <a:xfrm>
            <a:off x="1316736" y="4718304"/>
            <a:ext cx="2606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6E6E"/>
              </a:buClr>
              <a:buSzPts val="1500"/>
              <a:buFont typeface="Bookman Old Style"/>
              <a:buNone/>
            </a:pPr>
            <a:r>
              <a:rPr b="1" i="0" lang="en-US" sz="1500" u="none" cap="none" strike="noStrike">
                <a:solidFill>
                  <a:srgbClr val="0F6E6E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Artemis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9"/>
          <p:cNvSpPr/>
          <p:nvPr/>
        </p:nvSpPr>
        <p:spPr>
          <a:xfrm>
            <a:off x="1316736" y="5029200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9E63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E9E63"/>
                </a:solidFill>
                <a:latin typeface="Calibri"/>
                <a:ea typeface="Calibri"/>
                <a:cs typeface="Calibri"/>
                <a:sym typeface="Calibri"/>
              </a:rPr>
              <a:t>PASS</a:t>
            </a:r>
            <a:r>
              <a:rPr b="0" i="0" lang="en-US" sz="11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  57ms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9"/>
          <p:cNvSpPr/>
          <p:nvPr/>
        </p:nvSpPr>
        <p:spPr>
          <a:xfrm>
            <a:off x="749808" y="5358384"/>
            <a:ext cx="31546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delivered immediately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9"/>
          <p:cNvSpPr/>
          <p:nvPr/>
        </p:nvSpPr>
        <p:spPr>
          <a:xfrm>
            <a:off x="4343400" y="4572000"/>
            <a:ext cx="3520440" cy="1371600"/>
          </a:xfrm>
          <a:prstGeom prst="roundRect">
            <a:avLst>
              <a:gd fmla="val 5333" name="adj"/>
            </a:avLst>
          </a:prstGeom>
          <a:solidFill>
            <a:srgbClr val="E6F4EC"/>
          </a:solidFill>
          <a:ln cap="flat" cmpd="sng" w="15875">
            <a:solidFill>
              <a:srgbClr val="C061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9"/>
          <p:cNvSpPr/>
          <p:nvPr/>
        </p:nvSpPr>
        <p:spPr>
          <a:xfrm>
            <a:off x="4526280" y="4736592"/>
            <a:ext cx="457200" cy="457200"/>
          </a:xfrm>
          <a:prstGeom prst="ellipse">
            <a:avLst/>
          </a:prstGeom>
          <a:solidFill>
            <a:srgbClr val="1E9E6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86" name="Google Shape;186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49724" y="4860036"/>
            <a:ext cx="210312" cy="210312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p9"/>
          <p:cNvSpPr/>
          <p:nvPr/>
        </p:nvSpPr>
        <p:spPr>
          <a:xfrm>
            <a:off x="5093208" y="4718304"/>
            <a:ext cx="2606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612F"/>
              </a:buClr>
              <a:buSzPts val="1500"/>
              <a:buFont typeface="Bookman Old Style"/>
              <a:buNone/>
            </a:pPr>
            <a:r>
              <a:rPr b="1" i="0" lang="en-US" sz="1500" u="none" cap="none" strike="noStrike">
                <a:solidFill>
                  <a:srgbClr val="C0612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RabbitMQ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9"/>
          <p:cNvSpPr/>
          <p:nvPr/>
        </p:nvSpPr>
        <p:spPr>
          <a:xfrm>
            <a:off x="5093208" y="5029200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9E63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E9E63"/>
                </a:solidFill>
                <a:latin typeface="Calibri"/>
                <a:ea typeface="Calibri"/>
                <a:cs typeface="Calibri"/>
                <a:sym typeface="Calibri"/>
              </a:rPr>
              <a:t>PASS</a:t>
            </a:r>
            <a:r>
              <a:rPr b="0" i="0" lang="en-US" sz="11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  59ms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9"/>
          <p:cNvSpPr/>
          <p:nvPr/>
        </p:nvSpPr>
        <p:spPr>
          <a:xfrm>
            <a:off x="4526280" y="5358384"/>
            <a:ext cx="31546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delivered immediately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9"/>
          <p:cNvSpPr/>
          <p:nvPr/>
        </p:nvSpPr>
        <p:spPr>
          <a:xfrm>
            <a:off x="8119872" y="4572000"/>
            <a:ext cx="3520440" cy="1371600"/>
          </a:xfrm>
          <a:prstGeom prst="roundRect">
            <a:avLst>
              <a:gd fmla="val 5333" name="adj"/>
            </a:avLst>
          </a:prstGeom>
          <a:solidFill>
            <a:srgbClr val="E6F4EC"/>
          </a:solidFill>
          <a:ln cap="flat" cmpd="sng" w="15875">
            <a:solidFill>
              <a:srgbClr val="43479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9"/>
          <p:cNvSpPr/>
          <p:nvPr/>
        </p:nvSpPr>
        <p:spPr>
          <a:xfrm>
            <a:off x="8302752" y="4736592"/>
            <a:ext cx="457200" cy="457200"/>
          </a:xfrm>
          <a:prstGeom prst="ellipse">
            <a:avLst/>
          </a:prstGeom>
          <a:solidFill>
            <a:srgbClr val="1E9E6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92" name="Google Shape;192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426196" y="4860036"/>
            <a:ext cx="210312" cy="210312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9"/>
          <p:cNvSpPr/>
          <p:nvPr/>
        </p:nvSpPr>
        <p:spPr>
          <a:xfrm>
            <a:off x="8869680" y="4718304"/>
            <a:ext cx="2606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3479B"/>
              </a:buClr>
              <a:buSzPts val="1500"/>
              <a:buFont typeface="Bookman Old Style"/>
              <a:buNone/>
            </a:pPr>
            <a:r>
              <a:rPr b="1" i="0" lang="en-US" sz="1500" u="none" cap="none" strike="noStrike">
                <a:solidFill>
                  <a:srgbClr val="43479B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Kafka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9"/>
          <p:cNvSpPr/>
          <p:nvPr/>
        </p:nvSpPr>
        <p:spPr>
          <a:xfrm>
            <a:off x="8869680" y="5029200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9E63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E9E63"/>
                </a:solidFill>
                <a:latin typeface="Calibri"/>
                <a:ea typeface="Calibri"/>
                <a:cs typeface="Calibri"/>
                <a:sym typeface="Calibri"/>
              </a:rPr>
              <a:t>PASS</a:t>
            </a:r>
            <a:r>
              <a:rPr b="0" i="0" lang="en-US" sz="11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  283ms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9"/>
          <p:cNvSpPr/>
          <p:nvPr/>
        </p:nvSpPr>
        <p:spPr>
          <a:xfrm>
            <a:off x="8302752" y="5358384"/>
            <a:ext cx="31546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delivered immediately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9"/>
          <p:cNvSpPr/>
          <p:nvPr/>
        </p:nvSpPr>
        <p:spPr>
          <a:xfrm>
            <a:off x="566928" y="6053328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314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6314F"/>
                </a:solidFill>
                <a:latin typeface="Calibri"/>
                <a:ea typeface="Calibri"/>
                <a:cs typeface="Calibri"/>
                <a:sym typeface="Calibri"/>
              </a:rPr>
              <a:t>Read   </a:t>
            </a:r>
            <a:r>
              <a:rPr b="0" i="1" lang="en-US" sz="12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All three pass; Kafka slightly slower (one-time client/topic setup).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0"/>
          <p:cNvSpPr/>
          <p:nvPr/>
        </p:nvSpPr>
        <p:spPr>
          <a:xfrm>
            <a:off x="548640" y="347472"/>
            <a:ext cx="841248" cy="530352"/>
          </a:xfrm>
          <a:prstGeom prst="roundRect">
            <a:avLst>
              <a:gd fmla="val 17241" name="adj"/>
            </a:avLst>
          </a:prstGeom>
          <a:solidFill>
            <a:srgbClr val="1631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0"/>
          <p:cNvSpPr/>
          <p:nvPr/>
        </p:nvSpPr>
        <p:spPr>
          <a:xfrm>
            <a:off x="548640" y="347472"/>
            <a:ext cx="841248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Bookman Old Style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S2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0"/>
          <p:cNvSpPr/>
          <p:nvPr/>
        </p:nvSpPr>
        <p:spPr>
          <a:xfrm>
            <a:off x="1536192" y="329184"/>
            <a:ext cx="76809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314F"/>
              </a:buClr>
              <a:buSzPts val="2400"/>
              <a:buFont typeface="Bookman Old Style"/>
              <a:buNone/>
            </a:pPr>
            <a:r>
              <a:rPr b="1" i="0" lang="en-US" sz="2400" u="none" cap="none" strike="noStrike">
                <a:solidFill>
                  <a:srgbClr val="16314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Scheduled delivery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10"/>
          <p:cNvSpPr/>
          <p:nvPr/>
        </p:nvSpPr>
        <p:spPr>
          <a:xfrm>
            <a:off x="9692640" y="457200"/>
            <a:ext cx="1947672" cy="365760"/>
          </a:xfrm>
          <a:prstGeom prst="roundRect">
            <a:avLst>
              <a:gd fmla="val 50000" name="adj"/>
            </a:avLst>
          </a:prstGeom>
          <a:solidFill>
            <a:srgbClr val="F4F6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0"/>
          <p:cNvSpPr/>
          <p:nvPr/>
        </p:nvSpPr>
        <p:spPr>
          <a:xfrm>
            <a:off x="9692640" y="457200"/>
            <a:ext cx="194767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6314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6314F"/>
                </a:solidFill>
                <a:latin typeface="Calibri"/>
                <a:ea typeface="Calibri"/>
                <a:cs typeface="Calibri"/>
                <a:sym typeface="Calibri"/>
              </a:rPr>
              <a:t>SCHEDULING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0"/>
          <p:cNvSpPr/>
          <p:nvPr/>
        </p:nvSpPr>
        <p:spPr>
          <a:xfrm>
            <a:off x="566928" y="950976"/>
            <a:ext cx="11064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670"/>
              </a:buClr>
              <a:buSzPts val="1450"/>
              <a:buFont typeface="Calibri"/>
              <a:buNone/>
            </a:pPr>
            <a:r>
              <a:rPr b="0" i="1" lang="en-US" sz="14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Schedule a message for ~3s in the future; the broker must hold it until then, not deliver it early.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08" name="Google Shape;208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608" y="1371600"/>
            <a:ext cx="10698480" cy="2991948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10"/>
          <p:cNvSpPr/>
          <p:nvPr/>
        </p:nvSpPr>
        <p:spPr>
          <a:xfrm>
            <a:off x="566928" y="4572000"/>
            <a:ext cx="3520440" cy="1371600"/>
          </a:xfrm>
          <a:prstGeom prst="roundRect">
            <a:avLst>
              <a:gd fmla="val 5333" name="adj"/>
            </a:avLst>
          </a:prstGeom>
          <a:solidFill>
            <a:srgbClr val="E6F4EC"/>
          </a:solidFill>
          <a:ln cap="flat" cmpd="sng" w="15875">
            <a:solidFill>
              <a:srgbClr val="0F6E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10"/>
          <p:cNvSpPr/>
          <p:nvPr/>
        </p:nvSpPr>
        <p:spPr>
          <a:xfrm>
            <a:off x="749808" y="4736592"/>
            <a:ext cx="457200" cy="457200"/>
          </a:xfrm>
          <a:prstGeom prst="ellipse">
            <a:avLst/>
          </a:prstGeom>
          <a:solidFill>
            <a:srgbClr val="1E9E6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11" name="Google Shape;211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73252" y="4860036"/>
            <a:ext cx="210312" cy="210312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10"/>
          <p:cNvSpPr/>
          <p:nvPr/>
        </p:nvSpPr>
        <p:spPr>
          <a:xfrm>
            <a:off x="1316736" y="4718304"/>
            <a:ext cx="2606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6E6E"/>
              </a:buClr>
              <a:buSzPts val="1500"/>
              <a:buFont typeface="Bookman Old Style"/>
              <a:buNone/>
            </a:pPr>
            <a:r>
              <a:rPr b="1" i="0" lang="en-US" sz="1500" u="none" cap="none" strike="noStrike">
                <a:solidFill>
                  <a:srgbClr val="0F6E6E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Artemis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10"/>
          <p:cNvSpPr/>
          <p:nvPr/>
        </p:nvSpPr>
        <p:spPr>
          <a:xfrm>
            <a:off x="1316736" y="5029200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9E63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E9E63"/>
                </a:solidFill>
                <a:latin typeface="Calibri"/>
                <a:ea typeface="Calibri"/>
                <a:cs typeface="Calibri"/>
                <a:sym typeface="Calibri"/>
              </a:rPr>
              <a:t>PASS</a:t>
            </a:r>
            <a:r>
              <a:rPr b="0" i="0" lang="en-US" sz="11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  3014ms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10"/>
          <p:cNvSpPr/>
          <p:nvPr/>
        </p:nvSpPr>
        <p:spPr>
          <a:xfrm>
            <a:off x="749808" y="5358384"/>
            <a:ext cx="31546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withheld, then delivered after ~3000ms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10"/>
          <p:cNvSpPr/>
          <p:nvPr/>
        </p:nvSpPr>
        <p:spPr>
          <a:xfrm>
            <a:off x="4343400" y="4572000"/>
            <a:ext cx="3520440" cy="1371600"/>
          </a:xfrm>
          <a:prstGeom prst="roundRect">
            <a:avLst>
              <a:gd fmla="val 5333" name="adj"/>
            </a:avLst>
          </a:prstGeom>
          <a:solidFill>
            <a:srgbClr val="E6F4EC"/>
          </a:solidFill>
          <a:ln cap="flat" cmpd="sng" w="15875">
            <a:solidFill>
              <a:srgbClr val="C061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0"/>
          <p:cNvSpPr/>
          <p:nvPr/>
        </p:nvSpPr>
        <p:spPr>
          <a:xfrm>
            <a:off x="4526280" y="4736592"/>
            <a:ext cx="457200" cy="457200"/>
          </a:xfrm>
          <a:prstGeom prst="ellipse">
            <a:avLst/>
          </a:prstGeom>
          <a:solidFill>
            <a:srgbClr val="1E9E6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17" name="Google Shape;217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49724" y="4860036"/>
            <a:ext cx="210312" cy="2103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10"/>
          <p:cNvSpPr/>
          <p:nvPr/>
        </p:nvSpPr>
        <p:spPr>
          <a:xfrm>
            <a:off x="5093208" y="4718304"/>
            <a:ext cx="2606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612F"/>
              </a:buClr>
              <a:buSzPts val="1500"/>
              <a:buFont typeface="Bookman Old Style"/>
              <a:buNone/>
            </a:pPr>
            <a:r>
              <a:rPr b="1" i="0" lang="en-US" sz="1500" u="none" cap="none" strike="noStrike">
                <a:solidFill>
                  <a:srgbClr val="C0612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RabbitMQ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10"/>
          <p:cNvSpPr/>
          <p:nvPr/>
        </p:nvSpPr>
        <p:spPr>
          <a:xfrm>
            <a:off x="5093208" y="5029200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9E63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E9E63"/>
                </a:solidFill>
                <a:latin typeface="Calibri"/>
                <a:ea typeface="Calibri"/>
                <a:cs typeface="Calibri"/>
                <a:sym typeface="Calibri"/>
              </a:rPr>
              <a:t>PASS</a:t>
            </a:r>
            <a:r>
              <a:rPr b="0" i="0" lang="en-US" sz="11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  3026ms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10"/>
          <p:cNvSpPr/>
          <p:nvPr/>
        </p:nvSpPr>
        <p:spPr>
          <a:xfrm>
            <a:off x="4526280" y="5358384"/>
            <a:ext cx="31546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withheld, then delivered after ~3000ms (delayed-message plugin)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10"/>
          <p:cNvSpPr/>
          <p:nvPr/>
        </p:nvSpPr>
        <p:spPr>
          <a:xfrm>
            <a:off x="8119872" y="4572000"/>
            <a:ext cx="3520440" cy="1371600"/>
          </a:xfrm>
          <a:prstGeom prst="roundRect">
            <a:avLst>
              <a:gd fmla="val 5333" name="adj"/>
            </a:avLst>
          </a:prstGeom>
          <a:solidFill>
            <a:srgbClr val="F7E2DE"/>
          </a:solidFill>
          <a:ln cap="flat" cmpd="sng" w="15875">
            <a:solidFill>
              <a:srgbClr val="43479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0"/>
          <p:cNvSpPr/>
          <p:nvPr/>
        </p:nvSpPr>
        <p:spPr>
          <a:xfrm>
            <a:off x="8302752" y="4736592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23" name="Google Shape;223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426196" y="4860036"/>
            <a:ext cx="210312" cy="2103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10"/>
          <p:cNvSpPr/>
          <p:nvPr/>
        </p:nvSpPr>
        <p:spPr>
          <a:xfrm>
            <a:off x="8869680" y="4718304"/>
            <a:ext cx="2606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3479B"/>
              </a:buClr>
              <a:buSzPts val="1500"/>
              <a:buFont typeface="Bookman Old Style"/>
              <a:buNone/>
            </a:pPr>
            <a:r>
              <a:rPr b="1" i="0" lang="en-US" sz="1500" u="none" cap="none" strike="noStrike">
                <a:solidFill>
                  <a:srgbClr val="43479B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Kafka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10"/>
          <p:cNvSpPr/>
          <p:nvPr/>
        </p:nvSpPr>
        <p:spPr>
          <a:xfrm>
            <a:off x="8869680" y="5029200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FAIL</a:t>
            </a:r>
            <a:r>
              <a:rPr b="0" i="0" lang="en-US" sz="11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  1271ms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10"/>
          <p:cNvSpPr/>
          <p:nvPr/>
        </p:nvSpPr>
        <p:spPr>
          <a:xfrm>
            <a:off x="8302752" y="5358384"/>
            <a:ext cx="31546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message delivered early (not withheld)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0"/>
          <p:cNvSpPr/>
          <p:nvPr/>
        </p:nvSpPr>
        <p:spPr>
          <a:xfrm>
            <a:off x="566928" y="6053328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314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6314F"/>
                </a:solidFill>
                <a:latin typeface="Calibri"/>
                <a:ea typeface="Calibri"/>
                <a:cs typeface="Calibri"/>
                <a:sym typeface="Calibri"/>
              </a:rPr>
              <a:t>Read   </a:t>
            </a:r>
            <a:r>
              <a:rPr b="0" i="1" lang="en-US" sz="12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Kafka has no timed delivery — a record is consumable as soon as it's written.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11"/>
          <p:cNvSpPr/>
          <p:nvPr/>
        </p:nvSpPr>
        <p:spPr>
          <a:xfrm>
            <a:off x="548640" y="347472"/>
            <a:ext cx="841248" cy="530352"/>
          </a:xfrm>
          <a:prstGeom prst="roundRect">
            <a:avLst>
              <a:gd fmla="val 17241" name="adj"/>
            </a:avLst>
          </a:prstGeom>
          <a:solidFill>
            <a:srgbClr val="1631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11"/>
          <p:cNvSpPr/>
          <p:nvPr/>
        </p:nvSpPr>
        <p:spPr>
          <a:xfrm>
            <a:off x="548640" y="347472"/>
            <a:ext cx="841248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Bookman Old Style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S3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1"/>
          <p:cNvSpPr/>
          <p:nvPr/>
        </p:nvSpPr>
        <p:spPr>
          <a:xfrm>
            <a:off x="1536192" y="329184"/>
            <a:ext cx="76809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314F"/>
              </a:buClr>
              <a:buSzPts val="2400"/>
              <a:buFont typeface="Bookman Old Style"/>
              <a:buNone/>
            </a:pPr>
            <a:r>
              <a:rPr b="1" i="0" lang="en-US" sz="2400" u="none" cap="none" strike="noStrike">
                <a:solidFill>
                  <a:srgbClr val="16314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Cancel scheduled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11"/>
          <p:cNvSpPr/>
          <p:nvPr/>
        </p:nvSpPr>
        <p:spPr>
          <a:xfrm>
            <a:off x="9692640" y="457200"/>
            <a:ext cx="1947672" cy="365760"/>
          </a:xfrm>
          <a:prstGeom prst="roundRect">
            <a:avLst>
              <a:gd fmla="val 50000" name="adj"/>
            </a:avLst>
          </a:prstGeom>
          <a:solidFill>
            <a:srgbClr val="F4F6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11"/>
          <p:cNvSpPr/>
          <p:nvPr/>
        </p:nvSpPr>
        <p:spPr>
          <a:xfrm>
            <a:off x="9692640" y="457200"/>
            <a:ext cx="194767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6314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6314F"/>
                </a:solidFill>
                <a:latin typeface="Calibri"/>
                <a:ea typeface="Calibri"/>
                <a:cs typeface="Calibri"/>
                <a:sym typeface="Calibri"/>
              </a:rPr>
              <a:t>SCHEDULING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11"/>
          <p:cNvSpPr/>
          <p:nvPr/>
        </p:nvSpPr>
        <p:spPr>
          <a:xfrm>
            <a:off x="566928" y="950976"/>
            <a:ext cx="11064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670"/>
              </a:buClr>
              <a:buSzPts val="1450"/>
              <a:buFont typeface="Calibri"/>
              <a:buNone/>
            </a:pPr>
            <a:r>
              <a:rPr b="0" i="1" lang="en-US" sz="14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Cancel a scheduled-but-undelivered message before its delivery time, so it never arrives.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39" name="Google Shape;239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608" y="1371600"/>
            <a:ext cx="10698480" cy="2991948"/>
          </a:xfrm>
          <a:prstGeom prst="rect">
            <a:avLst/>
          </a:prstGeom>
          <a:noFill/>
          <a:ln>
            <a:noFill/>
          </a:ln>
        </p:spPr>
      </p:pic>
      <p:sp>
        <p:nvSpPr>
          <p:cNvPr id="240" name="Google Shape;240;p11"/>
          <p:cNvSpPr/>
          <p:nvPr/>
        </p:nvSpPr>
        <p:spPr>
          <a:xfrm>
            <a:off x="566928" y="4572000"/>
            <a:ext cx="3520440" cy="1371600"/>
          </a:xfrm>
          <a:prstGeom prst="roundRect">
            <a:avLst>
              <a:gd fmla="val 5333" name="adj"/>
            </a:avLst>
          </a:prstGeom>
          <a:solidFill>
            <a:srgbClr val="E6F4EC"/>
          </a:solidFill>
          <a:ln cap="flat" cmpd="sng" w="15875">
            <a:solidFill>
              <a:srgbClr val="0F6E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11"/>
          <p:cNvSpPr/>
          <p:nvPr/>
        </p:nvSpPr>
        <p:spPr>
          <a:xfrm>
            <a:off x="749808" y="4736592"/>
            <a:ext cx="457200" cy="457200"/>
          </a:xfrm>
          <a:prstGeom prst="ellipse">
            <a:avLst/>
          </a:prstGeom>
          <a:solidFill>
            <a:srgbClr val="1E9E6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42" name="Google Shape;242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73252" y="4860036"/>
            <a:ext cx="210312" cy="210312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11"/>
          <p:cNvSpPr/>
          <p:nvPr/>
        </p:nvSpPr>
        <p:spPr>
          <a:xfrm>
            <a:off x="1316736" y="4718304"/>
            <a:ext cx="2606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6E6E"/>
              </a:buClr>
              <a:buSzPts val="1500"/>
              <a:buFont typeface="Bookman Old Style"/>
              <a:buNone/>
            </a:pPr>
            <a:r>
              <a:rPr b="1" i="0" lang="en-US" sz="1500" u="none" cap="none" strike="noStrike">
                <a:solidFill>
                  <a:srgbClr val="0F6E6E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Artemis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11"/>
          <p:cNvSpPr/>
          <p:nvPr/>
        </p:nvSpPr>
        <p:spPr>
          <a:xfrm>
            <a:off x="1316736" y="5029200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9E63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E9E63"/>
                </a:solidFill>
                <a:latin typeface="Calibri"/>
                <a:ea typeface="Calibri"/>
                <a:cs typeface="Calibri"/>
                <a:sym typeface="Calibri"/>
              </a:rPr>
              <a:t>PASS</a:t>
            </a:r>
            <a:r>
              <a:rPr b="0" i="0" lang="en-US" sz="11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  5043ms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11"/>
          <p:cNvSpPr/>
          <p:nvPr/>
        </p:nvSpPr>
        <p:spPr>
          <a:xfrm>
            <a:off x="749808" y="5358384"/>
            <a:ext cx="31546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scheduled message successfully cancelled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1"/>
          <p:cNvSpPr/>
          <p:nvPr/>
        </p:nvSpPr>
        <p:spPr>
          <a:xfrm>
            <a:off x="4343400" y="4572000"/>
            <a:ext cx="3520440" cy="1371600"/>
          </a:xfrm>
          <a:prstGeom prst="roundRect">
            <a:avLst>
              <a:gd fmla="val 5333" name="adj"/>
            </a:avLst>
          </a:prstGeom>
          <a:solidFill>
            <a:srgbClr val="FBF1D8"/>
          </a:solidFill>
          <a:ln cap="flat" cmpd="sng" w="15875">
            <a:solidFill>
              <a:srgbClr val="C061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7" name="Google Shape;247;p11"/>
          <p:cNvSpPr/>
          <p:nvPr/>
        </p:nvSpPr>
        <p:spPr>
          <a:xfrm>
            <a:off x="4526280" y="4736592"/>
            <a:ext cx="457200" cy="457200"/>
          </a:xfrm>
          <a:prstGeom prst="ellipse">
            <a:avLst/>
          </a:prstGeom>
          <a:solidFill>
            <a:srgbClr val="C2962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48" name="Google Shape;248;p1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649724" y="4860036"/>
            <a:ext cx="210312" cy="210312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11"/>
          <p:cNvSpPr/>
          <p:nvPr/>
        </p:nvSpPr>
        <p:spPr>
          <a:xfrm>
            <a:off x="5093208" y="4718304"/>
            <a:ext cx="2606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612F"/>
              </a:buClr>
              <a:buSzPts val="1500"/>
              <a:buFont typeface="Bookman Old Style"/>
              <a:buNone/>
            </a:pPr>
            <a:r>
              <a:rPr b="1" i="0" lang="en-US" sz="1500" u="none" cap="none" strike="noStrike">
                <a:solidFill>
                  <a:srgbClr val="C0612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RabbitMQ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11"/>
          <p:cNvSpPr/>
          <p:nvPr/>
        </p:nvSpPr>
        <p:spPr>
          <a:xfrm>
            <a:off x="5093208" y="5029200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962A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C2962A"/>
                </a:solidFill>
                <a:latin typeface="Calibri"/>
                <a:ea typeface="Calibri"/>
                <a:cs typeface="Calibri"/>
                <a:sym typeface="Calibri"/>
              </a:rPr>
              <a:t>UNSUPPORTED</a:t>
            </a:r>
            <a:r>
              <a:rPr b="0" i="0" lang="en-US" sz="11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  8ms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1"/>
          <p:cNvSpPr/>
          <p:nvPr/>
        </p:nvSpPr>
        <p:spPr>
          <a:xfrm>
            <a:off x="4526280" y="5358384"/>
            <a:ext cx="31546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no cancel API on this broker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11"/>
          <p:cNvSpPr/>
          <p:nvPr/>
        </p:nvSpPr>
        <p:spPr>
          <a:xfrm>
            <a:off x="8119872" y="4572000"/>
            <a:ext cx="3520440" cy="1371600"/>
          </a:xfrm>
          <a:prstGeom prst="roundRect">
            <a:avLst>
              <a:gd fmla="val 5333" name="adj"/>
            </a:avLst>
          </a:prstGeom>
          <a:solidFill>
            <a:srgbClr val="FBF1D8"/>
          </a:solidFill>
          <a:ln cap="flat" cmpd="sng" w="15875">
            <a:solidFill>
              <a:srgbClr val="43479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11"/>
          <p:cNvSpPr/>
          <p:nvPr/>
        </p:nvSpPr>
        <p:spPr>
          <a:xfrm>
            <a:off x="8302752" y="4736592"/>
            <a:ext cx="457200" cy="457200"/>
          </a:xfrm>
          <a:prstGeom prst="ellipse">
            <a:avLst/>
          </a:prstGeom>
          <a:solidFill>
            <a:srgbClr val="C2962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54" name="Google Shape;254;p1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426196" y="4860036"/>
            <a:ext cx="210312" cy="210312"/>
          </a:xfrm>
          <a:prstGeom prst="rect">
            <a:avLst/>
          </a:prstGeom>
          <a:noFill/>
          <a:ln>
            <a:noFill/>
          </a:ln>
        </p:spPr>
      </p:pic>
      <p:sp>
        <p:nvSpPr>
          <p:cNvPr id="255" name="Google Shape;255;p11"/>
          <p:cNvSpPr/>
          <p:nvPr/>
        </p:nvSpPr>
        <p:spPr>
          <a:xfrm>
            <a:off x="8869680" y="4718304"/>
            <a:ext cx="2606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3479B"/>
              </a:buClr>
              <a:buSzPts val="1500"/>
              <a:buFont typeface="Bookman Old Style"/>
              <a:buNone/>
            </a:pPr>
            <a:r>
              <a:rPr b="1" i="0" lang="en-US" sz="1500" u="none" cap="none" strike="noStrike">
                <a:solidFill>
                  <a:srgbClr val="43479B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Kafka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1"/>
          <p:cNvSpPr/>
          <p:nvPr/>
        </p:nvSpPr>
        <p:spPr>
          <a:xfrm>
            <a:off x="8869680" y="5029200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962A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C2962A"/>
                </a:solidFill>
                <a:latin typeface="Calibri"/>
                <a:ea typeface="Calibri"/>
                <a:cs typeface="Calibri"/>
                <a:sym typeface="Calibri"/>
              </a:rPr>
              <a:t>UNSUPPORTED</a:t>
            </a:r>
            <a:r>
              <a:rPr b="0" i="0" lang="en-US" sz="11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  259ms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1"/>
          <p:cNvSpPr/>
          <p:nvPr/>
        </p:nvSpPr>
        <p:spPr>
          <a:xfrm>
            <a:off x="8302752" y="5358384"/>
            <a:ext cx="31546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no cancel API on this broker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11"/>
          <p:cNvSpPr/>
          <p:nvPr/>
        </p:nvSpPr>
        <p:spPr>
          <a:xfrm>
            <a:off x="566928" y="6053328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314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6314F"/>
                </a:solidFill>
                <a:latin typeface="Calibri"/>
                <a:ea typeface="Calibri"/>
                <a:cs typeface="Calibri"/>
                <a:sym typeface="Calibri"/>
              </a:rPr>
              <a:t>Read   </a:t>
            </a:r>
            <a:r>
              <a:rPr b="0" i="1" lang="en-US" sz="12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Only Artemis can retract; Rabbit's plugin and Kafka have no removal API.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12"/>
          <p:cNvSpPr/>
          <p:nvPr/>
        </p:nvSpPr>
        <p:spPr>
          <a:xfrm>
            <a:off x="548640" y="347472"/>
            <a:ext cx="841248" cy="530352"/>
          </a:xfrm>
          <a:prstGeom prst="roundRect">
            <a:avLst>
              <a:gd fmla="val 17241" name="adj"/>
            </a:avLst>
          </a:prstGeom>
          <a:solidFill>
            <a:srgbClr val="1631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12"/>
          <p:cNvSpPr/>
          <p:nvPr/>
        </p:nvSpPr>
        <p:spPr>
          <a:xfrm>
            <a:off x="548640" y="347472"/>
            <a:ext cx="841248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Bookman Old Style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S4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12"/>
          <p:cNvSpPr/>
          <p:nvPr/>
        </p:nvSpPr>
        <p:spPr>
          <a:xfrm>
            <a:off x="1536192" y="329184"/>
            <a:ext cx="76809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314F"/>
              </a:buClr>
              <a:buSzPts val="2400"/>
              <a:buFont typeface="Bookman Old Style"/>
              <a:buNone/>
            </a:pPr>
            <a:r>
              <a:rPr b="1" i="0" lang="en-US" sz="2400" u="none" cap="none" strike="noStrike">
                <a:solidFill>
                  <a:srgbClr val="16314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List pending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12"/>
          <p:cNvSpPr/>
          <p:nvPr/>
        </p:nvSpPr>
        <p:spPr>
          <a:xfrm>
            <a:off x="9692640" y="457200"/>
            <a:ext cx="1947672" cy="365760"/>
          </a:xfrm>
          <a:prstGeom prst="roundRect">
            <a:avLst>
              <a:gd fmla="val 50000" name="adj"/>
            </a:avLst>
          </a:prstGeom>
          <a:solidFill>
            <a:srgbClr val="F4F6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8" name="Google Shape;268;p12"/>
          <p:cNvSpPr/>
          <p:nvPr/>
        </p:nvSpPr>
        <p:spPr>
          <a:xfrm>
            <a:off x="9692640" y="457200"/>
            <a:ext cx="194767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6314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6314F"/>
                </a:solidFill>
                <a:latin typeface="Calibri"/>
                <a:ea typeface="Calibri"/>
                <a:cs typeface="Calibri"/>
                <a:sym typeface="Calibri"/>
              </a:rPr>
              <a:t>SCHEDULING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12"/>
          <p:cNvSpPr/>
          <p:nvPr/>
        </p:nvSpPr>
        <p:spPr>
          <a:xfrm>
            <a:off x="566928" y="950976"/>
            <a:ext cx="11064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670"/>
              </a:buClr>
              <a:buSzPts val="1450"/>
              <a:buFont typeface="Calibri"/>
              <a:buNone/>
            </a:pPr>
            <a:r>
              <a:rPr b="0" i="1" lang="en-US" sz="14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Ask the broker to enumerate the scheduled messages that haven't been delivered yet.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70" name="Google Shape;270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608" y="1371600"/>
            <a:ext cx="10698480" cy="2991948"/>
          </a:xfrm>
          <a:prstGeom prst="rect">
            <a:avLst/>
          </a:prstGeom>
          <a:noFill/>
          <a:ln>
            <a:noFill/>
          </a:ln>
        </p:spPr>
      </p:pic>
      <p:sp>
        <p:nvSpPr>
          <p:cNvPr id="271" name="Google Shape;271;p12"/>
          <p:cNvSpPr/>
          <p:nvPr/>
        </p:nvSpPr>
        <p:spPr>
          <a:xfrm>
            <a:off x="566928" y="4572000"/>
            <a:ext cx="3520440" cy="1371600"/>
          </a:xfrm>
          <a:prstGeom prst="roundRect">
            <a:avLst>
              <a:gd fmla="val 5333" name="adj"/>
            </a:avLst>
          </a:prstGeom>
          <a:solidFill>
            <a:srgbClr val="E6F4EC"/>
          </a:solidFill>
          <a:ln cap="flat" cmpd="sng" w="15875">
            <a:solidFill>
              <a:srgbClr val="0F6E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2" name="Google Shape;272;p12"/>
          <p:cNvSpPr/>
          <p:nvPr/>
        </p:nvSpPr>
        <p:spPr>
          <a:xfrm>
            <a:off x="749808" y="4736592"/>
            <a:ext cx="457200" cy="457200"/>
          </a:xfrm>
          <a:prstGeom prst="ellipse">
            <a:avLst/>
          </a:prstGeom>
          <a:solidFill>
            <a:srgbClr val="1E9E6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73" name="Google Shape;273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73252" y="4860036"/>
            <a:ext cx="210312" cy="210312"/>
          </a:xfrm>
          <a:prstGeom prst="rect">
            <a:avLst/>
          </a:prstGeom>
          <a:noFill/>
          <a:ln>
            <a:noFill/>
          </a:ln>
        </p:spPr>
      </p:pic>
      <p:sp>
        <p:nvSpPr>
          <p:cNvPr id="274" name="Google Shape;274;p12"/>
          <p:cNvSpPr/>
          <p:nvPr/>
        </p:nvSpPr>
        <p:spPr>
          <a:xfrm>
            <a:off x="1316736" y="4718304"/>
            <a:ext cx="2606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6E6E"/>
              </a:buClr>
              <a:buSzPts val="1500"/>
              <a:buFont typeface="Bookman Old Style"/>
              <a:buNone/>
            </a:pPr>
            <a:r>
              <a:rPr b="1" i="0" lang="en-US" sz="1500" u="none" cap="none" strike="noStrike">
                <a:solidFill>
                  <a:srgbClr val="0F6E6E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Artemis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12"/>
          <p:cNvSpPr/>
          <p:nvPr/>
        </p:nvSpPr>
        <p:spPr>
          <a:xfrm>
            <a:off x="1316736" y="5029200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9E63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E9E63"/>
                </a:solidFill>
                <a:latin typeface="Calibri"/>
                <a:ea typeface="Calibri"/>
                <a:cs typeface="Calibri"/>
                <a:sym typeface="Calibri"/>
              </a:rPr>
              <a:t>PASS</a:t>
            </a:r>
            <a:r>
              <a:rPr b="0" i="0" lang="en-US" sz="11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  38ms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12"/>
          <p:cNvSpPr/>
          <p:nvPr/>
        </p:nvSpPr>
        <p:spPr>
          <a:xfrm>
            <a:off x="749808" y="5358384"/>
            <a:ext cx="31546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reported 2 pending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12"/>
          <p:cNvSpPr/>
          <p:nvPr/>
        </p:nvSpPr>
        <p:spPr>
          <a:xfrm>
            <a:off x="4343400" y="4572000"/>
            <a:ext cx="3520440" cy="1371600"/>
          </a:xfrm>
          <a:prstGeom prst="roundRect">
            <a:avLst>
              <a:gd fmla="val 5333" name="adj"/>
            </a:avLst>
          </a:prstGeom>
          <a:solidFill>
            <a:srgbClr val="FBF1D8"/>
          </a:solidFill>
          <a:ln cap="flat" cmpd="sng" w="15875">
            <a:solidFill>
              <a:srgbClr val="C061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8" name="Google Shape;278;p12"/>
          <p:cNvSpPr/>
          <p:nvPr/>
        </p:nvSpPr>
        <p:spPr>
          <a:xfrm>
            <a:off x="4526280" y="4736592"/>
            <a:ext cx="457200" cy="457200"/>
          </a:xfrm>
          <a:prstGeom prst="ellipse">
            <a:avLst/>
          </a:prstGeom>
          <a:solidFill>
            <a:srgbClr val="C2962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79" name="Google Shape;279;p1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649724" y="4860036"/>
            <a:ext cx="210312" cy="210312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12"/>
          <p:cNvSpPr/>
          <p:nvPr/>
        </p:nvSpPr>
        <p:spPr>
          <a:xfrm>
            <a:off x="5093208" y="4718304"/>
            <a:ext cx="2606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612F"/>
              </a:buClr>
              <a:buSzPts val="1500"/>
              <a:buFont typeface="Bookman Old Style"/>
              <a:buNone/>
            </a:pPr>
            <a:r>
              <a:rPr b="1" i="0" lang="en-US" sz="1500" u="none" cap="none" strike="noStrike">
                <a:solidFill>
                  <a:srgbClr val="C0612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RabbitMQ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2"/>
          <p:cNvSpPr/>
          <p:nvPr/>
        </p:nvSpPr>
        <p:spPr>
          <a:xfrm>
            <a:off x="5093208" y="5029200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962A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C2962A"/>
                </a:solidFill>
                <a:latin typeface="Calibri"/>
                <a:ea typeface="Calibri"/>
                <a:cs typeface="Calibri"/>
                <a:sym typeface="Calibri"/>
              </a:rPr>
              <a:t>UNSUPPORTED</a:t>
            </a:r>
            <a:r>
              <a:rPr b="0" i="0" lang="en-US" sz="11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  7ms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2"/>
          <p:cNvSpPr/>
          <p:nvPr/>
        </p:nvSpPr>
        <p:spPr>
          <a:xfrm>
            <a:off x="4526280" y="5358384"/>
            <a:ext cx="31546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no inspection API on this broker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2"/>
          <p:cNvSpPr/>
          <p:nvPr/>
        </p:nvSpPr>
        <p:spPr>
          <a:xfrm>
            <a:off x="8119872" y="4572000"/>
            <a:ext cx="3520440" cy="1371600"/>
          </a:xfrm>
          <a:prstGeom prst="roundRect">
            <a:avLst>
              <a:gd fmla="val 5333" name="adj"/>
            </a:avLst>
          </a:prstGeom>
          <a:solidFill>
            <a:srgbClr val="FBF1D8"/>
          </a:solidFill>
          <a:ln cap="flat" cmpd="sng" w="15875">
            <a:solidFill>
              <a:srgbClr val="43479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4" name="Google Shape;284;p12"/>
          <p:cNvSpPr/>
          <p:nvPr/>
        </p:nvSpPr>
        <p:spPr>
          <a:xfrm>
            <a:off x="8302752" y="4736592"/>
            <a:ext cx="457200" cy="457200"/>
          </a:xfrm>
          <a:prstGeom prst="ellipse">
            <a:avLst/>
          </a:prstGeom>
          <a:solidFill>
            <a:srgbClr val="C2962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85" name="Google Shape;285;p1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426196" y="4860036"/>
            <a:ext cx="210312" cy="210312"/>
          </a:xfrm>
          <a:prstGeom prst="rect">
            <a:avLst/>
          </a:prstGeom>
          <a:noFill/>
          <a:ln>
            <a:noFill/>
          </a:ln>
        </p:spPr>
      </p:pic>
      <p:sp>
        <p:nvSpPr>
          <p:cNvPr id="286" name="Google Shape;286;p12"/>
          <p:cNvSpPr/>
          <p:nvPr/>
        </p:nvSpPr>
        <p:spPr>
          <a:xfrm>
            <a:off x="8869680" y="4718304"/>
            <a:ext cx="2606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3479B"/>
              </a:buClr>
              <a:buSzPts val="1500"/>
              <a:buFont typeface="Bookman Old Style"/>
              <a:buNone/>
            </a:pPr>
            <a:r>
              <a:rPr b="1" i="0" lang="en-US" sz="1500" u="none" cap="none" strike="noStrike">
                <a:solidFill>
                  <a:srgbClr val="43479B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Kafka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12"/>
          <p:cNvSpPr/>
          <p:nvPr/>
        </p:nvSpPr>
        <p:spPr>
          <a:xfrm>
            <a:off x="8869680" y="5029200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962A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C2962A"/>
                </a:solidFill>
                <a:latin typeface="Calibri"/>
                <a:ea typeface="Calibri"/>
                <a:cs typeface="Calibri"/>
                <a:sym typeface="Calibri"/>
              </a:rPr>
              <a:t>UNSUPPORTED</a:t>
            </a:r>
            <a:r>
              <a:rPr b="0" i="0" lang="en-US" sz="11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  132ms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2"/>
          <p:cNvSpPr/>
          <p:nvPr/>
        </p:nvSpPr>
        <p:spPr>
          <a:xfrm>
            <a:off x="8302752" y="5358384"/>
            <a:ext cx="31546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no inspection API on this broker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12"/>
          <p:cNvSpPr/>
          <p:nvPr/>
        </p:nvSpPr>
        <p:spPr>
          <a:xfrm>
            <a:off x="566928" y="6053328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314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6314F"/>
                </a:solidFill>
                <a:latin typeface="Calibri"/>
                <a:ea typeface="Calibri"/>
                <a:cs typeface="Calibri"/>
                <a:sym typeface="Calibri"/>
              </a:rPr>
              <a:t>Read   </a:t>
            </a:r>
            <a:r>
              <a:rPr b="0" i="1" lang="en-US" sz="12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Only Artemis exposes pending scheduled messages.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13"/>
          <p:cNvSpPr/>
          <p:nvPr/>
        </p:nvSpPr>
        <p:spPr>
          <a:xfrm>
            <a:off x="548640" y="347472"/>
            <a:ext cx="841248" cy="530352"/>
          </a:xfrm>
          <a:prstGeom prst="roundRect">
            <a:avLst>
              <a:gd fmla="val 17241" name="adj"/>
            </a:avLst>
          </a:prstGeom>
          <a:solidFill>
            <a:srgbClr val="1631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" name="Google Shape;296;p13"/>
          <p:cNvSpPr/>
          <p:nvPr/>
        </p:nvSpPr>
        <p:spPr>
          <a:xfrm>
            <a:off x="548640" y="347472"/>
            <a:ext cx="841248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Bookman Old Style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S5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13"/>
          <p:cNvSpPr/>
          <p:nvPr/>
        </p:nvSpPr>
        <p:spPr>
          <a:xfrm>
            <a:off x="1536192" y="329184"/>
            <a:ext cx="76809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314F"/>
              </a:buClr>
              <a:buSzPts val="2400"/>
              <a:buFont typeface="Bookman Old Style"/>
              <a:buNone/>
            </a:pPr>
            <a:r>
              <a:rPr b="1" i="0" lang="en-US" sz="2400" u="none" cap="none" strike="noStrike">
                <a:solidFill>
                  <a:srgbClr val="16314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Pub/sub (topic routing)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3"/>
          <p:cNvSpPr/>
          <p:nvPr/>
        </p:nvSpPr>
        <p:spPr>
          <a:xfrm>
            <a:off x="9692640" y="457200"/>
            <a:ext cx="1947672" cy="365760"/>
          </a:xfrm>
          <a:prstGeom prst="roundRect">
            <a:avLst>
              <a:gd fmla="val 50000" name="adj"/>
            </a:avLst>
          </a:prstGeom>
          <a:solidFill>
            <a:srgbClr val="F4F6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9" name="Google Shape;299;p13"/>
          <p:cNvSpPr/>
          <p:nvPr/>
        </p:nvSpPr>
        <p:spPr>
          <a:xfrm>
            <a:off x="9692640" y="457200"/>
            <a:ext cx="194767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6314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6314F"/>
                </a:solidFill>
                <a:latin typeface="Calibri"/>
                <a:ea typeface="Calibri"/>
                <a:cs typeface="Calibri"/>
                <a:sym typeface="Calibri"/>
              </a:rPr>
              <a:t>ROUTING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13"/>
          <p:cNvSpPr/>
          <p:nvPr/>
        </p:nvSpPr>
        <p:spPr>
          <a:xfrm>
            <a:off x="566928" y="950976"/>
            <a:ext cx="11064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670"/>
              </a:buClr>
              <a:buSzPts val="1450"/>
              <a:buFont typeface="Calibri"/>
              <a:buNone/>
            </a:pPr>
            <a:r>
              <a:rPr b="0" i="1" lang="en-US" sz="14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Two subscribers with filters: one wants only order.created, the other wants every order.* event.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01" name="Google Shape;301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608" y="1371600"/>
            <a:ext cx="10698480" cy="2991948"/>
          </a:xfrm>
          <a:prstGeom prst="rect">
            <a:avLst/>
          </a:prstGeom>
          <a:noFill/>
          <a:ln>
            <a:noFill/>
          </a:ln>
        </p:spPr>
      </p:pic>
      <p:sp>
        <p:nvSpPr>
          <p:cNvPr id="302" name="Google Shape;302;p13"/>
          <p:cNvSpPr/>
          <p:nvPr/>
        </p:nvSpPr>
        <p:spPr>
          <a:xfrm>
            <a:off x="566928" y="4572000"/>
            <a:ext cx="3520440" cy="1371600"/>
          </a:xfrm>
          <a:prstGeom prst="roundRect">
            <a:avLst>
              <a:gd fmla="val 5333" name="adj"/>
            </a:avLst>
          </a:prstGeom>
          <a:solidFill>
            <a:srgbClr val="E6F4EC"/>
          </a:solidFill>
          <a:ln cap="flat" cmpd="sng" w="15875">
            <a:solidFill>
              <a:srgbClr val="0F6E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13"/>
          <p:cNvSpPr/>
          <p:nvPr/>
        </p:nvSpPr>
        <p:spPr>
          <a:xfrm>
            <a:off x="749808" y="4736592"/>
            <a:ext cx="457200" cy="457200"/>
          </a:xfrm>
          <a:prstGeom prst="ellipse">
            <a:avLst/>
          </a:prstGeom>
          <a:solidFill>
            <a:srgbClr val="1E9E6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04" name="Google Shape;304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73252" y="4860036"/>
            <a:ext cx="210312" cy="210312"/>
          </a:xfrm>
          <a:prstGeom prst="rect">
            <a:avLst/>
          </a:prstGeom>
          <a:noFill/>
          <a:ln>
            <a:noFill/>
          </a:ln>
        </p:spPr>
      </p:pic>
      <p:sp>
        <p:nvSpPr>
          <p:cNvPr id="305" name="Google Shape;305;p13"/>
          <p:cNvSpPr/>
          <p:nvPr/>
        </p:nvSpPr>
        <p:spPr>
          <a:xfrm>
            <a:off x="1316736" y="4718304"/>
            <a:ext cx="2606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6E6E"/>
              </a:buClr>
              <a:buSzPts val="1500"/>
              <a:buFont typeface="Bookman Old Style"/>
              <a:buNone/>
            </a:pPr>
            <a:r>
              <a:rPr b="1" i="0" lang="en-US" sz="1500" u="none" cap="none" strike="noStrike">
                <a:solidFill>
                  <a:srgbClr val="0F6E6E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Artemis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3"/>
          <p:cNvSpPr/>
          <p:nvPr/>
        </p:nvSpPr>
        <p:spPr>
          <a:xfrm>
            <a:off x="1316736" y="5029200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9E63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E9E63"/>
                </a:solidFill>
                <a:latin typeface="Calibri"/>
                <a:ea typeface="Calibri"/>
                <a:cs typeface="Calibri"/>
                <a:sym typeface="Calibri"/>
              </a:rPr>
              <a:t>PASS</a:t>
            </a:r>
            <a:r>
              <a:rPr b="0" i="0" lang="en-US" sz="11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  58ms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13"/>
          <p:cNvSpPr/>
          <p:nvPr/>
        </p:nvSpPr>
        <p:spPr>
          <a:xfrm>
            <a:off x="749808" y="5358384"/>
            <a:ext cx="31546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order.created→1 sub, order.#→both (2)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3"/>
          <p:cNvSpPr/>
          <p:nvPr/>
        </p:nvSpPr>
        <p:spPr>
          <a:xfrm>
            <a:off x="4343400" y="4572000"/>
            <a:ext cx="3520440" cy="1371600"/>
          </a:xfrm>
          <a:prstGeom prst="roundRect">
            <a:avLst>
              <a:gd fmla="val 5333" name="adj"/>
            </a:avLst>
          </a:prstGeom>
          <a:solidFill>
            <a:srgbClr val="E6F4EC"/>
          </a:solidFill>
          <a:ln cap="flat" cmpd="sng" w="15875">
            <a:solidFill>
              <a:srgbClr val="C061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p13"/>
          <p:cNvSpPr/>
          <p:nvPr/>
        </p:nvSpPr>
        <p:spPr>
          <a:xfrm>
            <a:off x="4526280" y="4736592"/>
            <a:ext cx="457200" cy="457200"/>
          </a:xfrm>
          <a:prstGeom prst="ellipse">
            <a:avLst/>
          </a:prstGeom>
          <a:solidFill>
            <a:srgbClr val="1E9E6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10" name="Google Shape;310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49724" y="4860036"/>
            <a:ext cx="210312" cy="210312"/>
          </a:xfrm>
          <a:prstGeom prst="rect">
            <a:avLst/>
          </a:prstGeom>
          <a:noFill/>
          <a:ln>
            <a:noFill/>
          </a:ln>
        </p:spPr>
      </p:pic>
      <p:sp>
        <p:nvSpPr>
          <p:cNvPr id="311" name="Google Shape;311;p13"/>
          <p:cNvSpPr/>
          <p:nvPr/>
        </p:nvSpPr>
        <p:spPr>
          <a:xfrm>
            <a:off x="5093208" y="4718304"/>
            <a:ext cx="2606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612F"/>
              </a:buClr>
              <a:buSzPts val="1500"/>
              <a:buFont typeface="Bookman Old Style"/>
              <a:buNone/>
            </a:pPr>
            <a:r>
              <a:rPr b="1" i="0" lang="en-US" sz="1500" u="none" cap="none" strike="noStrike">
                <a:solidFill>
                  <a:srgbClr val="C0612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RabbitMQ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3"/>
          <p:cNvSpPr/>
          <p:nvPr/>
        </p:nvSpPr>
        <p:spPr>
          <a:xfrm>
            <a:off x="5093208" y="5029200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9E63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E9E63"/>
                </a:solidFill>
                <a:latin typeface="Calibri"/>
                <a:ea typeface="Calibri"/>
                <a:cs typeface="Calibri"/>
                <a:sym typeface="Calibri"/>
              </a:rPr>
              <a:t>PASS</a:t>
            </a:r>
            <a:r>
              <a:rPr b="0" i="0" lang="en-US" sz="11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  143ms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13"/>
          <p:cNvSpPr/>
          <p:nvPr/>
        </p:nvSpPr>
        <p:spPr>
          <a:xfrm>
            <a:off x="4526280" y="5358384"/>
            <a:ext cx="31546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order.created→1 sub, order.#→both (2)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3"/>
          <p:cNvSpPr/>
          <p:nvPr/>
        </p:nvSpPr>
        <p:spPr>
          <a:xfrm>
            <a:off x="8119872" y="4572000"/>
            <a:ext cx="3520440" cy="1371600"/>
          </a:xfrm>
          <a:prstGeom prst="roundRect">
            <a:avLst>
              <a:gd fmla="val 5333" name="adj"/>
            </a:avLst>
          </a:prstGeom>
          <a:solidFill>
            <a:srgbClr val="FBF1D8"/>
          </a:solidFill>
          <a:ln cap="flat" cmpd="sng" w="15875">
            <a:solidFill>
              <a:srgbClr val="43479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5" name="Google Shape;315;p13"/>
          <p:cNvSpPr/>
          <p:nvPr/>
        </p:nvSpPr>
        <p:spPr>
          <a:xfrm>
            <a:off x="8302752" y="4736592"/>
            <a:ext cx="457200" cy="457200"/>
          </a:xfrm>
          <a:prstGeom prst="ellipse">
            <a:avLst/>
          </a:prstGeom>
          <a:solidFill>
            <a:srgbClr val="C2962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16" name="Google Shape;316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426196" y="4860036"/>
            <a:ext cx="210312" cy="210312"/>
          </a:xfrm>
          <a:prstGeom prst="rect">
            <a:avLst/>
          </a:prstGeom>
          <a:noFill/>
          <a:ln>
            <a:noFill/>
          </a:ln>
        </p:spPr>
      </p:pic>
      <p:sp>
        <p:nvSpPr>
          <p:cNvPr id="317" name="Google Shape;317;p13"/>
          <p:cNvSpPr/>
          <p:nvPr/>
        </p:nvSpPr>
        <p:spPr>
          <a:xfrm>
            <a:off x="8869680" y="4718304"/>
            <a:ext cx="2606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3479B"/>
              </a:buClr>
              <a:buSzPts val="1500"/>
              <a:buFont typeface="Bookman Old Style"/>
              <a:buNone/>
            </a:pPr>
            <a:r>
              <a:rPr b="1" i="0" lang="en-US" sz="1500" u="none" cap="none" strike="noStrike">
                <a:solidFill>
                  <a:srgbClr val="43479B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Kafka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13"/>
          <p:cNvSpPr/>
          <p:nvPr/>
        </p:nvSpPr>
        <p:spPr>
          <a:xfrm>
            <a:off x="8869680" y="5029200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962A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C2962A"/>
                </a:solidFill>
                <a:latin typeface="Calibri"/>
                <a:ea typeface="Calibri"/>
                <a:cs typeface="Calibri"/>
                <a:sym typeface="Calibri"/>
              </a:rPr>
              <a:t>UNSUPPORTED</a:t>
            </a:r>
            <a:r>
              <a:rPr b="0" i="0" lang="en-US" sz="11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  0ms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13"/>
          <p:cNvSpPr/>
          <p:nvPr/>
        </p:nvSpPr>
        <p:spPr>
          <a:xfrm>
            <a:off x="8302752" y="5358384"/>
            <a:ext cx="31546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no topic routing on this broker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3"/>
          <p:cNvSpPr/>
          <p:nvPr/>
        </p:nvSpPr>
        <p:spPr>
          <a:xfrm>
            <a:off x="566928" y="6053328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314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6314F"/>
                </a:solidFill>
                <a:latin typeface="Calibri"/>
                <a:ea typeface="Calibri"/>
                <a:cs typeface="Calibri"/>
                <a:sym typeface="Calibri"/>
              </a:rPr>
              <a:t>Read   </a:t>
            </a:r>
            <a:r>
              <a:rPr b="0" i="1" lang="en-US" sz="12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Kafka topics aren't filtered subscriptions; filtering is a consumer concern.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14"/>
          <p:cNvSpPr/>
          <p:nvPr/>
        </p:nvSpPr>
        <p:spPr>
          <a:xfrm>
            <a:off x="548640" y="347472"/>
            <a:ext cx="841248" cy="530352"/>
          </a:xfrm>
          <a:prstGeom prst="roundRect">
            <a:avLst>
              <a:gd fmla="val 17241" name="adj"/>
            </a:avLst>
          </a:prstGeom>
          <a:solidFill>
            <a:srgbClr val="1631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7" name="Google Shape;327;p14"/>
          <p:cNvSpPr/>
          <p:nvPr/>
        </p:nvSpPr>
        <p:spPr>
          <a:xfrm>
            <a:off x="548640" y="347472"/>
            <a:ext cx="841248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Bookman Old Style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S6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14"/>
          <p:cNvSpPr/>
          <p:nvPr/>
        </p:nvSpPr>
        <p:spPr>
          <a:xfrm>
            <a:off x="1536192" y="329184"/>
            <a:ext cx="76809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314F"/>
              </a:buClr>
              <a:buSzPts val="2400"/>
              <a:buFont typeface="Bookman Old Style"/>
              <a:buNone/>
            </a:pPr>
            <a:r>
              <a:rPr b="1" i="0" lang="en-US" sz="2400" u="none" cap="none" strike="noStrike">
                <a:solidFill>
                  <a:srgbClr val="16314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Fanout multicast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14"/>
          <p:cNvSpPr/>
          <p:nvPr/>
        </p:nvSpPr>
        <p:spPr>
          <a:xfrm>
            <a:off x="9692640" y="457200"/>
            <a:ext cx="1947672" cy="365760"/>
          </a:xfrm>
          <a:prstGeom prst="roundRect">
            <a:avLst>
              <a:gd fmla="val 50000" name="adj"/>
            </a:avLst>
          </a:prstGeom>
          <a:solidFill>
            <a:srgbClr val="F4F6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14"/>
          <p:cNvSpPr/>
          <p:nvPr/>
        </p:nvSpPr>
        <p:spPr>
          <a:xfrm>
            <a:off x="9692640" y="457200"/>
            <a:ext cx="194767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6314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6314F"/>
                </a:solidFill>
                <a:latin typeface="Calibri"/>
                <a:ea typeface="Calibri"/>
                <a:cs typeface="Calibri"/>
                <a:sym typeface="Calibri"/>
              </a:rPr>
              <a:t>ROUTING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14"/>
          <p:cNvSpPr/>
          <p:nvPr/>
        </p:nvSpPr>
        <p:spPr>
          <a:xfrm>
            <a:off x="566928" y="950976"/>
            <a:ext cx="11064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670"/>
              </a:buClr>
              <a:buSzPts val="1450"/>
              <a:buFont typeface="Calibri"/>
              <a:buNone/>
            </a:pPr>
            <a:r>
              <a:rPr b="0" i="1" lang="en-US" sz="14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Publish once and have every independent subscriber receive its own copy (broadcast).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32" name="Google Shape;33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608" y="1371600"/>
            <a:ext cx="10698480" cy="2991948"/>
          </a:xfrm>
          <a:prstGeom prst="rect">
            <a:avLst/>
          </a:prstGeom>
          <a:noFill/>
          <a:ln>
            <a:noFill/>
          </a:ln>
        </p:spPr>
      </p:pic>
      <p:sp>
        <p:nvSpPr>
          <p:cNvPr id="333" name="Google Shape;333;p14"/>
          <p:cNvSpPr/>
          <p:nvPr/>
        </p:nvSpPr>
        <p:spPr>
          <a:xfrm>
            <a:off x="566928" y="4572000"/>
            <a:ext cx="3520440" cy="1371600"/>
          </a:xfrm>
          <a:prstGeom prst="roundRect">
            <a:avLst>
              <a:gd fmla="val 5333" name="adj"/>
            </a:avLst>
          </a:prstGeom>
          <a:solidFill>
            <a:srgbClr val="E6F4EC"/>
          </a:solidFill>
          <a:ln cap="flat" cmpd="sng" w="15875">
            <a:solidFill>
              <a:srgbClr val="0F6E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4" name="Google Shape;334;p14"/>
          <p:cNvSpPr/>
          <p:nvPr/>
        </p:nvSpPr>
        <p:spPr>
          <a:xfrm>
            <a:off x="749808" y="4736592"/>
            <a:ext cx="457200" cy="457200"/>
          </a:xfrm>
          <a:prstGeom prst="ellipse">
            <a:avLst/>
          </a:prstGeom>
          <a:solidFill>
            <a:srgbClr val="1E9E6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35" name="Google Shape;335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73252" y="4860036"/>
            <a:ext cx="210312" cy="210312"/>
          </a:xfrm>
          <a:prstGeom prst="rect">
            <a:avLst/>
          </a:prstGeom>
          <a:noFill/>
          <a:ln>
            <a:noFill/>
          </a:ln>
        </p:spPr>
      </p:pic>
      <p:sp>
        <p:nvSpPr>
          <p:cNvPr id="336" name="Google Shape;336;p14"/>
          <p:cNvSpPr/>
          <p:nvPr/>
        </p:nvSpPr>
        <p:spPr>
          <a:xfrm>
            <a:off x="1316736" y="4718304"/>
            <a:ext cx="2606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6E6E"/>
              </a:buClr>
              <a:buSzPts val="1500"/>
              <a:buFont typeface="Bookman Old Style"/>
              <a:buNone/>
            </a:pPr>
            <a:r>
              <a:rPr b="1" i="0" lang="en-US" sz="1500" u="none" cap="none" strike="noStrike">
                <a:solidFill>
                  <a:srgbClr val="0F6E6E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Artemis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14"/>
          <p:cNvSpPr/>
          <p:nvPr/>
        </p:nvSpPr>
        <p:spPr>
          <a:xfrm>
            <a:off x="1316736" y="5029200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9E63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E9E63"/>
                </a:solidFill>
                <a:latin typeface="Calibri"/>
                <a:ea typeface="Calibri"/>
                <a:cs typeface="Calibri"/>
                <a:sym typeface="Calibri"/>
              </a:rPr>
              <a:t>PASS</a:t>
            </a:r>
            <a:r>
              <a:rPr b="0" i="0" lang="en-US" sz="11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  64ms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14"/>
          <p:cNvSpPr/>
          <p:nvPr/>
        </p:nvSpPr>
        <p:spPr>
          <a:xfrm>
            <a:off x="749808" y="5358384"/>
            <a:ext cx="31546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1 publish → 3 subscribers each received it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14"/>
          <p:cNvSpPr/>
          <p:nvPr/>
        </p:nvSpPr>
        <p:spPr>
          <a:xfrm>
            <a:off x="4343400" y="4572000"/>
            <a:ext cx="3520440" cy="1371600"/>
          </a:xfrm>
          <a:prstGeom prst="roundRect">
            <a:avLst>
              <a:gd fmla="val 5333" name="adj"/>
            </a:avLst>
          </a:prstGeom>
          <a:solidFill>
            <a:srgbClr val="E6F4EC"/>
          </a:solidFill>
          <a:ln cap="flat" cmpd="sng" w="15875">
            <a:solidFill>
              <a:srgbClr val="C061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0" name="Google Shape;340;p14"/>
          <p:cNvSpPr/>
          <p:nvPr/>
        </p:nvSpPr>
        <p:spPr>
          <a:xfrm>
            <a:off x="4526280" y="4736592"/>
            <a:ext cx="457200" cy="457200"/>
          </a:xfrm>
          <a:prstGeom prst="ellipse">
            <a:avLst/>
          </a:prstGeom>
          <a:solidFill>
            <a:srgbClr val="1E9E6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41" name="Google Shape;341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49724" y="4860036"/>
            <a:ext cx="210312" cy="210312"/>
          </a:xfrm>
          <a:prstGeom prst="rect">
            <a:avLst/>
          </a:prstGeom>
          <a:noFill/>
          <a:ln>
            <a:noFill/>
          </a:ln>
        </p:spPr>
      </p:pic>
      <p:sp>
        <p:nvSpPr>
          <p:cNvPr id="342" name="Google Shape;342;p14"/>
          <p:cNvSpPr/>
          <p:nvPr/>
        </p:nvSpPr>
        <p:spPr>
          <a:xfrm>
            <a:off x="5093208" y="4718304"/>
            <a:ext cx="2606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612F"/>
              </a:buClr>
              <a:buSzPts val="1500"/>
              <a:buFont typeface="Bookman Old Style"/>
              <a:buNone/>
            </a:pPr>
            <a:r>
              <a:rPr b="1" i="0" lang="en-US" sz="1500" u="none" cap="none" strike="noStrike">
                <a:solidFill>
                  <a:srgbClr val="C0612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RabbitMQ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14"/>
          <p:cNvSpPr/>
          <p:nvPr/>
        </p:nvSpPr>
        <p:spPr>
          <a:xfrm>
            <a:off x="5093208" y="5029200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9E63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E9E63"/>
                </a:solidFill>
                <a:latin typeface="Calibri"/>
                <a:ea typeface="Calibri"/>
                <a:cs typeface="Calibri"/>
                <a:sym typeface="Calibri"/>
              </a:rPr>
              <a:t>PASS</a:t>
            </a:r>
            <a:r>
              <a:rPr b="0" i="0" lang="en-US" sz="11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  62ms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4"/>
          <p:cNvSpPr/>
          <p:nvPr/>
        </p:nvSpPr>
        <p:spPr>
          <a:xfrm>
            <a:off x="4526280" y="5358384"/>
            <a:ext cx="31546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1 publish → 3 subscribers each received it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4"/>
          <p:cNvSpPr/>
          <p:nvPr/>
        </p:nvSpPr>
        <p:spPr>
          <a:xfrm>
            <a:off x="8119872" y="4572000"/>
            <a:ext cx="3520440" cy="1371600"/>
          </a:xfrm>
          <a:prstGeom prst="roundRect">
            <a:avLst>
              <a:gd fmla="val 5333" name="adj"/>
            </a:avLst>
          </a:prstGeom>
          <a:solidFill>
            <a:srgbClr val="E6F4EC"/>
          </a:solidFill>
          <a:ln cap="flat" cmpd="sng" w="15875">
            <a:solidFill>
              <a:srgbClr val="43479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14"/>
          <p:cNvSpPr/>
          <p:nvPr/>
        </p:nvSpPr>
        <p:spPr>
          <a:xfrm>
            <a:off x="8302752" y="4736592"/>
            <a:ext cx="457200" cy="457200"/>
          </a:xfrm>
          <a:prstGeom prst="ellipse">
            <a:avLst/>
          </a:prstGeom>
          <a:solidFill>
            <a:srgbClr val="1E9E6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47" name="Google Shape;347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426196" y="4860036"/>
            <a:ext cx="210312" cy="210312"/>
          </a:xfrm>
          <a:prstGeom prst="rect">
            <a:avLst/>
          </a:prstGeom>
          <a:noFill/>
          <a:ln>
            <a:noFill/>
          </a:ln>
        </p:spPr>
      </p:pic>
      <p:sp>
        <p:nvSpPr>
          <p:cNvPr id="348" name="Google Shape;348;p14"/>
          <p:cNvSpPr/>
          <p:nvPr/>
        </p:nvSpPr>
        <p:spPr>
          <a:xfrm>
            <a:off x="8869680" y="4718304"/>
            <a:ext cx="2606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3479B"/>
              </a:buClr>
              <a:buSzPts val="1500"/>
              <a:buFont typeface="Bookman Old Style"/>
              <a:buNone/>
            </a:pPr>
            <a:r>
              <a:rPr b="1" i="0" lang="en-US" sz="1500" u="none" cap="none" strike="noStrike">
                <a:solidFill>
                  <a:srgbClr val="43479B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Kafka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14"/>
          <p:cNvSpPr/>
          <p:nvPr/>
        </p:nvSpPr>
        <p:spPr>
          <a:xfrm>
            <a:off x="8869680" y="5029200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9E63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E9E63"/>
                </a:solidFill>
                <a:latin typeface="Calibri"/>
                <a:ea typeface="Calibri"/>
                <a:cs typeface="Calibri"/>
                <a:sym typeface="Calibri"/>
              </a:rPr>
              <a:t>PASS</a:t>
            </a:r>
            <a:r>
              <a:rPr b="0" i="0" lang="en-US" sz="11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  185ms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14"/>
          <p:cNvSpPr/>
          <p:nvPr/>
        </p:nvSpPr>
        <p:spPr>
          <a:xfrm>
            <a:off x="8302752" y="5358384"/>
            <a:ext cx="31546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1 publish → 3 subscribers each received it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14"/>
          <p:cNvSpPr/>
          <p:nvPr/>
        </p:nvSpPr>
        <p:spPr>
          <a:xfrm>
            <a:off x="566928" y="6053328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314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6314F"/>
                </a:solidFill>
                <a:latin typeface="Calibri"/>
                <a:ea typeface="Calibri"/>
                <a:cs typeface="Calibri"/>
                <a:sym typeface="Calibri"/>
              </a:rPr>
              <a:t>Read   </a:t>
            </a:r>
            <a:r>
              <a:rPr b="0" i="1" lang="en-US" sz="12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All pass; Kafka models fanout as one consumer group per subscriber.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15"/>
          <p:cNvSpPr/>
          <p:nvPr/>
        </p:nvSpPr>
        <p:spPr>
          <a:xfrm>
            <a:off x="548640" y="347472"/>
            <a:ext cx="841248" cy="530352"/>
          </a:xfrm>
          <a:prstGeom prst="roundRect">
            <a:avLst>
              <a:gd fmla="val 17241" name="adj"/>
            </a:avLst>
          </a:prstGeom>
          <a:solidFill>
            <a:srgbClr val="1631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8" name="Google Shape;358;p15"/>
          <p:cNvSpPr/>
          <p:nvPr/>
        </p:nvSpPr>
        <p:spPr>
          <a:xfrm>
            <a:off x="548640" y="347472"/>
            <a:ext cx="841248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Bookman Old Style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S7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15"/>
          <p:cNvSpPr/>
          <p:nvPr/>
        </p:nvSpPr>
        <p:spPr>
          <a:xfrm>
            <a:off x="1536192" y="329184"/>
            <a:ext cx="76809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314F"/>
              </a:buClr>
              <a:buSzPts val="2400"/>
              <a:buFont typeface="Bookman Old Style"/>
              <a:buNone/>
            </a:pPr>
            <a:r>
              <a:rPr b="1" i="0" lang="en-US" sz="2400" u="none" cap="none" strike="noStrike">
                <a:solidFill>
                  <a:srgbClr val="16314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Explicit ack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15"/>
          <p:cNvSpPr/>
          <p:nvPr/>
        </p:nvSpPr>
        <p:spPr>
          <a:xfrm>
            <a:off x="9692640" y="457200"/>
            <a:ext cx="1947672" cy="365760"/>
          </a:xfrm>
          <a:prstGeom prst="roundRect">
            <a:avLst>
              <a:gd fmla="val 50000" name="adj"/>
            </a:avLst>
          </a:prstGeom>
          <a:solidFill>
            <a:srgbClr val="F4F6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1" name="Google Shape;361;p15"/>
          <p:cNvSpPr/>
          <p:nvPr/>
        </p:nvSpPr>
        <p:spPr>
          <a:xfrm>
            <a:off x="9692640" y="457200"/>
            <a:ext cx="194767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6314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6314F"/>
                </a:solidFill>
                <a:latin typeface="Calibri"/>
                <a:ea typeface="Calibri"/>
                <a:cs typeface="Calibri"/>
                <a:sym typeface="Calibri"/>
              </a:rPr>
              <a:t>DELIVERY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15"/>
          <p:cNvSpPr/>
          <p:nvPr/>
        </p:nvSpPr>
        <p:spPr>
          <a:xfrm>
            <a:off x="566928" y="950976"/>
            <a:ext cx="11064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670"/>
              </a:buClr>
              <a:buSzPts val="1450"/>
              <a:buFont typeface="Calibri"/>
              <a:buNone/>
            </a:pPr>
            <a:r>
              <a:rPr b="0" i="1" lang="en-US" sz="14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The consumer controls settlement: ack removes a message, nack redelivers it, and a crash redelivers it too.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63" name="Google Shape;363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608" y="1371600"/>
            <a:ext cx="10698480" cy="2991948"/>
          </a:xfrm>
          <a:prstGeom prst="rect">
            <a:avLst/>
          </a:prstGeom>
          <a:noFill/>
          <a:ln>
            <a:noFill/>
          </a:ln>
        </p:spPr>
      </p:pic>
      <p:sp>
        <p:nvSpPr>
          <p:cNvPr id="364" name="Google Shape;364;p15"/>
          <p:cNvSpPr/>
          <p:nvPr/>
        </p:nvSpPr>
        <p:spPr>
          <a:xfrm>
            <a:off x="566928" y="4572000"/>
            <a:ext cx="3520440" cy="1371600"/>
          </a:xfrm>
          <a:prstGeom prst="roundRect">
            <a:avLst>
              <a:gd fmla="val 5333" name="adj"/>
            </a:avLst>
          </a:prstGeom>
          <a:solidFill>
            <a:srgbClr val="E6F4EC"/>
          </a:solidFill>
          <a:ln cap="flat" cmpd="sng" w="15875">
            <a:solidFill>
              <a:srgbClr val="0F6E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5" name="Google Shape;365;p15"/>
          <p:cNvSpPr/>
          <p:nvPr/>
        </p:nvSpPr>
        <p:spPr>
          <a:xfrm>
            <a:off x="749808" y="4736592"/>
            <a:ext cx="457200" cy="457200"/>
          </a:xfrm>
          <a:prstGeom prst="ellipse">
            <a:avLst/>
          </a:prstGeom>
          <a:solidFill>
            <a:srgbClr val="1E9E6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66" name="Google Shape;366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73252" y="4860036"/>
            <a:ext cx="210312" cy="210312"/>
          </a:xfrm>
          <a:prstGeom prst="rect">
            <a:avLst/>
          </a:prstGeom>
          <a:noFill/>
          <a:ln>
            <a:noFill/>
          </a:ln>
        </p:spPr>
      </p:pic>
      <p:sp>
        <p:nvSpPr>
          <p:cNvPr id="367" name="Google Shape;367;p15"/>
          <p:cNvSpPr/>
          <p:nvPr/>
        </p:nvSpPr>
        <p:spPr>
          <a:xfrm>
            <a:off x="1316736" y="4718304"/>
            <a:ext cx="2606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6E6E"/>
              </a:buClr>
              <a:buSzPts val="1500"/>
              <a:buFont typeface="Bookman Old Style"/>
              <a:buNone/>
            </a:pPr>
            <a:r>
              <a:rPr b="1" i="0" lang="en-US" sz="1500" u="none" cap="none" strike="noStrike">
                <a:solidFill>
                  <a:srgbClr val="0F6E6E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Artemis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15"/>
          <p:cNvSpPr/>
          <p:nvPr/>
        </p:nvSpPr>
        <p:spPr>
          <a:xfrm>
            <a:off x="1316736" y="5029200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9E63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E9E63"/>
                </a:solidFill>
                <a:latin typeface="Calibri"/>
                <a:ea typeface="Calibri"/>
                <a:cs typeface="Calibri"/>
                <a:sym typeface="Calibri"/>
              </a:rPr>
              <a:t>PASS</a:t>
            </a:r>
            <a:r>
              <a:rPr b="0" i="0" lang="en-US" sz="11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  721ms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15"/>
          <p:cNvSpPr/>
          <p:nvPr/>
        </p:nvSpPr>
        <p:spPr>
          <a:xfrm>
            <a:off x="749808" y="5358384"/>
            <a:ext cx="31546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ack→once; nack→redelivered (count=2); crash→redelivered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15"/>
          <p:cNvSpPr/>
          <p:nvPr/>
        </p:nvSpPr>
        <p:spPr>
          <a:xfrm>
            <a:off x="4343400" y="4572000"/>
            <a:ext cx="3520440" cy="1371600"/>
          </a:xfrm>
          <a:prstGeom prst="roundRect">
            <a:avLst>
              <a:gd fmla="val 5333" name="adj"/>
            </a:avLst>
          </a:prstGeom>
          <a:solidFill>
            <a:srgbClr val="E6F4EC"/>
          </a:solidFill>
          <a:ln cap="flat" cmpd="sng" w="15875">
            <a:solidFill>
              <a:srgbClr val="C061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1" name="Google Shape;371;p15"/>
          <p:cNvSpPr/>
          <p:nvPr/>
        </p:nvSpPr>
        <p:spPr>
          <a:xfrm>
            <a:off x="4526280" y="4736592"/>
            <a:ext cx="457200" cy="457200"/>
          </a:xfrm>
          <a:prstGeom prst="ellipse">
            <a:avLst/>
          </a:prstGeom>
          <a:solidFill>
            <a:srgbClr val="1E9E6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72" name="Google Shape;372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49724" y="4860036"/>
            <a:ext cx="210312" cy="210312"/>
          </a:xfrm>
          <a:prstGeom prst="rect">
            <a:avLst/>
          </a:prstGeom>
          <a:noFill/>
          <a:ln>
            <a:noFill/>
          </a:ln>
        </p:spPr>
      </p:pic>
      <p:sp>
        <p:nvSpPr>
          <p:cNvPr id="373" name="Google Shape;373;p15"/>
          <p:cNvSpPr/>
          <p:nvPr/>
        </p:nvSpPr>
        <p:spPr>
          <a:xfrm>
            <a:off x="5093208" y="4718304"/>
            <a:ext cx="2606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612F"/>
              </a:buClr>
              <a:buSzPts val="1500"/>
              <a:buFont typeface="Bookman Old Style"/>
              <a:buNone/>
            </a:pPr>
            <a:r>
              <a:rPr b="1" i="0" lang="en-US" sz="1500" u="none" cap="none" strike="noStrike">
                <a:solidFill>
                  <a:srgbClr val="C0612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RabbitMQ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15"/>
          <p:cNvSpPr/>
          <p:nvPr/>
        </p:nvSpPr>
        <p:spPr>
          <a:xfrm>
            <a:off x="5093208" y="5029200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9E63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E9E63"/>
                </a:solidFill>
                <a:latin typeface="Calibri"/>
                <a:ea typeface="Calibri"/>
                <a:cs typeface="Calibri"/>
                <a:sym typeface="Calibri"/>
              </a:rPr>
              <a:t>PASS</a:t>
            </a:r>
            <a:r>
              <a:rPr b="0" i="0" lang="en-US" sz="11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  774ms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5"/>
          <p:cNvSpPr/>
          <p:nvPr/>
        </p:nvSpPr>
        <p:spPr>
          <a:xfrm>
            <a:off x="4526280" y="5358384"/>
            <a:ext cx="31546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ack→once; nack→redelivered (count n/a); crash→redelivered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15"/>
          <p:cNvSpPr/>
          <p:nvPr/>
        </p:nvSpPr>
        <p:spPr>
          <a:xfrm>
            <a:off x="8119872" y="4572000"/>
            <a:ext cx="3520440" cy="1371600"/>
          </a:xfrm>
          <a:prstGeom prst="roundRect">
            <a:avLst>
              <a:gd fmla="val 5333" name="adj"/>
            </a:avLst>
          </a:prstGeom>
          <a:solidFill>
            <a:srgbClr val="E6F4EC"/>
          </a:solidFill>
          <a:ln cap="flat" cmpd="sng" w="15875">
            <a:solidFill>
              <a:srgbClr val="43479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7" name="Google Shape;377;p15"/>
          <p:cNvSpPr/>
          <p:nvPr/>
        </p:nvSpPr>
        <p:spPr>
          <a:xfrm>
            <a:off x="8302752" y="4736592"/>
            <a:ext cx="457200" cy="457200"/>
          </a:xfrm>
          <a:prstGeom prst="ellipse">
            <a:avLst/>
          </a:prstGeom>
          <a:solidFill>
            <a:srgbClr val="1E9E6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78" name="Google Shape;378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426196" y="4860036"/>
            <a:ext cx="210312" cy="2103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15"/>
          <p:cNvSpPr/>
          <p:nvPr/>
        </p:nvSpPr>
        <p:spPr>
          <a:xfrm>
            <a:off x="8869680" y="4718304"/>
            <a:ext cx="2606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3479B"/>
              </a:buClr>
              <a:buSzPts val="1500"/>
              <a:buFont typeface="Bookman Old Style"/>
              <a:buNone/>
            </a:pPr>
            <a:r>
              <a:rPr b="1" i="0" lang="en-US" sz="1500" u="none" cap="none" strike="noStrike">
                <a:solidFill>
                  <a:srgbClr val="43479B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Kafka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15"/>
          <p:cNvSpPr/>
          <p:nvPr/>
        </p:nvSpPr>
        <p:spPr>
          <a:xfrm>
            <a:off x="8869680" y="5029200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9E63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E9E63"/>
                </a:solidFill>
                <a:latin typeface="Calibri"/>
                <a:ea typeface="Calibri"/>
                <a:cs typeface="Calibri"/>
                <a:sym typeface="Calibri"/>
              </a:rPr>
              <a:t>PASS</a:t>
            </a:r>
            <a:r>
              <a:rPr b="0" i="0" lang="en-US" sz="11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  20532ms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15"/>
          <p:cNvSpPr/>
          <p:nvPr/>
        </p:nvSpPr>
        <p:spPr>
          <a:xfrm>
            <a:off x="8302752" y="5358384"/>
            <a:ext cx="31546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functionally correct; no delivery counter; ~20s rebalance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5"/>
          <p:cNvSpPr/>
          <p:nvPr/>
        </p:nvSpPr>
        <p:spPr>
          <a:xfrm>
            <a:off x="566928" y="6053328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314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6314F"/>
                </a:solidFill>
                <a:latin typeface="Calibri"/>
                <a:ea typeface="Calibri"/>
                <a:cs typeface="Calibri"/>
                <a:sym typeface="Calibri"/>
              </a:rPr>
              <a:t>Read   </a:t>
            </a:r>
            <a:r>
              <a:rPr b="0" i="1" lang="en-US" sz="12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All pass functionally; Kafka has no per-message counter and pays ~20s rebalance.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16"/>
          <p:cNvSpPr/>
          <p:nvPr/>
        </p:nvSpPr>
        <p:spPr>
          <a:xfrm>
            <a:off x="548640" y="347472"/>
            <a:ext cx="841248" cy="530352"/>
          </a:xfrm>
          <a:prstGeom prst="roundRect">
            <a:avLst>
              <a:gd fmla="val 17241" name="adj"/>
            </a:avLst>
          </a:prstGeom>
          <a:solidFill>
            <a:srgbClr val="1631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9" name="Google Shape;389;p16"/>
          <p:cNvSpPr/>
          <p:nvPr/>
        </p:nvSpPr>
        <p:spPr>
          <a:xfrm>
            <a:off x="548640" y="347472"/>
            <a:ext cx="841248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Bookman Old Style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S8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6"/>
          <p:cNvSpPr/>
          <p:nvPr/>
        </p:nvSpPr>
        <p:spPr>
          <a:xfrm>
            <a:off x="1536192" y="329184"/>
            <a:ext cx="76809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314F"/>
              </a:buClr>
              <a:buSzPts val="2400"/>
              <a:buFont typeface="Bookman Old Style"/>
              <a:buNone/>
            </a:pPr>
            <a:r>
              <a:rPr b="1" i="0" lang="en-US" sz="2400" u="none" cap="none" strike="noStrike">
                <a:solidFill>
                  <a:srgbClr val="16314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Poison → dead-letter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16"/>
          <p:cNvSpPr/>
          <p:nvPr/>
        </p:nvSpPr>
        <p:spPr>
          <a:xfrm>
            <a:off x="9692640" y="457200"/>
            <a:ext cx="1947672" cy="365760"/>
          </a:xfrm>
          <a:prstGeom prst="roundRect">
            <a:avLst>
              <a:gd fmla="val 50000" name="adj"/>
            </a:avLst>
          </a:prstGeom>
          <a:solidFill>
            <a:srgbClr val="F4F6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2" name="Google Shape;392;p16"/>
          <p:cNvSpPr/>
          <p:nvPr/>
        </p:nvSpPr>
        <p:spPr>
          <a:xfrm>
            <a:off x="9692640" y="457200"/>
            <a:ext cx="194767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6314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6314F"/>
                </a:solidFill>
                <a:latin typeface="Calibri"/>
                <a:ea typeface="Calibri"/>
                <a:cs typeface="Calibri"/>
                <a:sym typeface="Calibri"/>
              </a:rPr>
              <a:t>RELIABILITY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16"/>
          <p:cNvSpPr/>
          <p:nvPr/>
        </p:nvSpPr>
        <p:spPr>
          <a:xfrm>
            <a:off x="566928" y="950976"/>
            <a:ext cx="11064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670"/>
              </a:buClr>
              <a:buSzPts val="1450"/>
              <a:buFont typeface="Calibri"/>
              <a:buNone/>
            </a:pPr>
            <a:r>
              <a:rPr b="0" i="1" lang="en-US" sz="14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A message that always fails is retried a few times, then moved to a dead-letter queue instead of looping forever.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94" name="Google Shape;394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608" y="1371600"/>
            <a:ext cx="10698480" cy="2991948"/>
          </a:xfrm>
          <a:prstGeom prst="rect">
            <a:avLst/>
          </a:prstGeom>
          <a:noFill/>
          <a:ln>
            <a:noFill/>
          </a:ln>
        </p:spPr>
      </p:pic>
      <p:sp>
        <p:nvSpPr>
          <p:cNvPr id="395" name="Google Shape;395;p16"/>
          <p:cNvSpPr/>
          <p:nvPr/>
        </p:nvSpPr>
        <p:spPr>
          <a:xfrm>
            <a:off x="566928" y="4572000"/>
            <a:ext cx="3520440" cy="1371600"/>
          </a:xfrm>
          <a:prstGeom prst="roundRect">
            <a:avLst>
              <a:gd fmla="val 5333" name="adj"/>
            </a:avLst>
          </a:prstGeom>
          <a:solidFill>
            <a:srgbClr val="E6F4EC"/>
          </a:solidFill>
          <a:ln cap="flat" cmpd="sng" w="15875">
            <a:solidFill>
              <a:srgbClr val="0F6E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6" name="Google Shape;396;p16"/>
          <p:cNvSpPr/>
          <p:nvPr/>
        </p:nvSpPr>
        <p:spPr>
          <a:xfrm>
            <a:off x="749808" y="4736592"/>
            <a:ext cx="457200" cy="457200"/>
          </a:xfrm>
          <a:prstGeom prst="ellipse">
            <a:avLst/>
          </a:prstGeom>
          <a:solidFill>
            <a:srgbClr val="1E9E6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97" name="Google Shape;397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73252" y="4860036"/>
            <a:ext cx="210312" cy="210312"/>
          </a:xfrm>
          <a:prstGeom prst="rect">
            <a:avLst/>
          </a:prstGeom>
          <a:noFill/>
          <a:ln>
            <a:noFill/>
          </a:ln>
        </p:spPr>
      </p:pic>
      <p:sp>
        <p:nvSpPr>
          <p:cNvPr id="398" name="Google Shape;398;p16"/>
          <p:cNvSpPr/>
          <p:nvPr/>
        </p:nvSpPr>
        <p:spPr>
          <a:xfrm>
            <a:off x="1316736" y="4718304"/>
            <a:ext cx="2606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6E6E"/>
              </a:buClr>
              <a:buSzPts val="1500"/>
              <a:buFont typeface="Bookman Old Style"/>
              <a:buNone/>
            </a:pPr>
            <a:r>
              <a:rPr b="1" i="0" lang="en-US" sz="1500" u="none" cap="none" strike="noStrike">
                <a:solidFill>
                  <a:srgbClr val="0F6E6E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Artemis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16"/>
          <p:cNvSpPr/>
          <p:nvPr/>
        </p:nvSpPr>
        <p:spPr>
          <a:xfrm>
            <a:off x="1316736" y="5029200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9E63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E9E63"/>
                </a:solidFill>
                <a:latin typeface="Calibri"/>
                <a:ea typeface="Calibri"/>
                <a:cs typeface="Calibri"/>
                <a:sym typeface="Calibri"/>
              </a:rPr>
              <a:t>PASS</a:t>
            </a:r>
            <a:r>
              <a:rPr b="0" i="0" lang="en-US" sz="11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  57ms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16"/>
          <p:cNvSpPr/>
          <p:nvPr/>
        </p:nvSpPr>
        <p:spPr>
          <a:xfrm>
            <a:off x="749808" y="5358384"/>
            <a:ext cx="31546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dead-lettered after 3 attempts (final deliveryCount=3)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16"/>
          <p:cNvSpPr/>
          <p:nvPr/>
        </p:nvSpPr>
        <p:spPr>
          <a:xfrm>
            <a:off x="4343400" y="4572000"/>
            <a:ext cx="3520440" cy="1371600"/>
          </a:xfrm>
          <a:prstGeom prst="roundRect">
            <a:avLst>
              <a:gd fmla="val 5333" name="adj"/>
            </a:avLst>
          </a:prstGeom>
          <a:solidFill>
            <a:srgbClr val="E6F4EC"/>
          </a:solidFill>
          <a:ln cap="flat" cmpd="sng" w="15875">
            <a:solidFill>
              <a:srgbClr val="C061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2" name="Google Shape;402;p16"/>
          <p:cNvSpPr/>
          <p:nvPr/>
        </p:nvSpPr>
        <p:spPr>
          <a:xfrm>
            <a:off x="4526280" y="4736592"/>
            <a:ext cx="457200" cy="457200"/>
          </a:xfrm>
          <a:prstGeom prst="ellipse">
            <a:avLst/>
          </a:prstGeom>
          <a:solidFill>
            <a:srgbClr val="1E9E6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03" name="Google Shape;403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49724" y="4860036"/>
            <a:ext cx="210312" cy="210312"/>
          </a:xfrm>
          <a:prstGeom prst="rect">
            <a:avLst/>
          </a:prstGeom>
          <a:noFill/>
          <a:ln>
            <a:noFill/>
          </a:ln>
        </p:spPr>
      </p:pic>
      <p:sp>
        <p:nvSpPr>
          <p:cNvPr id="404" name="Google Shape;404;p16"/>
          <p:cNvSpPr/>
          <p:nvPr/>
        </p:nvSpPr>
        <p:spPr>
          <a:xfrm>
            <a:off x="5093208" y="4718304"/>
            <a:ext cx="2606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612F"/>
              </a:buClr>
              <a:buSzPts val="1500"/>
              <a:buFont typeface="Bookman Old Style"/>
              <a:buNone/>
            </a:pPr>
            <a:r>
              <a:rPr b="1" i="0" lang="en-US" sz="1500" u="none" cap="none" strike="noStrike">
                <a:solidFill>
                  <a:srgbClr val="C0612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RabbitMQ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16"/>
          <p:cNvSpPr/>
          <p:nvPr/>
        </p:nvSpPr>
        <p:spPr>
          <a:xfrm>
            <a:off x="5093208" y="5029200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9E63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E9E63"/>
                </a:solidFill>
                <a:latin typeface="Calibri"/>
                <a:ea typeface="Calibri"/>
                <a:cs typeface="Calibri"/>
                <a:sym typeface="Calibri"/>
              </a:rPr>
              <a:t>PASS</a:t>
            </a:r>
            <a:r>
              <a:rPr b="0" i="0" lang="en-US" sz="11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  147ms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16"/>
          <p:cNvSpPr/>
          <p:nvPr/>
        </p:nvSpPr>
        <p:spPr>
          <a:xfrm>
            <a:off x="4526280" y="5358384"/>
            <a:ext cx="31546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dead-lettered after 4 attempts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16"/>
          <p:cNvSpPr/>
          <p:nvPr/>
        </p:nvSpPr>
        <p:spPr>
          <a:xfrm>
            <a:off x="8119872" y="4572000"/>
            <a:ext cx="3520440" cy="1371600"/>
          </a:xfrm>
          <a:prstGeom prst="roundRect">
            <a:avLst>
              <a:gd fmla="val 5333" name="adj"/>
            </a:avLst>
          </a:prstGeom>
          <a:solidFill>
            <a:srgbClr val="FBF1D8"/>
          </a:solidFill>
          <a:ln cap="flat" cmpd="sng" w="15875">
            <a:solidFill>
              <a:srgbClr val="43479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8" name="Google Shape;408;p16"/>
          <p:cNvSpPr/>
          <p:nvPr/>
        </p:nvSpPr>
        <p:spPr>
          <a:xfrm>
            <a:off x="8302752" y="4736592"/>
            <a:ext cx="457200" cy="457200"/>
          </a:xfrm>
          <a:prstGeom prst="ellipse">
            <a:avLst/>
          </a:prstGeom>
          <a:solidFill>
            <a:srgbClr val="C2962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09" name="Google Shape;409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426196" y="4860036"/>
            <a:ext cx="210312" cy="210312"/>
          </a:xfrm>
          <a:prstGeom prst="rect">
            <a:avLst/>
          </a:prstGeom>
          <a:noFill/>
          <a:ln>
            <a:noFill/>
          </a:ln>
        </p:spPr>
      </p:pic>
      <p:sp>
        <p:nvSpPr>
          <p:cNvPr id="410" name="Google Shape;410;p16"/>
          <p:cNvSpPr/>
          <p:nvPr/>
        </p:nvSpPr>
        <p:spPr>
          <a:xfrm>
            <a:off x="8869680" y="4718304"/>
            <a:ext cx="2606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3479B"/>
              </a:buClr>
              <a:buSzPts val="1500"/>
              <a:buFont typeface="Bookman Old Style"/>
              <a:buNone/>
            </a:pPr>
            <a:r>
              <a:rPr b="1" i="0" lang="en-US" sz="1500" u="none" cap="none" strike="noStrike">
                <a:solidFill>
                  <a:srgbClr val="43479B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Kafka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16"/>
          <p:cNvSpPr/>
          <p:nvPr/>
        </p:nvSpPr>
        <p:spPr>
          <a:xfrm>
            <a:off x="8869680" y="5029200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962A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C2962A"/>
                </a:solidFill>
                <a:latin typeface="Calibri"/>
                <a:ea typeface="Calibri"/>
                <a:cs typeface="Calibri"/>
                <a:sym typeface="Calibri"/>
              </a:rPr>
              <a:t>UNSUPPORTED</a:t>
            </a:r>
            <a:r>
              <a:rPr b="0" i="0" lang="en-US" sz="11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  0ms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16"/>
          <p:cNvSpPr/>
          <p:nvPr/>
        </p:nvSpPr>
        <p:spPr>
          <a:xfrm>
            <a:off x="8302752" y="5358384"/>
            <a:ext cx="31546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no dead-letter support on this broker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16"/>
          <p:cNvSpPr/>
          <p:nvPr/>
        </p:nvSpPr>
        <p:spPr>
          <a:xfrm>
            <a:off x="566928" y="6053328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314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6314F"/>
                </a:solidFill>
                <a:latin typeface="Calibri"/>
                <a:ea typeface="Calibri"/>
                <a:cs typeface="Calibri"/>
                <a:sym typeface="Calibri"/>
              </a:rPr>
              <a:t>Read   </a:t>
            </a:r>
            <a:r>
              <a:rPr b="0" i="1" lang="en-US" sz="12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Kafka has no native DLQ (would need an app-managed topic).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18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p17"/>
          <p:cNvSpPr/>
          <p:nvPr/>
        </p:nvSpPr>
        <p:spPr>
          <a:xfrm>
            <a:off x="548640" y="347472"/>
            <a:ext cx="841248" cy="530352"/>
          </a:xfrm>
          <a:prstGeom prst="roundRect">
            <a:avLst>
              <a:gd fmla="val 17241" name="adj"/>
            </a:avLst>
          </a:prstGeom>
          <a:solidFill>
            <a:srgbClr val="1631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0" name="Google Shape;420;p17"/>
          <p:cNvSpPr/>
          <p:nvPr/>
        </p:nvSpPr>
        <p:spPr>
          <a:xfrm>
            <a:off x="548640" y="347472"/>
            <a:ext cx="841248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Bookman Old Style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S9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17"/>
          <p:cNvSpPr/>
          <p:nvPr/>
        </p:nvSpPr>
        <p:spPr>
          <a:xfrm>
            <a:off x="1536192" y="329184"/>
            <a:ext cx="76809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314F"/>
              </a:buClr>
              <a:buSzPts val="2400"/>
              <a:buFont typeface="Bookman Old Style"/>
              <a:buNone/>
            </a:pPr>
            <a:r>
              <a:rPr b="1" i="0" lang="en-US" sz="2400" u="none" cap="none" strike="noStrike">
                <a:solidFill>
                  <a:srgbClr val="16314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Competing consumers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17"/>
          <p:cNvSpPr/>
          <p:nvPr/>
        </p:nvSpPr>
        <p:spPr>
          <a:xfrm>
            <a:off x="9692640" y="457200"/>
            <a:ext cx="1947672" cy="365760"/>
          </a:xfrm>
          <a:prstGeom prst="roundRect">
            <a:avLst>
              <a:gd fmla="val 50000" name="adj"/>
            </a:avLst>
          </a:prstGeom>
          <a:solidFill>
            <a:srgbClr val="F4F6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3" name="Google Shape;423;p17"/>
          <p:cNvSpPr/>
          <p:nvPr/>
        </p:nvSpPr>
        <p:spPr>
          <a:xfrm>
            <a:off x="9692640" y="457200"/>
            <a:ext cx="194767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6314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6314F"/>
                </a:solidFill>
                <a:latin typeface="Calibri"/>
                <a:ea typeface="Calibri"/>
                <a:cs typeface="Calibri"/>
                <a:sym typeface="Calibri"/>
              </a:rPr>
              <a:t>SCALE-OUT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17"/>
          <p:cNvSpPr/>
          <p:nvPr/>
        </p:nvSpPr>
        <p:spPr>
          <a:xfrm>
            <a:off x="566928" y="950976"/>
            <a:ext cx="11064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670"/>
              </a:buClr>
              <a:buSzPts val="1450"/>
              <a:buFont typeface="Calibri"/>
              <a:buNone/>
            </a:pPr>
            <a:r>
              <a:rPr b="0" i="1" lang="en-US" sz="14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Two consumers share one queue and split the work fairly, with no message handled twice.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25" name="Google Shape;42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608" y="1371600"/>
            <a:ext cx="10698480" cy="2991948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7"/>
          <p:cNvSpPr/>
          <p:nvPr/>
        </p:nvSpPr>
        <p:spPr>
          <a:xfrm>
            <a:off x="566928" y="4572000"/>
            <a:ext cx="3520440" cy="1371600"/>
          </a:xfrm>
          <a:prstGeom prst="roundRect">
            <a:avLst>
              <a:gd fmla="val 5333" name="adj"/>
            </a:avLst>
          </a:prstGeom>
          <a:solidFill>
            <a:srgbClr val="E6F4EC"/>
          </a:solidFill>
          <a:ln cap="flat" cmpd="sng" w="15875">
            <a:solidFill>
              <a:srgbClr val="0F6E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7" name="Google Shape;427;p17"/>
          <p:cNvSpPr/>
          <p:nvPr/>
        </p:nvSpPr>
        <p:spPr>
          <a:xfrm>
            <a:off x="749808" y="4736592"/>
            <a:ext cx="457200" cy="457200"/>
          </a:xfrm>
          <a:prstGeom prst="ellipse">
            <a:avLst/>
          </a:prstGeom>
          <a:solidFill>
            <a:srgbClr val="1E9E6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28" name="Google Shape;42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73252" y="4860036"/>
            <a:ext cx="210312" cy="210312"/>
          </a:xfrm>
          <a:prstGeom prst="rect">
            <a:avLst/>
          </a:prstGeom>
          <a:noFill/>
          <a:ln>
            <a:noFill/>
          </a:ln>
        </p:spPr>
      </p:pic>
      <p:sp>
        <p:nvSpPr>
          <p:cNvPr id="429" name="Google Shape;429;p17"/>
          <p:cNvSpPr/>
          <p:nvPr/>
        </p:nvSpPr>
        <p:spPr>
          <a:xfrm>
            <a:off x="1316736" y="4718304"/>
            <a:ext cx="2606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6E6E"/>
              </a:buClr>
              <a:buSzPts val="1500"/>
              <a:buFont typeface="Bookman Old Style"/>
              <a:buNone/>
            </a:pPr>
            <a:r>
              <a:rPr b="1" i="0" lang="en-US" sz="1500" u="none" cap="none" strike="noStrike">
                <a:solidFill>
                  <a:srgbClr val="0F6E6E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Artemis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17"/>
          <p:cNvSpPr/>
          <p:nvPr/>
        </p:nvSpPr>
        <p:spPr>
          <a:xfrm>
            <a:off x="1316736" y="5029200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9E63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E9E63"/>
                </a:solidFill>
                <a:latin typeface="Calibri"/>
                <a:ea typeface="Calibri"/>
                <a:cs typeface="Calibri"/>
                <a:sym typeface="Calibri"/>
              </a:rPr>
              <a:t>PASS</a:t>
            </a:r>
            <a:r>
              <a:rPr b="0" i="0" lang="en-US" sz="11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  55ms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17"/>
          <p:cNvSpPr/>
          <p:nvPr/>
        </p:nvSpPr>
        <p:spPr>
          <a:xfrm>
            <a:off x="749808" y="5358384"/>
            <a:ext cx="31546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split 6/4, no dupes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17"/>
          <p:cNvSpPr/>
          <p:nvPr/>
        </p:nvSpPr>
        <p:spPr>
          <a:xfrm>
            <a:off x="4343400" y="4572000"/>
            <a:ext cx="3520440" cy="1371600"/>
          </a:xfrm>
          <a:prstGeom prst="roundRect">
            <a:avLst>
              <a:gd fmla="val 5333" name="adj"/>
            </a:avLst>
          </a:prstGeom>
          <a:solidFill>
            <a:srgbClr val="E6F4EC"/>
          </a:solidFill>
          <a:ln cap="flat" cmpd="sng" w="15875">
            <a:solidFill>
              <a:srgbClr val="C061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3" name="Google Shape;433;p17"/>
          <p:cNvSpPr/>
          <p:nvPr/>
        </p:nvSpPr>
        <p:spPr>
          <a:xfrm>
            <a:off x="4526280" y="4736592"/>
            <a:ext cx="457200" cy="457200"/>
          </a:xfrm>
          <a:prstGeom prst="ellipse">
            <a:avLst/>
          </a:prstGeom>
          <a:solidFill>
            <a:srgbClr val="1E9E6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34" name="Google Shape;434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49724" y="4860036"/>
            <a:ext cx="210312" cy="210312"/>
          </a:xfrm>
          <a:prstGeom prst="rect">
            <a:avLst/>
          </a:prstGeom>
          <a:noFill/>
          <a:ln>
            <a:noFill/>
          </a:ln>
        </p:spPr>
      </p:pic>
      <p:sp>
        <p:nvSpPr>
          <p:cNvPr id="435" name="Google Shape;435;p17"/>
          <p:cNvSpPr/>
          <p:nvPr/>
        </p:nvSpPr>
        <p:spPr>
          <a:xfrm>
            <a:off x="5093208" y="4718304"/>
            <a:ext cx="2606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612F"/>
              </a:buClr>
              <a:buSzPts val="1500"/>
              <a:buFont typeface="Bookman Old Style"/>
              <a:buNone/>
            </a:pPr>
            <a:r>
              <a:rPr b="1" i="0" lang="en-US" sz="1500" u="none" cap="none" strike="noStrike">
                <a:solidFill>
                  <a:srgbClr val="C0612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RabbitMQ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17"/>
          <p:cNvSpPr/>
          <p:nvPr/>
        </p:nvSpPr>
        <p:spPr>
          <a:xfrm>
            <a:off x="5093208" y="5029200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9E63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E9E63"/>
                </a:solidFill>
                <a:latin typeface="Calibri"/>
                <a:ea typeface="Calibri"/>
                <a:cs typeface="Calibri"/>
                <a:sym typeface="Calibri"/>
              </a:rPr>
              <a:t>PASS</a:t>
            </a:r>
            <a:r>
              <a:rPr b="0" i="0" lang="en-US" sz="11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  61ms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17"/>
          <p:cNvSpPr/>
          <p:nvPr/>
        </p:nvSpPr>
        <p:spPr>
          <a:xfrm>
            <a:off x="4526280" y="5358384"/>
            <a:ext cx="31546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split 5/5, no dupes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17"/>
          <p:cNvSpPr/>
          <p:nvPr/>
        </p:nvSpPr>
        <p:spPr>
          <a:xfrm>
            <a:off x="8119872" y="4572000"/>
            <a:ext cx="3520440" cy="1371600"/>
          </a:xfrm>
          <a:prstGeom prst="roundRect">
            <a:avLst>
              <a:gd fmla="val 5333" name="adj"/>
            </a:avLst>
          </a:prstGeom>
          <a:solidFill>
            <a:srgbClr val="E6F4EC"/>
          </a:solidFill>
          <a:ln cap="flat" cmpd="sng" w="15875">
            <a:solidFill>
              <a:srgbClr val="43479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9" name="Google Shape;439;p17"/>
          <p:cNvSpPr/>
          <p:nvPr/>
        </p:nvSpPr>
        <p:spPr>
          <a:xfrm>
            <a:off x="8302752" y="4736592"/>
            <a:ext cx="457200" cy="457200"/>
          </a:xfrm>
          <a:prstGeom prst="ellipse">
            <a:avLst/>
          </a:prstGeom>
          <a:solidFill>
            <a:srgbClr val="1E9E6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40" name="Google Shape;440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426196" y="4860036"/>
            <a:ext cx="210312" cy="210312"/>
          </a:xfrm>
          <a:prstGeom prst="rect">
            <a:avLst/>
          </a:prstGeom>
          <a:noFill/>
          <a:ln>
            <a:noFill/>
          </a:ln>
        </p:spPr>
      </p:pic>
      <p:sp>
        <p:nvSpPr>
          <p:cNvPr id="441" name="Google Shape;441;p17"/>
          <p:cNvSpPr/>
          <p:nvPr/>
        </p:nvSpPr>
        <p:spPr>
          <a:xfrm>
            <a:off x="8869680" y="4718304"/>
            <a:ext cx="2606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3479B"/>
              </a:buClr>
              <a:buSzPts val="1500"/>
              <a:buFont typeface="Bookman Old Style"/>
              <a:buNone/>
            </a:pPr>
            <a:r>
              <a:rPr b="1" i="0" lang="en-US" sz="1500" u="none" cap="none" strike="noStrike">
                <a:solidFill>
                  <a:srgbClr val="43479B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Kafka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17"/>
          <p:cNvSpPr/>
          <p:nvPr/>
        </p:nvSpPr>
        <p:spPr>
          <a:xfrm>
            <a:off x="8869680" y="5029200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9E63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E9E63"/>
                </a:solidFill>
                <a:latin typeface="Calibri"/>
                <a:ea typeface="Calibri"/>
                <a:cs typeface="Calibri"/>
                <a:sym typeface="Calibri"/>
              </a:rPr>
              <a:t>PASS</a:t>
            </a:r>
            <a:r>
              <a:rPr b="0" i="0" lang="en-US" sz="11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  5207ms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17"/>
          <p:cNvSpPr/>
          <p:nvPr/>
        </p:nvSpPr>
        <p:spPr>
          <a:xfrm>
            <a:off x="8302752" y="5358384"/>
            <a:ext cx="31546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split 7/3, no dupes (partitions across group members)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17"/>
          <p:cNvSpPr/>
          <p:nvPr/>
        </p:nvSpPr>
        <p:spPr>
          <a:xfrm>
            <a:off x="566928" y="6053328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314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6314F"/>
                </a:solidFill>
                <a:latin typeface="Calibri"/>
                <a:ea typeface="Calibri"/>
                <a:cs typeface="Calibri"/>
                <a:sym typeface="Calibri"/>
              </a:rPr>
              <a:t>Read   </a:t>
            </a:r>
            <a:r>
              <a:rPr b="0" i="1" lang="en-US" sz="12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All pass; Kafka splits by partition (less even, 7/3) and pays rebalance latency.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49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p18"/>
          <p:cNvSpPr/>
          <p:nvPr/>
        </p:nvSpPr>
        <p:spPr>
          <a:xfrm>
            <a:off x="548640" y="347472"/>
            <a:ext cx="841248" cy="530352"/>
          </a:xfrm>
          <a:prstGeom prst="roundRect">
            <a:avLst>
              <a:gd fmla="val 17241" name="adj"/>
            </a:avLst>
          </a:prstGeom>
          <a:solidFill>
            <a:srgbClr val="1631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1" name="Google Shape;451;p18"/>
          <p:cNvSpPr/>
          <p:nvPr/>
        </p:nvSpPr>
        <p:spPr>
          <a:xfrm>
            <a:off x="548640" y="347472"/>
            <a:ext cx="841248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Bookman Old Style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S10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18"/>
          <p:cNvSpPr/>
          <p:nvPr/>
        </p:nvSpPr>
        <p:spPr>
          <a:xfrm>
            <a:off x="1536192" y="329184"/>
            <a:ext cx="76809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314F"/>
              </a:buClr>
              <a:buSzPts val="2400"/>
              <a:buFont typeface="Bookman Old Style"/>
              <a:buNone/>
            </a:pPr>
            <a:r>
              <a:rPr b="1" i="0" lang="en-US" sz="2400" u="none" cap="none" strike="noStrike">
                <a:solidFill>
                  <a:srgbClr val="16314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Idempotent consumer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18"/>
          <p:cNvSpPr/>
          <p:nvPr/>
        </p:nvSpPr>
        <p:spPr>
          <a:xfrm>
            <a:off x="9692640" y="457200"/>
            <a:ext cx="1947672" cy="365760"/>
          </a:xfrm>
          <a:prstGeom prst="roundRect">
            <a:avLst>
              <a:gd fmla="val 50000" name="adj"/>
            </a:avLst>
          </a:prstGeom>
          <a:solidFill>
            <a:srgbClr val="F4F6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4" name="Google Shape;454;p18"/>
          <p:cNvSpPr/>
          <p:nvPr/>
        </p:nvSpPr>
        <p:spPr>
          <a:xfrm>
            <a:off x="9692640" y="457200"/>
            <a:ext cx="194767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6314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6314F"/>
                </a:solidFill>
                <a:latin typeface="Calibri"/>
                <a:ea typeface="Calibri"/>
                <a:cs typeface="Calibri"/>
                <a:sym typeface="Calibri"/>
              </a:rPr>
              <a:t>APP-LEVEL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p18"/>
          <p:cNvSpPr/>
          <p:nvPr/>
        </p:nvSpPr>
        <p:spPr>
          <a:xfrm>
            <a:off x="566928" y="950976"/>
            <a:ext cx="11064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670"/>
              </a:buClr>
              <a:buSzPts val="1450"/>
              <a:buFont typeface="Calibri"/>
              <a:buNone/>
            </a:pPr>
            <a:r>
              <a:rPr b="0" i="1" lang="en-US" sz="14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At-least-once delivery can deliver twice; the app must process the effect once — and stay safe (fail-open) if the dedup store is down.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56" name="Google Shape;456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608" y="1371600"/>
            <a:ext cx="10698480" cy="2991948"/>
          </a:xfrm>
          <a:prstGeom prst="rect">
            <a:avLst/>
          </a:prstGeom>
          <a:noFill/>
          <a:ln>
            <a:noFill/>
          </a:ln>
        </p:spPr>
      </p:pic>
      <p:sp>
        <p:nvSpPr>
          <p:cNvPr id="457" name="Google Shape;457;p18"/>
          <p:cNvSpPr/>
          <p:nvPr/>
        </p:nvSpPr>
        <p:spPr>
          <a:xfrm>
            <a:off x="566928" y="4572000"/>
            <a:ext cx="3520440" cy="1371600"/>
          </a:xfrm>
          <a:prstGeom prst="roundRect">
            <a:avLst>
              <a:gd fmla="val 5333" name="adj"/>
            </a:avLst>
          </a:prstGeom>
          <a:solidFill>
            <a:srgbClr val="E6F4EC"/>
          </a:solidFill>
          <a:ln cap="flat" cmpd="sng" w="15875">
            <a:solidFill>
              <a:srgbClr val="0F6E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8" name="Google Shape;458;p18"/>
          <p:cNvSpPr/>
          <p:nvPr/>
        </p:nvSpPr>
        <p:spPr>
          <a:xfrm>
            <a:off x="749808" y="4736592"/>
            <a:ext cx="457200" cy="457200"/>
          </a:xfrm>
          <a:prstGeom prst="ellipse">
            <a:avLst/>
          </a:prstGeom>
          <a:solidFill>
            <a:srgbClr val="1E9E6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59" name="Google Shape;459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73252" y="4860036"/>
            <a:ext cx="210312" cy="210312"/>
          </a:xfrm>
          <a:prstGeom prst="rect">
            <a:avLst/>
          </a:prstGeom>
          <a:noFill/>
          <a:ln>
            <a:noFill/>
          </a:ln>
        </p:spPr>
      </p:pic>
      <p:sp>
        <p:nvSpPr>
          <p:cNvPr id="460" name="Google Shape;460;p18"/>
          <p:cNvSpPr/>
          <p:nvPr/>
        </p:nvSpPr>
        <p:spPr>
          <a:xfrm>
            <a:off x="1316736" y="4718304"/>
            <a:ext cx="2606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6E6E"/>
              </a:buClr>
              <a:buSzPts val="1500"/>
              <a:buFont typeface="Bookman Old Style"/>
              <a:buNone/>
            </a:pPr>
            <a:r>
              <a:rPr b="1" i="0" lang="en-US" sz="1500" u="none" cap="none" strike="noStrike">
                <a:solidFill>
                  <a:srgbClr val="0F6E6E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Artemis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p18"/>
          <p:cNvSpPr/>
          <p:nvPr/>
        </p:nvSpPr>
        <p:spPr>
          <a:xfrm>
            <a:off x="1316736" y="5029200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9E63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E9E63"/>
                </a:solidFill>
                <a:latin typeface="Calibri"/>
                <a:ea typeface="Calibri"/>
                <a:cs typeface="Calibri"/>
                <a:sym typeface="Calibri"/>
              </a:rPr>
              <a:t>PASS</a:t>
            </a:r>
            <a:r>
              <a:rPr b="0" i="0" lang="en-US" sz="11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  493ms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18"/>
          <p:cNvSpPr/>
          <p:nvPr/>
        </p:nvSpPr>
        <p:spPr>
          <a:xfrm>
            <a:off x="749808" y="5358384"/>
            <a:ext cx="31546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no-store→×2; with-store→×1; store-down→fail-open, ×1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18"/>
          <p:cNvSpPr/>
          <p:nvPr/>
        </p:nvSpPr>
        <p:spPr>
          <a:xfrm>
            <a:off x="4343400" y="4572000"/>
            <a:ext cx="3520440" cy="1371600"/>
          </a:xfrm>
          <a:prstGeom prst="roundRect">
            <a:avLst>
              <a:gd fmla="val 5333" name="adj"/>
            </a:avLst>
          </a:prstGeom>
          <a:solidFill>
            <a:srgbClr val="E6F4EC"/>
          </a:solidFill>
          <a:ln cap="flat" cmpd="sng" w="15875">
            <a:solidFill>
              <a:srgbClr val="C061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4" name="Google Shape;464;p18"/>
          <p:cNvSpPr/>
          <p:nvPr/>
        </p:nvSpPr>
        <p:spPr>
          <a:xfrm>
            <a:off x="4526280" y="4736592"/>
            <a:ext cx="457200" cy="457200"/>
          </a:xfrm>
          <a:prstGeom prst="ellipse">
            <a:avLst/>
          </a:prstGeom>
          <a:solidFill>
            <a:srgbClr val="1E9E6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65" name="Google Shape;465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49724" y="4860036"/>
            <a:ext cx="210312" cy="210312"/>
          </a:xfrm>
          <a:prstGeom prst="rect">
            <a:avLst/>
          </a:prstGeom>
          <a:noFill/>
          <a:ln>
            <a:noFill/>
          </a:ln>
        </p:spPr>
      </p:pic>
      <p:sp>
        <p:nvSpPr>
          <p:cNvPr id="466" name="Google Shape;466;p18"/>
          <p:cNvSpPr/>
          <p:nvPr/>
        </p:nvSpPr>
        <p:spPr>
          <a:xfrm>
            <a:off x="5093208" y="4718304"/>
            <a:ext cx="2606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612F"/>
              </a:buClr>
              <a:buSzPts val="1500"/>
              <a:buFont typeface="Bookman Old Style"/>
              <a:buNone/>
            </a:pPr>
            <a:r>
              <a:rPr b="1" i="0" lang="en-US" sz="1500" u="none" cap="none" strike="noStrike">
                <a:solidFill>
                  <a:srgbClr val="C0612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RabbitMQ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18"/>
          <p:cNvSpPr/>
          <p:nvPr/>
        </p:nvSpPr>
        <p:spPr>
          <a:xfrm>
            <a:off x="5093208" y="5029200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9E63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E9E63"/>
                </a:solidFill>
                <a:latin typeface="Calibri"/>
                <a:ea typeface="Calibri"/>
                <a:cs typeface="Calibri"/>
                <a:sym typeface="Calibri"/>
              </a:rPr>
              <a:t>PASS</a:t>
            </a:r>
            <a:r>
              <a:rPr b="0" i="0" lang="en-US" sz="11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  488ms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" name="Google Shape;468;p18"/>
          <p:cNvSpPr/>
          <p:nvPr/>
        </p:nvSpPr>
        <p:spPr>
          <a:xfrm>
            <a:off x="4526280" y="5358384"/>
            <a:ext cx="31546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no-store→×2; with-store→×1; store-down→fail-open, ×1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18"/>
          <p:cNvSpPr/>
          <p:nvPr/>
        </p:nvSpPr>
        <p:spPr>
          <a:xfrm>
            <a:off x="8119872" y="4572000"/>
            <a:ext cx="3520440" cy="1371600"/>
          </a:xfrm>
          <a:prstGeom prst="roundRect">
            <a:avLst>
              <a:gd fmla="val 5333" name="adj"/>
            </a:avLst>
          </a:prstGeom>
          <a:solidFill>
            <a:srgbClr val="E6F4EC"/>
          </a:solidFill>
          <a:ln cap="flat" cmpd="sng" w="15875">
            <a:solidFill>
              <a:srgbClr val="43479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0" name="Google Shape;470;p18"/>
          <p:cNvSpPr/>
          <p:nvPr/>
        </p:nvSpPr>
        <p:spPr>
          <a:xfrm>
            <a:off x="8302752" y="4736592"/>
            <a:ext cx="457200" cy="457200"/>
          </a:xfrm>
          <a:prstGeom prst="ellipse">
            <a:avLst/>
          </a:prstGeom>
          <a:solidFill>
            <a:srgbClr val="1E9E6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71" name="Google Shape;471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426196" y="4860036"/>
            <a:ext cx="210312" cy="210312"/>
          </a:xfrm>
          <a:prstGeom prst="rect">
            <a:avLst/>
          </a:prstGeom>
          <a:noFill/>
          <a:ln>
            <a:noFill/>
          </a:ln>
        </p:spPr>
      </p:pic>
      <p:sp>
        <p:nvSpPr>
          <p:cNvPr id="472" name="Google Shape;472;p18"/>
          <p:cNvSpPr/>
          <p:nvPr/>
        </p:nvSpPr>
        <p:spPr>
          <a:xfrm>
            <a:off x="8869680" y="4718304"/>
            <a:ext cx="2606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3479B"/>
              </a:buClr>
              <a:buSzPts val="1500"/>
              <a:buFont typeface="Bookman Old Style"/>
              <a:buNone/>
            </a:pPr>
            <a:r>
              <a:rPr b="1" i="0" lang="en-US" sz="1500" u="none" cap="none" strike="noStrike">
                <a:solidFill>
                  <a:srgbClr val="43479B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Kafka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18"/>
          <p:cNvSpPr/>
          <p:nvPr/>
        </p:nvSpPr>
        <p:spPr>
          <a:xfrm>
            <a:off x="8869680" y="5029200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9E63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E9E63"/>
                </a:solidFill>
                <a:latin typeface="Calibri"/>
                <a:ea typeface="Calibri"/>
                <a:cs typeface="Calibri"/>
                <a:sym typeface="Calibri"/>
              </a:rPr>
              <a:t>PASS</a:t>
            </a:r>
            <a:r>
              <a:rPr b="0" i="0" lang="en-US" sz="11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  25499ms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" name="Google Shape;474;p18"/>
          <p:cNvSpPr/>
          <p:nvPr/>
        </p:nvSpPr>
        <p:spPr>
          <a:xfrm>
            <a:off x="8302752" y="5358384"/>
            <a:ext cx="31546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no-store→×2; with-store→×1; store-down→fail-open, ×1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p18"/>
          <p:cNvSpPr/>
          <p:nvPr/>
        </p:nvSpPr>
        <p:spPr>
          <a:xfrm>
            <a:off x="566928" y="6053328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314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6314F"/>
                </a:solidFill>
                <a:latin typeface="Calibri"/>
                <a:ea typeface="Calibri"/>
                <a:cs typeface="Calibri"/>
                <a:sym typeface="Calibri"/>
              </a:rPr>
              <a:t>Read   </a:t>
            </a:r>
            <a:r>
              <a:rPr b="0" i="1" lang="en-US" sz="12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Now passes on all three — the earlier shared fail-open bug is fixed.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80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Google Shape;481;p19"/>
          <p:cNvSpPr/>
          <p:nvPr/>
        </p:nvSpPr>
        <p:spPr>
          <a:xfrm>
            <a:off x="548640" y="347472"/>
            <a:ext cx="841248" cy="530352"/>
          </a:xfrm>
          <a:prstGeom prst="roundRect">
            <a:avLst>
              <a:gd fmla="val 17241" name="adj"/>
            </a:avLst>
          </a:prstGeom>
          <a:solidFill>
            <a:srgbClr val="1631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2" name="Google Shape;482;p19"/>
          <p:cNvSpPr/>
          <p:nvPr/>
        </p:nvSpPr>
        <p:spPr>
          <a:xfrm>
            <a:off x="548640" y="347472"/>
            <a:ext cx="841248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Bookman Old Style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S11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19"/>
          <p:cNvSpPr/>
          <p:nvPr/>
        </p:nvSpPr>
        <p:spPr>
          <a:xfrm>
            <a:off x="1536192" y="329184"/>
            <a:ext cx="76809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314F"/>
              </a:buClr>
              <a:buSzPts val="2400"/>
              <a:buFont typeface="Bookman Old Style"/>
              <a:buNone/>
            </a:pPr>
            <a:r>
              <a:rPr b="1" i="0" lang="en-US" sz="2400" u="none" cap="none" strike="noStrike">
                <a:solidFill>
                  <a:srgbClr val="16314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Retry queue (non-blocking)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" name="Google Shape;484;p19"/>
          <p:cNvSpPr/>
          <p:nvPr/>
        </p:nvSpPr>
        <p:spPr>
          <a:xfrm>
            <a:off x="9692640" y="457200"/>
            <a:ext cx="1947672" cy="365760"/>
          </a:xfrm>
          <a:prstGeom prst="roundRect">
            <a:avLst>
              <a:gd fmla="val 50000" name="adj"/>
            </a:avLst>
          </a:prstGeom>
          <a:solidFill>
            <a:srgbClr val="F4F6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5" name="Google Shape;485;p19"/>
          <p:cNvSpPr/>
          <p:nvPr/>
        </p:nvSpPr>
        <p:spPr>
          <a:xfrm>
            <a:off x="9692640" y="457200"/>
            <a:ext cx="194767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6314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6314F"/>
                </a:solidFill>
                <a:latin typeface="Calibri"/>
                <a:ea typeface="Calibri"/>
                <a:cs typeface="Calibri"/>
                <a:sym typeface="Calibri"/>
              </a:rPr>
              <a:t>RELIABILITY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19"/>
          <p:cNvSpPr/>
          <p:nvPr/>
        </p:nvSpPr>
        <p:spPr>
          <a:xfrm>
            <a:off x="566928" y="950976"/>
            <a:ext cx="11064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670"/>
              </a:buClr>
              <a:buSzPts val="1450"/>
              <a:buFont typeface="Calibri"/>
              <a:buNone/>
            </a:pPr>
            <a:r>
              <a:rPr b="0" i="1" lang="en-US" sz="14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A poison message backs off in a retry queue and is eventually dead-lettered, while healthy messages keep flowing past it.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87" name="Google Shape;487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608" y="1371600"/>
            <a:ext cx="10698480" cy="2991948"/>
          </a:xfrm>
          <a:prstGeom prst="rect">
            <a:avLst/>
          </a:prstGeom>
          <a:noFill/>
          <a:ln>
            <a:noFill/>
          </a:ln>
        </p:spPr>
      </p:pic>
      <p:sp>
        <p:nvSpPr>
          <p:cNvPr id="488" name="Google Shape;488;p19"/>
          <p:cNvSpPr/>
          <p:nvPr/>
        </p:nvSpPr>
        <p:spPr>
          <a:xfrm>
            <a:off x="566928" y="4572000"/>
            <a:ext cx="3520440" cy="1371600"/>
          </a:xfrm>
          <a:prstGeom prst="roundRect">
            <a:avLst>
              <a:gd fmla="val 5333" name="adj"/>
            </a:avLst>
          </a:prstGeom>
          <a:solidFill>
            <a:srgbClr val="E6F4EC"/>
          </a:solidFill>
          <a:ln cap="flat" cmpd="sng" w="15875">
            <a:solidFill>
              <a:srgbClr val="0F6E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9" name="Google Shape;489;p19"/>
          <p:cNvSpPr/>
          <p:nvPr/>
        </p:nvSpPr>
        <p:spPr>
          <a:xfrm>
            <a:off x="749808" y="4736592"/>
            <a:ext cx="457200" cy="457200"/>
          </a:xfrm>
          <a:prstGeom prst="ellipse">
            <a:avLst/>
          </a:prstGeom>
          <a:solidFill>
            <a:srgbClr val="1E9E6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90" name="Google Shape;490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73252" y="4860036"/>
            <a:ext cx="210312" cy="210312"/>
          </a:xfrm>
          <a:prstGeom prst="rect">
            <a:avLst/>
          </a:prstGeom>
          <a:noFill/>
          <a:ln>
            <a:noFill/>
          </a:ln>
        </p:spPr>
      </p:pic>
      <p:sp>
        <p:nvSpPr>
          <p:cNvPr id="491" name="Google Shape;491;p19"/>
          <p:cNvSpPr/>
          <p:nvPr/>
        </p:nvSpPr>
        <p:spPr>
          <a:xfrm>
            <a:off x="1316736" y="4718304"/>
            <a:ext cx="2606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6E6E"/>
              </a:buClr>
              <a:buSzPts val="1500"/>
              <a:buFont typeface="Bookman Old Style"/>
              <a:buNone/>
            </a:pPr>
            <a:r>
              <a:rPr b="1" i="0" lang="en-US" sz="1500" u="none" cap="none" strike="noStrike">
                <a:solidFill>
                  <a:srgbClr val="0F6E6E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Artemis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" name="Google Shape;492;p19"/>
          <p:cNvSpPr/>
          <p:nvPr/>
        </p:nvSpPr>
        <p:spPr>
          <a:xfrm>
            <a:off x="1316736" y="5029200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9E63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E9E63"/>
                </a:solidFill>
                <a:latin typeface="Calibri"/>
                <a:ea typeface="Calibri"/>
                <a:cs typeface="Calibri"/>
                <a:sym typeface="Calibri"/>
              </a:rPr>
              <a:t>PASS</a:t>
            </a:r>
            <a:r>
              <a:rPr b="0" i="0" lang="en-US" sz="11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  1315ms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" name="Google Shape;493;p19"/>
          <p:cNvSpPr/>
          <p:nvPr/>
        </p:nvSpPr>
        <p:spPr>
          <a:xfrm>
            <a:off x="749808" y="5358384"/>
            <a:ext cx="31546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8 ok in 23ms; poison→DLQ after 6 attempts; main unblocked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" name="Google Shape;494;p19"/>
          <p:cNvSpPr/>
          <p:nvPr/>
        </p:nvSpPr>
        <p:spPr>
          <a:xfrm>
            <a:off x="4343400" y="4572000"/>
            <a:ext cx="3520440" cy="1371600"/>
          </a:xfrm>
          <a:prstGeom prst="roundRect">
            <a:avLst>
              <a:gd fmla="val 5333" name="adj"/>
            </a:avLst>
          </a:prstGeom>
          <a:solidFill>
            <a:srgbClr val="E6F4EC"/>
          </a:solidFill>
          <a:ln cap="flat" cmpd="sng" w="15875">
            <a:solidFill>
              <a:srgbClr val="C061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5" name="Google Shape;495;p19"/>
          <p:cNvSpPr/>
          <p:nvPr/>
        </p:nvSpPr>
        <p:spPr>
          <a:xfrm>
            <a:off x="4526280" y="4736592"/>
            <a:ext cx="457200" cy="457200"/>
          </a:xfrm>
          <a:prstGeom prst="ellipse">
            <a:avLst/>
          </a:prstGeom>
          <a:solidFill>
            <a:srgbClr val="1E9E6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96" name="Google Shape;496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49724" y="4860036"/>
            <a:ext cx="210312" cy="210312"/>
          </a:xfrm>
          <a:prstGeom prst="rect">
            <a:avLst/>
          </a:prstGeom>
          <a:noFill/>
          <a:ln>
            <a:noFill/>
          </a:ln>
        </p:spPr>
      </p:pic>
      <p:sp>
        <p:nvSpPr>
          <p:cNvPr id="497" name="Google Shape;497;p19"/>
          <p:cNvSpPr/>
          <p:nvPr/>
        </p:nvSpPr>
        <p:spPr>
          <a:xfrm>
            <a:off x="5093208" y="4718304"/>
            <a:ext cx="2606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612F"/>
              </a:buClr>
              <a:buSzPts val="1500"/>
              <a:buFont typeface="Bookman Old Style"/>
              <a:buNone/>
            </a:pPr>
            <a:r>
              <a:rPr b="1" i="0" lang="en-US" sz="1500" u="none" cap="none" strike="noStrike">
                <a:solidFill>
                  <a:srgbClr val="C0612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RabbitMQ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19"/>
          <p:cNvSpPr/>
          <p:nvPr/>
        </p:nvSpPr>
        <p:spPr>
          <a:xfrm>
            <a:off x="5093208" y="5029200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9E63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E9E63"/>
                </a:solidFill>
                <a:latin typeface="Calibri"/>
                <a:ea typeface="Calibri"/>
                <a:cs typeface="Calibri"/>
                <a:sym typeface="Calibri"/>
              </a:rPr>
              <a:t>PASS</a:t>
            </a:r>
            <a:r>
              <a:rPr b="0" i="0" lang="en-US" sz="11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  1384ms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" name="Google Shape;499;p19"/>
          <p:cNvSpPr/>
          <p:nvPr/>
        </p:nvSpPr>
        <p:spPr>
          <a:xfrm>
            <a:off x="4526280" y="5358384"/>
            <a:ext cx="31546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8 ok in 72ms; poison→DLQ after 6 attempts; main unblocked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" name="Google Shape;500;p19"/>
          <p:cNvSpPr/>
          <p:nvPr/>
        </p:nvSpPr>
        <p:spPr>
          <a:xfrm>
            <a:off x="8119872" y="4572000"/>
            <a:ext cx="3520440" cy="1371600"/>
          </a:xfrm>
          <a:prstGeom prst="roundRect">
            <a:avLst>
              <a:gd fmla="val 5333" name="adj"/>
            </a:avLst>
          </a:prstGeom>
          <a:solidFill>
            <a:srgbClr val="FBF1D8"/>
          </a:solidFill>
          <a:ln cap="flat" cmpd="sng" w="15875">
            <a:solidFill>
              <a:srgbClr val="43479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1" name="Google Shape;501;p19"/>
          <p:cNvSpPr/>
          <p:nvPr/>
        </p:nvSpPr>
        <p:spPr>
          <a:xfrm>
            <a:off x="8302752" y="4736592"/>
            <a:ext cx="457200" cy="457200"/>
          </a:xfrm>
          <a:prstGeom prst="ellipse">
            <a:avLst/>
          </a:prstGeom>
          <a:solidFill>
            <a:srgbClr val="C2962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02" name="Google Shape;502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426196" y="4860036"/>
            <a:ext cx="210312" cy="210312"/>
          </a:xfrm>
          <a:prstGeom prst="rect">
            <a:avLst/>
          </a:prstGeom>
          <a:noFill/>
          <a:ln>
            <a:noFill/>
          </a:ln>
        </p:spPr>
      </p:pic>
      <p:sp>
        <p:nvSpPr>
          <p:cNvPr id="503" name="Google Shape;503;p19"/>
          <p:cNvSpPr/>
          <p:nvPr/>
        </p:nvSpPr>
        <p:spPr>
          <a:xfrm>
            <a:off x="8869680" y="4718304"/>
            <a:ext cx="2606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3479B"/>
              </a:buClr>
              <a:buSzPts val="1500"/>
              <a:buFont typeface="Bookman Old Style"/>
              <a:buNone/>
            </a:pPr>
            <a:r>
              <a:rPr b="1" i="0" lang="en-US" sz="1500" u="none" cap="none" strike="noStrike">
                <a:solidFill>
                  <a:srgbClr val="43479B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Kafka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19"/>
          <p:cNvSpPr/>
          <p:nvPr/>
        </p:nvSpPr>
        <p:spPr>
          <a:xfrm>
            <a:off x="8869680" y="5029200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962A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C2962A"/>
                </a:solidFill>
                <a:latin typeface="Calibri"/>
                <a:ea typeface="Calibri"/>
                <a:cs typeface="Calibri"/>
                <a:sym typeface="Calibri"/>
              </a:rPr>
              <a:t>UNSUPPORTED</a:t>
            </a:r>
            <a:r>
              <a:rPr b="0" i="0" lang="en-US" sz="11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  0ms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5" name="Google Shape;505;p19"/>
          <p:cNvSpPr/>
          <p:nvPr/>
        </p:nvSpPr>
        <p:spPr>
          <a:xfrm>
            <a:off x="8302752" y="5358384"/>
            <a:ext cx="31546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no dead-letter support (gated by the same gap as S8)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" name="Google Shape;506;p19"/>
          <p:cNvSpPr/>
          <p:nvPr/>
        </p:nvSpPr>
        <p:spPr>
          <a:xfrm>
            <a:off x="566928" y="6053328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314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6314F"/>
                </a:solidFill>
                <a:latin typeface="Calibri"/>
                <a:ea typeface="Calibri"/>
                <a:cs typeface="Calibri"/>
                <a:sym typeface="Calibri"/>
              </a:rPr>
              <a:t>Read   </a:t>
            </a:r>
            <a:r>
              <a:rPr b="0" i="1" lang="en-US" sz="12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Both queue brokers separate poison from healthy flow; Kafka can't (no DLQ).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1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p20"/>
          <p:cNvSpPr/>
          <p:nvPr/>
        </p:nvSpPr>
        <p:spPr>
          <a:xfrm>
            <a:off x="548640" y="347472"/>
            <a:ext cx="841248" cy="530352"/>
          </a:xfrm>
          <a:prstGeom prst="roundRect">
            <a:avLst>
              <a:gd fmla="val 17241" name="adj"/>
            </a:avLst>
          </a:prstGeom>
          <a:solidFill>
            <a:srgbClr val="1631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3" name="Google Shape;513;p20"/>
          <p:cNvSpPr/>
          <p:nvPr/>
        </p:nvSpPr>
        <p:spPr>
          <a:xfrm>
            <a:off x="548640" y="347472"/>
            <a:ext cx="841248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Bookman Old Style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S12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4" name="Google Shape;514;p20"/>
          <p:cNvSpPr/>
          <p:nvPr/>
        </p:nvSpPr>
        <p:spPr>
          <a:xfrm>
            <a:off x="1536192" y="329184"/>
            <a:ext cx="76809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314F"/>
              </a:buClr>
              <a:buSzPts val="2400"/>
              <a:buFont typeface="Bookman Old Style"/>
              <a:buNone/>
            </a:pPr>
            <a:r>
              <a:rPr b="1" i="0" lang="en-US" sz="2400" u="none" cap="none" strike="noStrike">
                <a:solidFill>
                  <a:srgbClr val="16314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Message groups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5" name="Google Shape;515;p20"/>
          <p:cNvSpPr/>
          <p:nvPr/>
        </p:nvSpPr>
        <p:spPr>
          <a:xfrm>
            <a:off x="9692640" y="457200"/>
            <a:ext cx="1947672" cy="365760"/>
          </a:xfrm>
          <a:prstGeom prst="roundRect">
            <a:avLst>
              <a:gd fmla="val 50000" name="adj"/>
            </a:avLst>
          </a:prstGeom>
          <a:solidFill>
            <a:srgbClr val="F4F6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6" name="Google Shape;516;p20"/>
          <p:cNvSpPr/>
          <p:nvPr/>
        </p:nvSpPr>
        <p:spPr>
          <a:xfrm>
            <a:off x="9692640" y="457200"/>
            <a:ext cx="194767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6314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6314F"/>
                </a:solidFill>
                <a:latin typeface="Calibri"/>
                <a:ea typeface="Calibri"/>
                <a:cs typeface="Calibri"/>
                <a:sym typeface="Calibri"/>
              </a:rPr>
              <a:t>ORDERING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" name="Google Shape;517;p20"/>
          <p:cNvSpPr/>
          <p:nvPr/>
        </p:nvSpPr>
        <p:spPr>
          <a:xfrm>
            <a:off x="566928" y="950976"/>
            <a:ext cx="11064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670"/>
              </a:buClr>
              <a:buSzPts val="1450"/>
              <a:buFont typeface="Calibri"/>
              <a:buNone/>
            </a:pPr>
            <a:r>
              <a:rPr b="0" i="1" lang="en-US" sz="14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Messages sharing a group key stay in order and all go to the same consumer, even with multiple consumers running.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518" name="Google Shape;518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608" y="1371600"/>
            <a:ext cx="10698480" cy="2991948"/>
          </a:xfrm>
          <a:prstGeom prst="rect">
            <a:avLst/>
          </a:prstGeom>
          <a:noFill/>
          <a:ln>
            <a:noFill/>
          </a:ln>
        </p:spPr>
      </p:pic>
      <p:sp>
        <p:nvSpPr>
          <p:cNvPr id="519" name="Google Shape;519;p20"/>
          <p:cNvSpPr/>
          <p:nvPr/>
        </p:nvSpPr>
        <p:spPr>
          <a:xfrm>
            <a:off x="566928" y="4572000"/>
            <a:ext cx="3520440" cy="1371600"/>
          </a:xfrm>
          <a:prstGeom prst="roundRect">
            <a:avLst>
              <a:gd fmla="val 5333" name="adj"/>
            </a:avLst>
          </a:prstGeom>
          <a:solidFill>
            <a:srgbClr val="E6F4EC"/>
          </a:solidFill>
          <a:ln cap="flat" cmpd="sng" w="15875">
            <a:solidFill>
              <a:srgbClr val="0F6E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0" name="Google Shape;520;p20"/>
          <p:cNvSpPr/>
          <p:nvPr/>
        </p:nvSpPr>
        <p:spPr>
          <a:xfrm>
            <a:off x="749808" y="4736592"/>
            <a:ext cx="457200" cy="457200"/>
          </a:xfrm>
          <a:prstGeom prst="ellipse">
            <a:avLst/>
          </a:prstGeom>
          <a:solidFill>
            <a:srgbClr val="1E9E6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21" name="Google Shape;521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73252" y="4860036"/>
            <a:ext cx="210312" cy="210312"/>
          </a:xfrm>
          <a:prstGeom prst="rect">
            <a:avLst/>
          </a:prstGeom>
          <a:noFill/>
          <a:ln>
            <a:noFill/>
          </a:ln>
        </p:spPr>
      </p:pic>
      <p:sp>
        <p:nvSpPr>
          <p:cNvPr id="522" name="Google Shape;522;p20"/>
          <p:cNvSpPr/>
          <p:nvPr/>
        </p:nvSpPr>
        <p:spPr>
          <a:xfrm>
            <a:off x="1316736" y="4718304"/>
            <a:ext cx="2606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6E6E"/>
              </a:buClr>
              <a:buSzPts val="1500"/>
              <a:buFont typeface="Bookman Old Style"/>
              <a:buNone/>
            </a:pPr>
            <a:r>
              <a:rPr b="1" i="0" lang="en-US" sz="1500" u="none" cap="none" strike="noStrike">
                <a:solidFill>
                  <a:srgbClr val="0F6E6E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Artemis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" name="Google Shape;523;p20"/>
          <p:cNvSpPr/>
          <p:nvPr/>
        </p:nvSpPr>
        <p:spPr>
          <a:xfrm>
            <a:off x="1316736" y="5029200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9E63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E9E63"/>
                </a:solidFill>
                <a:latin typeface="Calibri"/>
                <a:ea typeface="Calibri"/>
                <a:cs typeface="Calibri"/>
                <a:sym typeface="Calibri"/>
              </a:rPr>
              <a:t>PASS</a:t>
            </a:r>
            <a:r>
              <a:rPr b="0" i="0" lang="en-US" sz="11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  56ms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p20"/>
          <p:cNvSpPr/>
          <p:nvPr/>
        </p:nvSpPr>
        <p:spPr>
          <a:xfrm>
            <a:off x="749808" y="5358384"/>
            <a:ext cx="31546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per-group order preserved, pinned to one consumer (split 12/6)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20"/>
          <p:cNvSpPr/>
          <p:nvPr/>
        </p:nvSpPr>
        <p:spPr>
          <a:xfrm>
            <a:off x="4343400" y="4572000"/>
            <a:ext cx="3520440" cy="1371600"/>
          </a:xfrm>
          <a:prstGeom prst="roundRect">
            <a:avLst>
              <a:gd fmla="val 5333" name="adj"/>
            </a:avLst>
          </a:prstGeom>
          <a:solidFill>
            <a:srgbClr val="E6F4EC"/>
          </a:solidFill>
          <a:ln cap="flat" cmpd="sng" w="15875">
            <a:solidFill>
              <a:srgbClr val="C061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6" name="Google Shape;526;p20"/>
          <p:cNvSpPr/>
          <p:nvPr/>
        </p:nvSpPr>
        <p:spPr>
          <a:xfrm>
            <a:off x="4526280" y="4736592"/>
            <a:ext cx="457200" cy="457200"/>
          </a:xfrm>
          <a:prstGeom prst="ellipse">
            <a:avLst/>
          </a:prstGeom>
          <a:solidFill>
            <a:srgbClr val="1E9E6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27" name="Google Shape;527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49724" y="4860036"/>
            <a:ext cx="210312" cy="210312"/>
          </a:xfrm>
          <a:prstGeom prst="rect">
            <a:avLst/>
          </a:prstGeom>
          <a:noFill/>
          <a:ln>
            <a:noFill/>
          </a:ln>
        </p:spPr>
      </p:pic>
      <p:sp>
        <p:nvSpPr>
          <p:cNvPr id="528" name="Google Shape;528;p20"/>
          <p:cNvSpPr/>
          <p:nvPr/>
        </p:nvSpPr>
        <p:spPr>
          <a:xfrm>
            <a:off x="5093208" y="4718304"/>
            <a:ext cx="2606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612F"/>
              </a:buClr>
              <a:buSzPts val="1500"/>
              <a:buFont typeface="Bookman Old Style"/>
              <a:buNone/>
            </a:pPr>
            <a:r>
              <a:rPr b="1" i="0" lang="en-US" sz="1500" u="none" cap="none" strike="noStrike">
                <a:solidFill>
                  <a:srgbClr val="C0612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RabbitMQ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9" name="Google Shape;529;p20"/>
          <p:cNvSpPr/>
          <p:nvPr/>
        </p:nvSpPr>
        <p:spPr>
          <a:xfrm>
            <a:off x="5093208" y="5029200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9E63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E9E63"/>
                </a:solidFill>
                <a:latin typeface="Calibri"/>
                <a:ea typeface="Calibri"/>
                <a:cs typeface="Calibri"/>
                <a:sym typeface="Calibri"/>
              </a:rPr>
              <a:t>PASS</a:t>
            </a:r>
            <a:r>
              <a:rPr b="0" i="0" lang="en-US" sz="11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  139ms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p20"/>
          <p:cNvSpPr/>
          <p:nvPr/>
        </p:nvSpPr>
        <p:spPr>
          <a:xfrm>
            <a:off x="4526280" y="5358384"/>
            <a:ext cx="31546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per-group order preserved (split 0/18 — hash routed all to one)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531;p20"/>
          <p:cNvSpPr/>
          <p:nvPr/>
        </p:nvSpPr>
        <p:spPr>
          <a:xfrm>
            <a:off x="8119872" y="4572000"/>
            <a:ext cx="3520440" cy="1371600"/>
          </a:xfrm>
          <a:prstGeom prst="roundRect">
            <a:avLst>
              <a:gd fmla="val 5333" name="adj"/>
            </a:avLst>
          </a:prstGeom>
          <a:solidFill>
            <a:srgbClr val="E6F4EC"/>
          </a:solidFill>
          <a:ln cap="flat" cmpd="sng" w="15875">
            <a:solidFill>
              <a:srgbClr val="43479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2" name="Google Shape;532;p20"/>
          <p:cNvSpPr/>
          <p:nvPr/>
        </p:nvSpPr>
        <p:spPr>
          <a:xfrm>
            <a:off x="8302752" y="4736592"/>
            <a:ext cx="457200" cy="457200"/>
          </a:xfrm>
          <a:prstGeom prst="ellipse">
            <a:avLst/>
          </a:prstGeom>
          <a:solidFill>
            <a:srgbClr val="1E9E6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33" name="Google Shape;533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426196" y="4860036"/>
            <a:ext cx="210312" cy="210312"/>
          </a:xfrm>
          <a:prstGeom prst="rect">
            <a:avLst/>
          </a:prstGeom>
          <a:noFill/>
          <a:ln>
            <a:noFill/>
          </a:ln>
        </p:spPr>
      </p:pic>
      <p:sp>
        <p:nvSpPr>
          <p:cNvPr id="534" name="Google Shape;534;p20"/>
          <p:cNvSpPr/>
          <p:nvPr/>
        </p:nvSpPr>
        <p:spPr>
          <a:xfrm>
            <a:off x="8869680" y="4718304"/>
            <a:ext cx="2606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3479B"/>
              </a:buClr>
              <a:buSzPts val="1500"/>
              <a:buFont typeface="Bookman Old Style"/>
              <a:buNone/>
            </a:pPr>
            <a:r>
              <a:rPr b="1" i="0" lang="en-US" sz="1500" u="none" cap="none" strike="noStrike">
                <a:solidFill>
                  <a:srgbClr val="43479B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Kafka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" name="Google Shape;535;p20"/>
          <p:cNvSpPr/>
          <p:nvPr/>
        </p:nvSpPr>
        <p:spPr>
          <a:xfrm>
            <a:off x="8869680" y="5029200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9E63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E9E63"/>
                </a:solidFill>
                <a:latin typeface="Calibri"/>
                <a:ea typeface="Calibri"/>
                <a:cs typeface="Calibri"/>
                <a:sym typeface="Calibri"/>
              </a:rPr>
              <a:t>PASS</a:t>
            </a:r>
            <a:r>
              <a:rPr b="0" i="0" lang="en-US" sz="11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  5202ms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" name="Google Shape;536;p20"/>
          <p:cNvSpPr/>
          <p:nvPr/>
        </p:nvSpPr>
        <p:spPr>
          <a:xfrm>
            <a:off x="8302752" y="5358384"/>
            <a:ext cx="31546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per-group order preserved, pinned to one consumer (split 12/6)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" name="Google Shape;537;p20"/>
          <p:cNvSpPr/>
          <p:nvPr/>
        </p:nvSpPr>
        <p:spPr>
          <a:xfrm>
            <a:off x="566928" y="6053328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314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6314F"/>
                </a:solidFill>
                <a:latin typeface="Calibri"/>
                <a:ea typeface="Calibri"/>
                <a:cs typeface="Calibri"/>
                <a:sym typeface="Calibri"/>
              </a:rPr>
              <a:t>Read   </a:t>
            </a:r>
            <a:r>
              <a:rPr b="0" i="1" lang="en-US" sz="12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All pass — Kafka's native strength (key→partition). Rabbit's hash skewed to 0/18.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42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p21"/>
          <p:cNvSpPr/>
          <p:nvPr/>
        </p:nvSpPr>
        <p:spPr>
          <a:xfrm>
            <a:off x="548640" y="347472"/>
            <a:ext cx="841248" cy="530352"/>
          </a:xfrm>
          <a:prstGeom prst="roundRect">
            <a:avLst>
              <a:gd fmla="val 17241" name="adj"/>
            </a:avLst>
          </a:prstGeom>
          <a:solidFill>
            <a:srgbClr val="1631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4" name="Google Shape;544;p21"/>
          <p:cNvSpPr/>
          <p:nvPr/>
        </p:nvSpPr>
        <p:spPr>
          <a:xfrm>
            <a:off x="548640" y="347472"/>
            <a:ext cx="841248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Bookman Old Style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S13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5" name="Google Shape;545;p21"/>
          <p:cNvSpPr/>
          <p:nvPr/>
        </p:nvSpPr>
        <p:spPr>
          <a:xfrm>
            <a:off x="1536192" y="329184"/>
            <a:ext cx="76809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314F"/>
              </a:buClr>
              <a:buSzPts val="2400"/>
              <a:buFont typeface="Bookman Old Style"/>
              <a:buNone/>
            </a:pPr>
            <a:r>
              <a:rPr b="1" i="0" lang="en-US" sz="2400" u="none" cap="none" strike="noStrike">
                <a:solidFill>
                  <a:srgbClr val="16314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Broker-native dedup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6" name="Google Shape;546;p21"/>
          <p:cNvSpPr/>
          <p:nvPr/>
        </p:nvSpPr>
        <p:spPr>
          <a:xfrm>
            <a:off x="9692640" y="457200"/>
            <a:ext cx="1947672" cy="365760"/>
          </a:xfrm>
          <a:prstGeom prst="roundRect">
            <a:avLst>
              <a:gd fmla="val 50000" name="adj"/>
            </a:avLst>
          </a:prstGeom>
          <a:solidFill>
            <a:srgbClr val="F4F6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7" name="Google Shape;547;p21"/>
          <p:cNvSpPr/>
          <p:nvPr/>
        </p:nvSpPr>
        <p:spPr>
          <a:xfrm>
            <a:off x="9692640" y="457200"/>
            <a:ext cx="194767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6314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6314F"/>
                </a:solidFill>
                <a:latin typeface="Calibri"/>
                <a:ea typeface="Calibri"/>
                <a:cs typeface="Calibri"/>
                <a:sym typeface="Calibri"/>
              </a:rPr>
              <a:t>DEDUP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8" name="Google Shape;548;p21"/>
          <p:cNvSpPr/>
          <p:nvPr/>
        </p:nvSpPr>
        <p:spPr>
          <a:xfrm>
            <a:off x="566928" y="950976"/>
            <a:ext cx="11064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670"/>
              </a:buClr>
              <a:buSzPts val="1450"/>
              <a:buFont typeface="Calibri"/>
              <a:buNone/>
            </a:pPr>
            <a:r>
              <a:rPr b="0" i="1" lang="en-US" sz="14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The producer sends the same message twice; the broker itself drops the duplicate.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549" name="Google Shape;549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608" y="1371600"/>
            <a:ext cx="10698480" cy="2991948"/>
          </a:xfrm>
          <a:prstGeom prst="rect">
            <a:avLst/>
          </a:prstGeom>
          <a:noFill/>
          <a:ln>
            <a:noFill/>
          </a:ln>
        </p:spPr>
      </p:pic>
      <p:sp>
        <p:nvSpPr>
          <p:cNvPr id="550" name="Google Shape;550;p21"/>
          <p:cNvSpPr/>
          <p:nvPr/>
        </p:nvSpPr>
        <p:spPr>
          <a:xfrm>
            <a:off x="566928" y="4572000"/>
            <a:ext cx="3520440" cy="1371600"/>
          </a:xfrm>
          <a:prstGeom prst="roundRect">
            <a:avLst>
              <a:gd fmla="val 5333" name="adj"/>
            </a:avLst>
          </a:prstGeom>
          <a:solidFill>
            <a:srgbClr val="E6F4EC"/>
          </a:solidFill>
          <a:ln cap="flat" cmpd="sng" w="15875">
            <a:solidFill>
              <a:srgbClr val="0F6E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1" name="Google Shape;551;p21"/>
          <p:cNvSpPr/>
          <p:nvPr/>
        </p:nvSpPr>
        <p:spPr>
          <a:xfrm>
            <a:off x="749808" y="4736592"/>
            <a:ext cx="457200" cy="457200"/>
          </a:xfrm>
          <a:prstGeom prst="ellipse">
            <a:avLst/>
          </a:prstGeom>
          <a:solidFill>
            <a:srgbClr val="1E9E6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52" name="Google Shape;552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73252" y="4860036"/>
            <a:ext cx="210312" cy="210312"/>
          </a:xfrm>
          <a:prstGeom prst="rect">
            <a:avLst/>
          </a:prstGeom>
          <a:noFill/>
          <a:ln>
            <a:noFill/>
          </a:ln>
        </p:spPr>
      </p:pic>
      <p:sp>
        <p:nvSpPr>
          <p:cNvPr id="553" name="Google Shape;553;p21"/>
          <p:cNvSpPr/>
          <p:nvPr/>
        </p:nvSpPr>
        <p:spPr>
          <a:xfrm>
            <a:off x="1316736" y="4718304"/>
            <a:ext cx="2606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6E6E"/>
              </a:buClr>
              <a:buSzPts val="1500"/>
              <a:buFont typeface="Bookman Old Style"/>
              <a:buNone/>
            </a:pPr>
            <a:r>
              <a:rPr b="1" i="0" lang="en-US" sz="1500" u="none" cap="none" strike="noStrike">
                <a:solidFill>
                  <a:srgbClr val="0F6E6E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Artemis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4" name="Google Shape;554;p21"/>
          <p:cNvSpPr/>
          <p:nvPr/>
        </p:nvSpPr>
        <p:spPr>
          <a:xfrm>
            <a:off x="1316736" y="5029200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9E63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E9E63"/>
                </a:solidFill>
                <a:latin typeface="Calibri"/>
                <a:ea typeface="Calibri"/>
                <a:cs typeface="Calibri"/>
                <a:sym typeface="Calibri"/>
              </a:rPr>
              <a:t>PASS</a:t>
            </a:r>
            <a:r>
              <a:rPr b="0" i="0" lang="en-US" sz="11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  862ms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5" name="Google Shape;555;p21"/>
          <p:cNvSpPr/>
          <p:nvPr/>
        </p:nvSpPr>
        <p:spPr>
          <a:xfrm>
            <a:off x="749808" y="5358384"/>
            <a:ext cx="31546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duplicate dropped by the broker (1 delivery)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6" name="Google Shape;556;p21"/>
          <p:cNvSpPr/>
          <p:nvPr/>
        </p:nvSpPr>
        <p:spPr>
          <a:xfrm>
            <a:off x="4343400" y="4572000"/>
            <a:ext cx="3520440" cy="1371600"/>
          </a:xfrm>
          <a:prstGeom prst="roundRect">
            <a:avLst>
              <a:gd fmla="val 5333" name="adj"/>
            </a:avLst>
          </a:prstGeom>
          <a:solidFill>
            <a:srgbClr val="FBF1D8"/>
          </a:solidFill>
          <a:ln cap="flat" cmpd="sng" w="15875">
            <a:solidFill>
              <a:srgbClr val="C061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7" name="Google Shape;557;p21"/>
          <p:cNvSpPr/>
          <p:nvPr/>
        </p:nvSpPr>
        <p:spPr>
          <a:xfrm>
            <a:off x="4526280" y="4736592"/>
            <a:ext cx="457200" cy="457200"/>
          </a:xfrm>
          <a:prstGeom prst="ellipse">
            <a:avLst/>
          </a:prstGeom>
          <a:solidFill>
            <a:srgbClr val="C2962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58" name="Google Shape;558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649724" y="4860036"/>
            <a:ext cx="210312" cy="210312"/>
          </a:xfrm>
          <a:prstGeom prst="rect">
            <a:avLst/>
          </a:prstGeom>
          <a:noFill/>
          <a:ln>
            <a:noFill/>
          </a:ln>
        </p:spPr>
      </p:pic>
      <p:sp>
        <p:nvSpPr>
          <p:cNvPr id="559" name="Google Shape;559;p21"/>
          <p:cNvSpPr/>
          <p:nvPr/>
        </p:nvSpPr>
        <p:spPr>
          <a:xfrm>
            <a:off x="5093208" y="4718304"/>
            <a:ext cx="2606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612F"/>
              </a:buClr>
              <a:buSzPts val="1500"/>
              <a:buFont typeface="Bookman Old Style"/>
              <a:buNone/>
            </a:pPr>
            <a:r>
              <a:rPr b="1" i="0" lang="en-US" sz="1500" u="none" cap="none" strike="noStrike">
                <a:solidFill>
                  <a:srgbClr val="C0612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RabbitMQ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" name="Google Shape;560;p21"/>
          <p:cNvSpPr/>
          <p:nvPr/>
        </p:nvSpPr>
        <p:spPr>
          <a:xfrm>
            <a:off x="5093208" y="5029200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962A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C2962A"/>
                </a:solidFill>
                <a:latin typeface="Calibri"/>
                <a:ea typeface="Calibri"/>
                <a:cs typeface="Calibri"/>
                <a:sym typeface="Calibri"/>
              </a:rPr>
              <a:t>UNSUPPORTED</a:t>
            </a:r>
            <a:r>
              <a:rPr b="0" i="0" lang="en-US" sz="11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  0ms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1" name="Google Shape;561;p21"/>
          <p:cNvSpPr/>
          <p:nvPr/>
        </p:nvSpPr>
        <p:spPr>
          <a:xfrm>
            <a:off x="4526280" y="5358384"/>
            <a:ext cx="31546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no broker-native producer dedup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2" name="Google Shape;562;p21"/>
          <p:cNvSpPr/>
          <p:nvPr/>
        </p:nvSpPr>
        <p:spPr>
          <a:xfrm>
            <a:off x="8119872" y="4572000"/>
            <a:ext cx="3520440" cy="1371600"/>
          </a:xfrm>
          <a:prstGeom prst="roundRect">
            <a:avLst>
              <a:gd fmla="val 5333" name="adj"/>
            </a:avLst>
          </a:prstGeom>
          <a:solidFill>
            <a:srgbClr val="FBF1D8"/>
          </a:solidFill>
          <a:ln cap="flat" cmpd="sng" w="15875">
            <a:solidFill>
              <a:srgbClr val="43479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3" name="Google Shape;563;p21"/>
          <p:cNvSpPr/>
          <p:nvPr/>
        </p:nvSpPr>
        <p:spPr>
          <a:xfrm>
            <a:off x="8302752" y="4736592"/>
            <a:ext cx="457200" cy="457200"/>
          </a:xfrm>
          <a:prstGeom prst="ellipse">
            <a:avLst/>
          </a:prstGeom>
          <a:solidFill>
            <a:srgbClr val="C2962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64" name="Google Shape;564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426196" y="4860036"/>
            <a:ext cx="210312" cy="210312"/>
          </a:xfrm>
          <a:prstGeom prst="rect">
            <a:avLst/>
          </a:prstGeom>
          <a:noFill/>
          <a:ln>
            <a:noFill/>
          </a:ln>
        </p:spPr>
      </p:pic>
      <p:sp>
        <p:nvSpPr>
          <p:cNvPr id="565" name="Google Shape;565;p21"/>
          <p:cNvSpPr/>
          <p:nvPr/>
        </p:nvSpPr>
        <p:spPr>
          <a:xfrm>
            <a:off x="8869680" y="4718304"/>
            <a:ext cx="2606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3479B"/>
              </a:buClr>
              <a:buSzPts val="1500"/>
              <a:buFont typeface="Bookman Old Style"/>
              <a:buNone/>
            </a:pPr>
            <a:r>
              <a:rPr b="1" i="0" lang="en-US" sz="1500" u="none" cap="none" strike="noStrike">
                <a:solidFill>
                  <a:srgbClr val="43479B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Kafka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6" name="Google Shape;566;p21"/>
          <p:cNvSpPr/>
          <p:nvPr/>
        </p:nvSpPr>
        <p:spPr>
          <a:xfrm>
            <a:off x="8869680" y="5029200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962A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C2962A"/>
                </a:solidFill>
                <a:latin typeface="Calibri"/>
                <a:ea typeface="Calibri"/>
                <a:cs typeface="Calibri"/>
                <a:sym typeface="Calibri"/>
              </a:rPr>
              <a:t>UNSUPPORTED</a:t>
            </a:r>
            <a:r>
              <a:rPr b="0" i="0" lang="en-US" sz="11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  0ms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7" name="Google Shape;567;p21"/>
          <p:cNvSpPr/>
          <p:nvPr/>
        </p:nvSpPr>
        <p:spPr>
          <a:xfrm>
            <a:off x="8302752" y="5358384"/>
            <a:ext cx="31546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no broker-native dedup (idempotent producer ≠ message dedup)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8" name="Google Shape;568;p21"/>
          <p:cNvSpPr/>
          <p:nvPr/>
        </p:nvSpPr>
        <p:spPr>
          <a:xfrm>
            <a:off x="566928" y="6053328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314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6314F"/>
                </a:solidFill>
                <a:latin typeface="Calibri"/>
                <a:ea typeface="Calibri"/>
                <a:cs typeface="Calibri"/>
                <a:sym typeface="Calibri"/>
              </a:rPr>
              <a:t>Read   </a:t>
            </a:r>
            <a:r>
              <a:rPr b="0" i="1" lang="en-US" sz="12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Only Artemis dedups at the broker; the others need app-level idempotency (cf. S10).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73" name="Shape 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Google Shape;574;p22"/>
          <p:cNvSpPr/>
          <p:nvPr/>
        </p:nvSpPr>
        <p:spPr>
          <a:xfrm>
            <a:off x="548640" y="347472"/>
            <a:ext cx="841248" cy="530352"/>
          </a:xfrm>
          <a:prstGeom prst="roundRect">
            <a:avLst>
              <a:gd fmla="val 17241" name="adj"/>
            </a:avLst>
          </a:prstGeom>
          <a:solidFill>
            <a:srgbClr val="1631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5" name="Google Shape;575;p22"/>
          <p:cNvSpPr/>
          <p:nvPr/>
        </p:nvSpPr>
        <p:spPr>
          <a:xfrm>
            <a:off x="548640" y="347472"/>
            <a:ext cx="841248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Bookman Old Style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S14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6" name="Google Shape;576;p22"/>
          <p:cNvSpPr/>
          <p:nvPr/>
        </p:nvSpPr>
        <p:spPr>
          <a:xfrm>
            <a:off x="1536192" y="329184"/>
            <a:ext cx="76809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314F"/>
              </a:buClr>
              <a:buSzPts val="2400"/>
              <a:buFont typeface="Bookman Old Style"/>
              <a:buNone/>
            </a:pPr>
            <a:r>
              <a:rPr b="1" i="0" lang="en-US" sz="2400" u="none" cap="none" strike="noStrike">
                <a:solidFill>
                  <a:srgbClr val="16314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Priority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7" name="Google Shape;577;p22"/>
          <p:cNvSpPr/>
          <p:nvPr/>
        </p:nvSpPr>
        <p:spPr>
          <a:xfrm>
            <a:off x="9692640" y="457200"/>
            <a:ext cx="1947672" cy="365760"/>
          </a:xfrm>
          <a:prstGeom prst="roundRect">
            <a:avLst>
              <a:gd fmla="val 50000" name="adj"/>
            </a:avLst>
          </a:prstGeom>
          <a:solidFill>
            <a:srgbClr val="F4F6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8" name="Google Shape;578;p22"/>
          <p:cNvSpPr/>
          <p:nvPr/>
        </p:nvSpPr>
        <p:spPr>
          <a:xfrm>
            <a:off x="9692640" y="457200"/>
            <a:ext cx="194767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6314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6314F"/>
                </a:solidFill>
                <a:latin typeface="Calibri"/>
                <a:ea typeface="Calibri"/>
                <a:cs typeface="Calibri"/>
                <a:sym typeface="Calibri"/>
              </a:rPr>
              <a:t>PRIORITY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9" name="Google Shape;579;p22"/>
          <p:cNvSpPr/>
          <p:nvPr/>
        </p:nvSpPr>
        <p:spPr>
          <a:xfrm>
            <a:off x="566928" y="950976"/>
            <a:ext cx="11064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670"/>
              </a:buClr>
              <a:buSzPts val="1450"/>
              <a:buFont typeface="Calibri"/>
              <a:buNone/>
            </a:pPr>
            <a:r>
              <a:rPr b="0" i="1" lang="en-US" sz="14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A high-priority message sent after a backlog of low-priority ones jumps ahead and is delivered first.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580" name="Google Shape;580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608" y="1371600"/>
            <a:ext cx="10698480" cy="2991948"/>
          </a:xfrm>
          <a:prstGeom prst="rect">
            <a:avLst/>
          </a:prstGeom>
          <a:noFill/>
          <a:ln>
            <a:noFill/>
          </a:ln>
        </p:spPr>
      </p:pic>
      <p:sp>
        <p:nvSpPr>
          <p:cNvPr id="581" name="Google Shape;581;p22"/>
          <p:cNvSpPr/>
          <p:nvPr/>
        </p:nvSpPr>
        <p:spPr>
          <a:xfrm>
            <a:off x="566928" y="4572000"/>
            <a:ext cx="3520440" cy="1371600"/>
          </a:xfrm>
          <a:prstGeom prst="roundRect">
            <a:avLst>
              <a:gd fmla="val 5333" name="adj"/>
            </a:avLst>
          </a:prstGeom>
          <a:solidFill>
            <a:srgbClr val="E6F4EC"/>
          </a:solidFill>
          <a:ln cap="flat" cmpd="sng" w="15875">
            <a:solidFill>
              <a:srgbClr val="0F6E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2" name="Google Shape;582;p22"/>
          <p:cNvSpPr/>
          <p:nvPr/>
        </p:nvSpPr>
        <p:spPr>
          <a:xfrm>
            <a:off x="749808" y="4736592"/>
            <a:ext cx="457200" cy="457200"/>
          </a:xfrm>
          <a:prstGeom prst="ellipse">
            <a:avLst/>
          </a:prstGeom>
          <a:solidFill>
            <a:srgbClr val="1E9E6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83" name="Google Shape;583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73252" y="4860036"/>
            <a:ext cx="210312" cy="210312"/>
          </a:xfrm>
          <a:prstGeom prst="rect">
            <a:avLst/>
          </a:prstGeom>
          <a:noFill/>
          <a:ln>
            <a:noFill/>
          </a:ln>
        </p:spPr>
      </p:pic>
      <p:sp>
        <p:nvSpPr>
          <p:cNvPr id="584" name="Google Shape;584;p22"/>
          <p:cNvSpPr/>
          <p:nvPr/>
        </p:nvSpPr>
        <p:spPr>
          <a:xfrm>
            <a:off x="1316736" y="4718304"/>
            <a:ext cx="2606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6E6E"/>
              </a:buClr>
              <a:buSzPts val="1500"/>
              <a:buFont typeface="Bookman Old Style"/>
              <a:buNone/>
            </a:pPr>
            <a:r>
              <a:rPr b="1" i="0" lang="en-US" sz="1500" u="none" cap="none" strike="noStrike">
                <a:solidFill>
                  <a:srgbClr val="0F6E6E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Artemis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" name="Google Shape;585;p22"/>
          <p:cNvSpPr/>
          <p:nvPr/>
        </p:nvSpPr>
        <p:spPr>
          <a:xfrm>
            <a:off x="1316736" y="5029200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9E63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E9E63"/>
                </a:solidFill>
                <a:latin typeface="Calibri"/>
                <a:ea typeface="Calibri"/>
                <a:cs typeface="Calibri"/>
                <a:sym typeface="Calibri"/>
              </a:rPr>
              <a:t>PASS</a:t>
            </a:r>
            <a:r>
              <a:rPr b="0" i="0" lang="en-US" sz="11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  104ms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6" name="Google Shape;586;p22"/>
          <p:cNvSpPr/>
          <p:nvPr/>
        </p:nvSpPr>
        <p:spPr>
          <a:xfrm>
            <a:off x="749808" y="5358384"/>
            <a:ext cx="31546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priority:9 overtook the backlog (arrived at index 1)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7" name="Google Shape;587;p22"/>
          <p:cNvSpPr/>
          <p:nvPr/>
        </p:nvSpPr>
        <p:spPr>
          <a:xfrm>
            <a:off x="4343400" y="4572000"/>
            <a:ext cx="3520440" cy="1371600"/>
          </a:xfrm>
          <a:prstGeom prst="roundRect">
            <a:avLst>
              <a:gd fmla="val 5333" name="adj"/>
            </a:avLst>
          </a:prstGeom>
          <a:solidFill>
            <a:srgbClr val="E6F4EC"/>
          </a:solidFill>
          <a:ln cap="flat" cmpd="sng" w="15875">
            <a:solidFill>
              <a:srgbClr val="C061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p22"/>
          <p:cNvSpPr/>
          <p:nvPr/>
        </p:nvSpPr>
        <p:spPr>
          <a:xfrm>
            <a:off x="4526280" y="4736592"/>
            <a:ext cx="457200" cy="457200"/>
          </a:xfrm>
          <a:prstGeom prst="ellipse">
            <a:avLst/>
          </a:prstGeom>
          <a:solidFill>
            <a:srgbClr val="1E9E6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89" name="Google Shape;589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49724" y="4860036"/>
            <a:ext cx="210312" cy="210312"/>
          </a:xfrm>
          <a:prstGeom prst="rect">
            <a:avLst/>
          </a:prstGeom>
          <a:noFill/>
          <a:ln>
            <a:noFill/>
          </a:ln>
        </p:spPr>
      </p:pic>
      <p:sp>
        <p:nvSpPr>
          <p:cNvPr id="590" name="Google Shape;590;p22"/>
          <p:cNvSpPr/>
          <p:nvPr/>
        </p:nvSpPr>
        <p:spPr>
          <a:xfrm>
            <a:off x="5093208" y="4718304"/>
            <a:ext cx="2606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612F"/>
              </a:buClr>
              <a:buSzPts val="1500"/>
              <a:buFont typeface="Bookman Old Style"/>
              <a:buNone/>
            </a:pPr>
            <a:r>
              <a:rPr b="1" i="0" lang="en-US" sz="1500" u="none" cap="none" strike="noStrike">
                <a:solidFill>
                  <a:srgbClr val="C0612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RabbitMQ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1" name="Google Shape;591;p22"/>
          <p:cNvSpPr/>
          <p:nvPr/>
        </p:nvSpPr>
        <p:spPr>
          <a:xfrm>
            <a:off x="5093208" y="5029200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9E63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E9E63"/>
                </a:solidFill>
                <a:latin typeface="Calibri"/>
                <a:ea typeface="Calibri"/>
                <a:cs typeface="Calibri"/>
                <a:sym typeface="Calibri"/>
              </a:rPr>
              <a:t>PASS</a:t>
            </a:r>
            <a:r>
              <a:rPr b="0" i="0" lang="en-US" sz="11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  621ms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2" name="Google Shape;592;p22"/>
          <p:cNvSpPr/>
          <p:nvPr/>
        </p:nvSpPr>
        <p:spPr>
          <a:xfrm>
            <a:off x="4526280" y="5358384"/>
            <a:ext cx="31546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priority:9 overtook the backlog (arrived at index 1)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3" name="Google Shape;593;p22"/>
          <p:cNvSpPr/>
          <p:nvPr/>
        </p:nvSpPr>
        <p:spPr>
          <a:xfrm>
            <a:off x="8119872" y="4572000"/>
            <a:ext cx="3520440" cy="1371600"/>
          </a:xfrm>
          <a:prstGeom prst="roundRect">
            <a:avLst>
              <a:gd fmla="val 5333" name="adj"/>
            </a:avLst>
          </a:prstGeom>
          <a:solidFill>
            <a:srgbClr val="F7E2DE"/>
          </a:solidFill>
          <a:ln cap="flat" cmpd="sng" w="15875">
            <a:solidFill>
              <a:srgbClr val="43479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4" name="Google Shape;594;p22"/>
          <p:cNvSpPr/>
          <p:nvPr/>
        </p:nvSpPr>
        <p:spPr>
          <a:xfrm>
            <a:off x="8302752" y="4736592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95" name="Google Shape;595;p2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426196" y="4860036"/>
            <a:ext cx="210312" cy="210312"/>
          </a:xfrm>
          <a:prstGeom prst="rect">
            <a:avLst/>
          </a:prstGeom>
          <a:noFill/>
          <a:ln>
            <a:noFill/>
          </a:ln>
        </p:spPr>
      </p:pic>
      <p:sp>
        <p:nvSpPr>
          <p:cNvPr id="596" name="Google Shape;596;p22"/>
          <p:cNvSpPr/>
          <p:nvPr/>
        </p:nvSpPr>
        <p:spPr>
          <a:xfrm>
            <a:off x="8869680" y="4718304"/>
            <a:ext cx="2606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3479B"/>
              </a:buClr>
              <a:buSzPts val="1500"/>
              <a:buFont typeface="Bookman Old Style"/>
              <a:buNone/>
            </a:pPr>
            <a:r>
              <a:rPr b="1" i="0" lang="en-US" sz="1500" u="none" cap="none" strike="noStrike">
                <a:solidFill>
                  <a:srgbClr val="43479B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Kafka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" name="Google Shape;597;p22"/>
          <p:cNvSpPr/>
          <p:nvPr/>
        </p:nvSpPr>
        <p:spPr>
          <a:xfrm>
            <a:off x="8869680" y="5029200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FAIL</a:t>
            </a:r>
            <a:r>
              <a:rPr b="0" i="0" lang="en-US" sz="11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  696ms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8" name="Google Shape;598;p22"/>
          <p:cNvSpPr/>
          <p:nvPr/>
        </p:nvSpPr>
        <p:spPr>
          <a:xfrm>
            <a:off x="8302752" y="5358384"/>
            <a:ext cx="31546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high-priority arrived at index 5 — no priority concept; FIFO per partition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" name="Google Shape;599;p22"/>
          <p:cNvSpPr/>
          <p:nvPr/>
        </p:nvSpPr>
        <p:spPr>
          <a:xfrm>
            <a:off x="566928" y="6053328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314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6314F"/>
                </a:solidFill>
                <a:latin typeface="Calibri"/>
                <a:ea typeface="Calibri"/>
                <a:cs typeface="Calibri"/>
                <a:sym typeface="Calibri"/>
              </a:rPr>
              <a:t>Read   </a:t>
            </a:r>
            <a:r>
              <a:rPr b="0" i="1" lang="en-US" sz="12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Kafka has no priority — order is partition-offset order, full stop.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04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p23"/>
          <p:cNvSpPr/>
          <p:nvPr/>
        </p:nvSpPr>
        <p:spPr>
          <a:xfrm>
            <a:off x="548640" y="347472"/>
            <a:ext cx="841248" cy="530352"/>
          </a:xfrm>
          <a:prstGeom prst="roundRect">
            <a:avLst>
              <a:gd fmla="val 17241" name="adj"/>
            </a:avLst>
          </a:prstGeom>
          <a:solidFill>
            <a:srgbClr val="1631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6" name="Google Shape;606;p23"/>
          <p:cNvSpPr/>
          <p:nvPr/>
        </p:nvSpPr>
        <p:spPr>
          <a:xfrm>
            <a:off x="548640" y="347472"/>
            <a:ext cx="841248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Bookman Old Style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S15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7" name="Google Shape;607;p23"/>
          <p:cNvSpPr/>
          <p:nvPr/>
        </p:nvSpPr>
        <p:spPr>
          <a:xfrm>
            <a:off x="1536192" y="329184"/>
            <a:ext cx="76809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314F"/>
              </a:buClr>
              <a:buSzPts val="2400"/>
              <a:buFont typeface="Bookman Old Style"/>
              <a:buNone/>
            </a:pPr>
            <a:r>
              <a:rPr b="1" i="0" lang="en-US" sz="2400" u="none" cap="none" strike="noStrike">
                <a:solidFill>
                  <a:srgbClr val="16314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Request/reply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" name="Google Shape;608;p23"/>
          <p:cNvSpPr/>
          <p:nvPr/>
        </p:nvSpPr>
        <p:spPr>
          <a:xfrm>
            <a:off x="9692640" y="457200"/>
            <a:ext cx="1947672" cy="365760"/>
          </a:xfrm>
          <a:prstGeom prst="roundRect">
            <a:avLst>
              <a:gd fmla="val 50000" name="adj"/>
            </a:avLst>
          </a:prstGeom>
          <a:solidFill>
            <a:srgbClr val="F4F6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9" name="Google Shape;609;p23"/>
          <p:cNvSpPr/>
          <p:nvPr/>
        </p:nvSpPr>
        <p:spPr>
          <a:xfrm>
            <a:off x="9692640" y="457200"/>
            <a:ext cx="194767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6314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6314F"/>
                </a:solidFill>
                <a:latin typeface="Calibri"/>
                <a:ea typeface="Calibri"/>
                <a:cs typeface="Calibri"/>
                <a:sym typeface="Calibri"/>
              </a:rPr>
              <a:t>RPC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0" name="Google Shape;610;p23"/>
          <p:cNvSpPr/>
          <p:nvPr/>
        </p:nvSpPr>
        <p:spPr>
          <a:xfrm>
            <a:off x="566928" y="950976"/>
            <a:ext cx="11064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670"/>
              </a:buClr>
              <a:buSzPts val="1450"/>
              <a:buFont typeface="Calibri"/>
              <a:buNone/>
            </a:pPr>
            <a:r>
              <a:rPr b="0" i="1" lang="en-US" sz="14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Request/reply: the responder echoes back to a reply address, matched by a correlation id.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611" name="Google Shape;611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608" y="1371600"/>
            <a:ext cx="10698480" cy="2991948"/>
          </a:xfrm>
          <a:prstGeom prst="rect">
            <a:avLst/>
          </a:prstGeom>
          <a:noFill/>
          <a:ln>
            <a:noFill/>
          </a:ln>
        </p:spPr>
      </p:pic>
      <p:sp>
        <p:nvSpPr>
          <p:cNvPr id="612" name="Google Shape;612;p23"/>
          <p:cNvSpPr/>
          <p:nvPr/>
        </p:nvSpPr>
        <p:spPr>
          <a:xfrm>
            <a:off x="566928" y="4572000"/>
            <a:ext cx="3520440" cy="1371600"/>
          </a:xfrm>
          <a:prstGeom prst="roundRect">
            <a:avLst>
              <a:gd fmla="val 5333" name="adj"/>
            </a:avLst>
          </a:prstGeom>
          <a:solidFill>
            <a:srgbClr val="E6F4EC"/>
          </a:solidFill>
          <a:ln cap="flat" cmpd="sng" w="15875">
            <a:solidFill>
              <a:srgbClr val="0F6E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3" name="Google Shape;613;p23"/>
          <p:cNvSpPr/>
          <p:nvPr/>
        </p:nvSpPr>
        <p:spPr>
          <a:xfrm>
            <a:off x="749808" y="4736592"/>
            <a:ext cx="457200" cy="457200"/>
          </a:xfrm>
          <a:prstGeom prst="ellipse">
            <a:avLst/>
          </a:prstGeom>
          <a:solidFill>
            <a:srgbClr val="1E9E6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614" name="Google Shape;614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73252" y="4860036"/>
            <a:ext cx="210312" cy="210312"/>
          </a:xfrm>
          <a:prstGeom prst="rect">
            <a:avLst/>
          </a:prstGeom>
          <a:noFill/>
          <a:ln>
            <a:noFill/>
          </a:ln>
        </p:spPr>
      </p:pic>
      <p:sp>
        <p:nvSpPr>
          <p:cNvPr id="615" name="Google Shape;615;p23"/>
          <p:cNvSpPr/>
          <p:nvPr/>
        </p:nvSpPr>
        <p:spPr>
          <a:xfrm>
            <a:off x="1316736" y="4718304"/>
            <a:ext cx="2606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6E6E"/>
              </a:buClr>
              <a:buSzPts val="1500"/>
              <a:buFont typeface="Bookman Old Style"/>
              <a:buNone/>
            </a:pPr>
            <a:r>
              <a:rPr b="1" i="0" lang="en-US" sz="1500" u="none" cap="none" strike="noStrike">
                <a:solidFill>
                  <a:srgbClr val="0F6E6E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Artemis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" name="Google Shape;616;p23"/>
          <p:cNvSpPr/>
          <p:nvPr/>
        </p:nvSpPr>
        <p:spPr>
          <a:xfrm>
            <a:off x="1316736" y="5029200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9E63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E9E63"/>
                </a:solidFill>
                <a:latin typeface="Calibri"/>
                <a:ea typeface="Calibri"/>
                <a:cs typeface="Calibri"/>
                <a:sym typeface="Calibri"/>
              </a:rPr>
              <a:t>PASS</a:t>
            </a:r>
            <a:r>
              <a:rPr b="0" i="0" lang="en-US" sz="11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  55ms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" name="Google Shape;617;p23"/>
          <p:cNvSpPr/>
          <p:nvPr/>
        </p:nvSpPr>
        <p:spPr>
          <a:xfrm>
            <a:off x="749808" y="5358384"/>
            <a:ext cx="31546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correlated reply 'echo:ping' (correlationId matched)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" name="Google Shape;618;p23"/>
          <p:cNvSpPr/>
          <p:nvPr/>
        </p:nvSpPr>
        <p:spPr>
          <a:xfrm>
            <a:off x="4343400" y="4572000"/>
            <a:ext cx="3520440" cy="1371600"/>
          </a:xfrm>
          <a:prstGeom prst="roundRect">
            <a:avLst>
              <a:gd fmla="val 5333" name="adj"/>
            </a:avLst>
          </a:prstGeom>
          <a:solidFill>
            <a:srgbClr val="E6F4EC"/>
          </a:solidFill>
          <a:ln cap="flat" cmpd="sng" w="15875">
            <a:solidFill>
              <a:srgbClr val="C061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9" name="Google Shape;619;p23"/>
          <p:cNvSpPr/>
          <p:nvPr/>
        </p:nvSpPr>
        <p:spPr>
          <a:xfrm>
            <a:off x="4526280" y="4736592"/>
            <a:ext cx="457200" cy="457200"/>
          </a:xfrm>
          <a:prstGeom prst="ellipse">
            <a:avLst/>
          </a:prstGeom>
          <a:solidFill>
            <a:srgbClr val="1E9E6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620" name="Google Shape;620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49724" y="4860036"/>
            <a:ext cx="210312" cy="210312"/>
          </a:xfrm>
          <a:prstGeom prst="rect">
            <a:avLst/>
          </a:prstGeom>
          <a:noFill/>
          <a:ln>
            <a:noFill/>
          </a:ln>
        </p:spPr>
      </p:pic>
      <p:sp>
        <p:nvSpPr>
          <p:cNvPr id="621" name="Google Shape;621;p23"/>
          <p:cNvSpPr/>
          <p:nvPr/>
        </p:nvSpPr>
        <p:spPr>
          <a:xfrm>
            <a:off x="5093208" y="4718304"/>
            <a:ext cx="2606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612F"/>
              </a:buClr>
              <a:buSzPts val="1500"/>
              <a:buFont typeface="Bookman Old Style"/>
              <a:buNone/>
            </a:pPr>
            <a:r>
              <a:rPr b="1" i="0" lang="en-US" sz="1500" u="none" cap="none" strike="noStrike">
                <a:solidFill>
                  <a:srgbClr val="C0612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RabbitMQ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2" name="Google Shape;622;p23"/>
          <p:cNvSpPr/>
          <p:nvPr/>
        </p:nvSpPr>
        <p:spPr>
          <a:xfrm>
            <a:off x="5093208" y="5029200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9E63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E9E63"/>
                </a:solidFill>
                <a:latin typeface="Calibri"/>
                <a:ea typeface="Calibri"/>
                <a:cs typeface="Calibri"/>
                <a:sym typeface="Calibri"/>
              </a:rPr>
              <a:t>PASS</a:t>
            </a:r>
            <a:r>
              <a:rPr b="0" i="0" lang="en-US" sz="11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  75ms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3" name="Google Shape;623;p23"/>
          <p:cNvSpPr/>
          <p:nvPr/>
        </p:nvSpPr>
        <p:spPr>
          <a:xfrm>
            <a:off x="4526280" y="5358384"/>
            <a:ext cx="31546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correlated reply 'echo:ping' (correlationId matched)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4" name="Google Shape;624;p23"/>
          <p:cNvSpPr/>
          <p:nvPr/>
        </p:nvSpPr>
        <p:spPr>
          <a:xfrm>
            <a:off x="8119872" y="4572000"/>
            <a:ext cx="3520440" cy="1371600"/>
          </a:xfrm>
          <a:prstGeom prst="roundRect">
            <a:avLst>
              <a:gd fmla="val 5333" name="adj"/>
            </a:avLst>
          </a:prstGeom>
          <a:solidFill>
            <a:srgbClr val="E6F4EC"/>
          </a:solidFill>
          <a:ln cap="flat" cmpd="sng" w="15875">
            <a:solidFill>
              <a:srgbClr val="43479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5" name="Google Shape;625;p23"/>
          <p:cNvSpPr/>
          <p:nvPr/>
        </p:nvSpPr>
        <p:spPr>
          <a:xfrm>
            <a:off x="8302752" y="4736592"/>
            <a:ext cx="457200" cy="457200"/>
          </a:xfrm>
          <a:prstGeom prst="ellipse">
            <a:avLst/>
          </a:prstGeom>
          <a:solidFill>
            <a:srgbClr val="1E9E6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626" name="Google Shape;626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426196" y="4860036"/>
            <a:ext cx="210312" cy="210312"/>
          </a:xfrm>
          <a:prstGeom prst="rect">
            <a:avLst/>
          </a:prstGeom>
          <a:noFill/>
          <a:ln>
            <a:noFill/>
          </a:ln>
        </p:spPr>
      </p:pic>
      <p:sp>
        <p:nvSpPr>
          <p:cNvPr id="627" name="Google Shape;627;p23"/>
          <p:cNvSpPr/>
          <p:nvPr/>
        </p:nvSpPr>
        <p:spPr>
          <a:xfrm>
            <a:off x="8869680" y="4718304"/>
            <a:ext cx="2606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3479B"/>
              </a:buClr>
              <a:buSzPts val="1500"/>
              <a:buFont typeface="Bookman Old Style"/>
              <a:buNone/>
            </a:pPr>
            <a:r>
              <a:rPr b="1" i="0" lang="en-US" sz="1500" u="none" cap="none" strike="noStrike">
                <a:solidFill>
                  <a:srgbClr val="43479B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Kafka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8" name="Google Shape;628;p23"/>
          <p:cNvSpPr/>
          <p:nvPr/>
        </p:nvSpPr>
        <p:spPr>
          <a:xfrm>
            <a:off x="8869680" y="5029200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9E63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E9E63"/>
                </a:solidFill>
                <a:latin typeface="Calibri"/>
                <a:ea typeface="Calibri"/>
                <a:cs typeface="Calibri"/>
                <a:sym typeface="Calibri"/>
              </a:rPr>
              <a:t>PASS</a:t>
            </a:r>
            <a:r>
              <a:rPr b="0" i="0" lang="en-US" sz="11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  317ms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9" name="Google Shape;629;p23"/>
          <p:cNvSpPr/>
          <p:nvPr/>
        </p:nvSpPr>
        <p:spPr>
          <a:xfrm>
            <a:off x="8302752" y="5358384"/>
            <a:ext cx="31546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correlated reply 'echo:ping' (correlationId via headers)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0" name="Google Shape;630;p23"/>
          <p:cNvSpPr/>
          <p:nvPr/>
        </p:nvSpPr>
        <p:spPr>
          <a:xfrm>
            <a:off x="566928" y="6053328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314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6314F"/>
                </a:solidFill>
                <a:latin typeface="Calibri"/>
                <a:ea typeface="Calibri"/>
                <a:cs typeface="Calibri"/>
                <a:sym typeface="Calibri"/>
              </a:rPr>
              <a:t>Read   </a:t>
            </a:r>
            <a:r>
              <a:rPr b="0" i="1" lang="en-US" sz="12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All pass — only needs replyTo + correlationId, which all three carry.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35" name="Shape 6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Google Shape;636;p24"/>
          <p:cNvSpPr/>
          <p:nvPr/>
        </p:nvSpPr>
        <p:spPr>
          <a:xfrm>
            <a:off x="548640" y="347472"/>
            <a:ext cx="841248" cy="530352"/>
          </a:xfrm>
          <a:prstGeom prst="roundRect">
            <a:avLst>
              <a:gd fmla="val 17241" name="adj"/>
            </a:avLst>
          </a:prstGeom>
          <a:solidFill>
            <a:srgbClr val="1631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7" name="Google Shape;637;p24"/>
          <p:cNvSpPr/>
          <p:nvPr/>
        </p:nvSpPr>
        <p:spPr>
          <a:xfrm>
            <a:off x="548640" y="347472"/>
            <a:ext cx="841248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Bookman Old Style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S16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8" name="Google Shape;638;p24"/>
          <p:cNvSpPr/>
          <p:nvPr/>
        </p:nvSpPr>
        <p:spPr>
          <a:xfrm>
            <a:off x="1536192" y="329184"/>
            <a:ext cx="76809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314F"/>
              </a:buClr>
              <a:buSzPts val="2400"/>
              <a:buFont typeface="Bookman Old Style"/>
              <a:buNone/>
            </a:pPr>
            <a:r>
              <a:rPr b="1" i="0" lang="en-US" sz="2400" u="none" cap="none" strike="noStrike">
                <a:solidFill>
                  <a:srgbClr val="16314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TTL → expiry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9" name="Google Shape;639;p24"/>
          <p:cNvSpPr/>
          <p:nvPr/>
        </p:nvSpPr>
        <p:spPr>
          <a:xfrm>
            <a:off x="9692640" y="457200"/>
            <a:ext cx="1947672" cy="365760"/>
          </a:xfrm>
          <a:prstGeom prst="roundRect">
            <a:avLst>
              <a:gd fmla="val 50000" name="adj"/>
            </a:avLst>
          </a:prstGeom>
          <a:solidFill>
            <a:srgbClr val="F4F6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0" name="Google Shape;640;p24"/>
          <p:cNvSpPr/>
          <p:nvPr/>
        </p:nvSpPr>
        <p:spPr>
          <a:xfrm>
            <a:off x="9692640" y="457200"/>
            <a:ext cx="194767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6314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6314F"/>
                </a:solidFill>
                <a:latin typeface="Calibri"/>
                <a:ea typeface="Calibri"/>
                <a:cs typeface="Calibri"/>
                <a:sym typeface="Calibri"/>
              </a:rPr>
              <a:t>TTL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1" name="Google Shape;641;p24"/>
          <p:cNvSpPr/>
          <p:nvPr/>
        </p:nvSpPr>
        <p:spPr>
          <a:xfrm>
            <a:off x="566928" y="950976"/>
            <a:ext cx="11064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670"/>
              </a:buClr>
              <a:buSzPts val="1450"/>
              <a:buFont typeface="Calibri"/>
              <a:buNone/>
            </a:pPr>
            <a:r>
              <a:rPr b="0" i="1" lang="en-US" sz="14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An unconsumed message with a short time-to-live expires and is routed to an expiry address.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642" name="Google Shape;642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608" y="1371600"/>
            <a:ext cx="10698480" cy="2991948"/>
          </a:xfrm>
          <a:prstGeom prst="rect">
            <a:avLst/>
          </a:prstGeom>
          <a:noFill/>
          <a:ln>
            <a:noFill/>
          </a:ln>
        </p:spPr>
      </p:pic>
      <p:sp>
        <p:nvSpPr>
          <p:cNvPr id="643" name="Google Shape;643;p24"/>
          <p:cNvSpPr/>
          <p:nvPr/>
        </p:nvSpPr>
        <p:spPr>
          <a:xfrm>
            <a:off x="566928" y="4572000"/>
            <a:ext cx="3520440" cy="1371600"/>
          </a:xfrm>
          <a:prstGeom prst="roundRect">
            <a:avLst>
              <a:gd fmla="val 5333" name="adj"/>
            </a:avLst>
          </a:prstGeom>
          <a:solidFill>
            <a:srgbClr val="E6F4EC"/>
          </a:solidFill>
          <a:ln cap="flat" cmpd="sng" w="15875">
            <a:solidFill>
              <a:srgbClr val="0F6E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4" name="Google Shape;644;p24"/>
          <p:cNvSpPr/>
          <p:nvPr/>
        </p:nvSpPr>
        <p:spPr>
          <a:xfrm>
            <a:off x="749808" y="4736592"/>
            <a:ext cx="457200" cy="457200"/>
          </a:xfrm>
          <a:prstGeom prst="ellipse">
            <a:avLst/>
          </a:prstGeom>
          <a:solidFill>
            <a:srgbClr val="1E9E6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645" name="Google Shape;645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73252" y="4860036"/>
            <a:ext cx="210312" cy="210312"/>
          </a:xfrm>
          <a:prstGeom prst="rect">
            <a:avLst/>
          </a:prstGeom>
          <a:noFill/>
          <a:ln>
            <a:noFill/>
          </a:ln>
        </p:spPr>
      </p:pic>
      <p:sp>
        <p:nvSpPr>
          <p:cNvPr id="646" name="Google Shape;646;p24"/>
          <p:cNvSpPr/>
          <p:nvPr/>
        </p:nvSpPr>
        <p:spPr>
          <a:xfrm>
            <a:off x="1316736" y="4718304"/>
            <a:ext cx="2606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6E6E"/>
              </a:buClr>
              <a:buSzPts val="1500"/>
              <a:buFont typeface="Bookman Old Style"/>
              <a:buNone/>
            </a:pPr>
            <a:r>
              <a:rPr b="1" i="0" lang="en-US" sz="1500" u="none" cap="none" strike="noStrike">
                <a:solidFill>
                  <a:srgbClr val="0F6E6E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Artemis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7" name="Google Shape;647;p24"/>
          <p:cNvSpPr/>
          <p:nvPr/>
        </p:nvSpPr>
        <p:spPr>
          <a:xfrm>
            <a:off x="1316736" y="5029200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9E63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E9E63"/>
                </a:solidFill>
                <a:latin typeface="Calibri"/>
                <a:ea typeface="Calibri"/>
                <a:cs typeface="Calibri"/>
                <a:sym typeface="Calibri"/>
              </a:rPr>
              <a:t>PASS</a:t>
            </a:r>
            <a:r>
              <a:rPr b="0" i="0" lang="en-US" sz="11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  658ms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8" name="Google Shape;648;p24"/>
          <p:cNvSpPr/>
          <p:nvPr/>
        </p:nvSpPr>
        <p:spPr>
          <a:xfrm>
            <a:off x="749808" y="5358384"/>
            <a:ext cx="31546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expired message landed on the expiry address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9" name="Google Shape;649;p24"/>
          <p:cNvSpPr/>
          <p:nvPr/>
        </p:nvSpPr>
        <p:spPr>
          <a:xfrm>
            <a:off x="4343400" y="4572000"/>
            <a:ext cx="3520440" cy="1371600"/>
          </a:xfrm>
          <a:prstGeom prst="roundRect">
            <a:avLst>
              <a:gd fmla="val 5333" name="adj"/>
            </a:avLst>
          </a:prstGeom>
          <a:solidFill>
            <a:srgbClr val="E6F4EC"/>
          </a:solidFill>
          <a:ln cap="flat" cmpd="sng" w="15875">
            <a:solidFill>
              <a:srgbClr val="C061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0" name="Google Shape;650;p24"/>
          <p:cNvSpPr/>
          <p:nvPr/>
        </p:nvSpPr>
        <p:spPr>
          <a:xfrm>
            <a:off x="4526280" y="4736592"/>
            <a:ext cx="457200" cy="457200"/>
          </a:xfrm>
          <a:prstGeom prst="ellipse">
            <a:avLst/>
          </a:prstGeom>
          <a:solidFill>
            <a:srgbClr val="1E9E6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651" name="Google Shape;651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49724" y="4860036"/>
            <a:ext cx="210312" cy="210312"/>
          </a:xfrm>
          <a:prstGeom prst="rect">
            <a:avLst/>
          </a:prstGeom>
          <a:noFill/>
          <a:ln>
            <a:noFill/>
          </a:ln>
        </p:spPr>
      </p:pic>
      <p:sp>
        <p:nvSpPr>
          <p:cNvPr id="652" name="Google Shape;652;p24"/>
          <p:cNvSpPr/>
          <p:nvPr/>
        </p:nvSpPr>
        <p:spPr>
          <a:xfrm>
            <a:off x="5093208" y="4718304"/>
            <a:ext cx="2606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612F"/>
              </a:buClr>
              <a:buSzPts val="1500"/>
              <a:buFont typeface="Bookman Old Style"/>
              <a:buNone/>
            </a:pPr>
            <a:r>
              <a:rPr b="1" i="0" lang="en-US" sz="1500" u="none" cap="none" strike="noStrike">
                <a:solidFill>
                  <a:srgbClr val="C0612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RabbitMQ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3" name="Google Shape;653;p24"/>
          <p:cNvSpPr/>
          <p:nvPr/>
        </p:nvSpPr>
        <p:spPr>
          <a:xfrm>
            <a:off x="5093208" y="5029200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9E63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E9E63"/>
                </a:solidFill>
                <a:latin typeface="Calibri"/>
                <a:ea typeface="Calibri"/>
                <a:cs typeface="Calibri"/>
                <a:sym typeface="Calibri"/>
              </a:rPr>
              <a:t>PASS</a:t>
            </a:r>
            <a:r>
              <a:rPr b="0" i="0" lang="en-US" sz="11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  684ms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4" name="Google Shape;654;p24"/>
          <p:cNvSpPr/>
          <p:nvPr/>
        </p:nvSpPr>
        <p:spPr>
          <a:xfrm>
            <a:off x="4526280" y="5358384"/>
            <a:ext cx="31546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expired message landed on the expiry address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5" name="Google Shape;655;p24"/>
          <p:cNvSpPr/>
          <p:nvPr/>
        </p:nvSpPr>
        <p:spPr>
          <a:xfrm>
            <a:off x="8119872" y="4572000"/>
            <a:ext cx="3520440" cy="1371600"/>
          </a:xfrm>
          <a:prstGeom prst="roundRect">
            <a:avLst>
              <a:gd fmla="val 5333" name="adj"/>
            </a:avLst>
          </a:prstGeom>
          <a:solidFill>
            <a:srgbClr val="F7E2DE"/>
          </a:solidFill>
          <a:ln cap="flat" cmpd="sng" w="15875">
            <a:solidFill>
              <a:srgbClr val="43479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6" name="Google Shape;656;p24"/>
          <p:cNvSpPr/>
          <p:nvPr/>
        </p:nvSpPr>
        <p:spPr>
          <a:xfrm>
            <a:off x="8302752" y="4736592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657" name="Google Shape;657;p2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426196" y="4860036"/>
            <a:ext cx="210312" cy="210312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24"/>
          <p:cNvSpPr/>
          <p:nvPr/>
        </p:nvSpPr>
        <p:spPr>
          <a:xfrm>
            <a:off x="8869680" y="4718304"/>
            <a:ext cx="2606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3479B"/>
              </a:buClr>
              <a:buSzPts val="1500"/>
              <a:buFont typeface="Bookman Old Style"/>
              <a:buNone/>
            </a:pPr>
            <a:r>
              <a:rPr b="1" i="0" lang="en-US" sz="1500" u="none" cap="none" strike="noStrike">
                <a:solidFill>
                  <a:srgbClr val="43479B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Kafka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9" name="Google Shape;659;p24"/>
          <p:cNvSpPr/>
          <p:nvPr/>
        </p:nvSpPr>
        <p:spPr>
          <a:xfrm>
            <a:off x="8869680" y="5029200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FAIL</a:t>
            </a:r>
            <a:r>
              <a:rPr b="0" i="0" lang="en-US" sz="11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  13329ms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0" name="Google Shape;660;p24"/>
          <p:cNvSpPr/>
          <p:nvPr/>
        </p:nvSpPr>
        <p:spPr>
          <a:xfrm>
            <a:off x="8302752" y="5358384"/>
            <a:ext cx="31546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message never reached the expiry address — no per-message TTL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1" name="Google Shape;661;p24"/>
          <p:cNvSpPr/>
          <p:nvPr/>
        </p:nvSpPr>
        <p:spPr>
          <a:xfrm>
            <a:off x="566928" y="6053328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314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6314F"/>
                </a:solidFill>
                <a:latin typeface="Calibri"/>
                <a:ea typeface="Calibri"/>
                <a:cs typeface="Calibri"/>
                <a:sym typeface="Calibri"/>
              </a:rPr>
              <a:t>Read   </a:t>
            </a:r>
            <a:r>
              <a:rPr b="0" i="1" lang="en-US" sz="12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Kafka only has topic-level retention, not per-message TTL-to-expiry routing.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66" name="Shape 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Google Shape;667;p25"/>
          <p:cNvSpPr/>
          <p:nvPr/>
        </p:nvSpPr>
        <p:spPr>
          <a:xfrm>
            <a:off x="548640" y="347472"/>
            <a:ext cx="841248" cy="530352"/>
          </a:xfrm>
          <a:prstGeom prst="roundRect">
            <a:avLst>
              <a:gd fmla="val 17241" name="adj"/>
            </a:avLst>
          </a:prstGeom>
          <a:solidFill>
            <a:srgbClr val="1631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8" name="Google Shape;668;p25"/>
          <p:cNvSpPr/>
          <p:nvPr/>
        </p:nvSpPr>
        <p:spPr>
          <a:xfrm>
            <a:off x="548640" y="347472"/>
            <a:ext cx="841248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Bookman Old Style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S17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9" name="Google Shape;669;p25"/>
          <p:cNvSpPr/>
          <p:nvPr/>
        </p:nvSpPr>
        <p:spPr>
          <a:xfrm>
            <a:off x="1536192" y="329184"/>
            <a:ext cx="76809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314F"/>
              </a:buClr>
              <a:buSzPts val="2400"/>
              <a:buFont typeface="Bookman Old Style"/>
              <a:buNone/>
            </a:pPr>
            <a:r>
              <a:rPr b="1" i="0" lang="en-US" sz="2400" u="none" cap="none" strike="noStrike">
                <a:solidFill>
                  <a:srgbClr val="16314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Durable subscription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0" name="Google Shape;670;p25"/>
          <p:cNvSpPr/>
          <p:nvPr/>
        </p:nvSpPr>
        <p:spPr>
          <a:xfrm>
            <a:off x="9692640" y="457200"/>
            <a:ext cx="1947672" cy="365760"/>
          </a:xfrm>
          <a:prstGeom prst="roundRect">
            <a:avLst>
              <a:gd fmla="val 50000" name="adj"/>
            </a:avLst>
          </a:prstGeom>
          <a:solidFill>
            <a:srgbClr val="F4F6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1" name="Google Shape;671;p25"/>
          <p:cNvSpPr/>
          <p:nvPr/>
        </p:nvSpPr>
        <p:spPr>
          <a:xfrm>
            <a:off x="9692640" y="457200"/>
            <a:ext cx="194767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6314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6314F"/>
                </a:solidFill>
                <a:latin typeface="Calibri"/>
                <a:ea typeface="Calibri"/>
                <a:cs typeface="Calibri"/>
                <a:sym typeface="Calibri"/>
              </a:rPr>
              <a:t>DURABLE SUB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2" name="Google Shape;672;p25"/>
          <p:cNvSpPr/>
          <p:nvPr/>
        </p:nvSpPr>
        <p:spPr>
          <a:xfrm>
            <a:off x="566928" y="950976"/>
            <a:ext cx="11064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670"/>
              </a:buClr>
              <a:buSzPts val="1450"/>
              <a:buFont typeface="Calibri"/>
              <a:buNone/>
            </a:pPr>
            <a:r>
              <a:rPr b="0" i="1" lang="en-US" sz="14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A named subscriber goes offline; messages sent meanwhile are kept and delivered when it reconnects.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673" name="Google Shape;673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608" y="1371600"/>
            <a:ext cx="10698480" cy="2991948"/>
          </a:xfrm>
          <a:prstGeom prst="rect">
            <a:avLst/>
          </a:prstGeom>
          <a:noFill/>
          <a:ln>
            <a:noFill/>
          </a:ln>
        </p:spPr>
      </p:pic>
      <p:sp>
        <p:nvSpPr>
          <p:cNvPr id="674" name="Google Shape;674;p25"/>
          <p:cNvSpPr/>
          <p:nvPr/>
        </p:nvSpPr>
        <p:spPr>
          <a:xfrm>
            <a:off x="566928" y="4572000"/>
            <a:ext cx="3520440" cy="1371600"/>
          </a:xfrm>
          <a:prstGeom prst="roundRect">
            <a:avLst>
              <a:gd fmla="val 5333" name="adj"/>
            </a:avLst>
          </a:prstGeom>
          <a:solidFill>
            <a:srgbClr val="E6F4EC"/>
          </a:solidFill>
          <a:ln cap="flat" cmpd="sng" w="15875">
            <a:solidFill>
              <a:srgbClr val="0F6E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5" name="Google Shape;675;p25"/>
          <p:cNvSpPr/>
          <p:nvPr/>
        </p:nvSpPr>
        <p:spPr>
          <a:xfrm>
            <a:off x="749808" y="4736592"/>
            <a:ext cx="457200" cy="457200"/>
          </a:xfrm>
          <a:prstGeom prst="ellipse">
            <a:avLst/>
          </a:prstGeom>
          <a:solidFill>
            <a:srgbClr val="1E9E6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676" name="Google Shape;676;p2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73252" y="4860036"/>
            <a:ext cx="210312" cy="210312"/>
          </a:xfrm>
          <a:prstGeom prst="rect">
            <a:avLst/>
          </a:prstGeom>
          <a:noFill/>
          <a:ln>
            <a:noFill/>
          </a:ln>
        </p:spPr>
      </p:pic>
      <p:sp>
        <p:nvSpPr>
          <p:cNvPr id="677" name="Google Shape;677;p25"/>
          <p:cNvSpPr/>
          <p:nvPr/>
        </p:nvSpPr>
        <p:spPr>
          <a:xfrm>
            <a:off x="1316736" y="4718304"/>
            <a:ext cx="2606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6E6E"/>
              </a:buClr>
              <a:buSzPts val="1500"/>
              <a:buFont typeface="Bookman Old Style"/>
              <a:buNone/>
            </a:pPr>
            <a:r>
              <a:rPr b="1" i="0" lang="en-US" sz="1500" u="none" cap="none" strike="noStrike">
                <a:solidFill>
                  <a:srgbClr val="0F6E6E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Artemis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8" name="Google Shape;678;p25"/>
          <p:cNvSpPr/>
          <p:nvPr/>
        </p:nvSpPr>
        <p:spPr>
          <a:xfrm>
            <a:off x="1316736" y="5029200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9E63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E9E63"/>
                </a:solidFill>
                <a:latin typeface="Calibri"/>
                <a:ea typeface="Calibri"/>
                <a:cs typeface="Calibri"/>
                <a:sym typeface="Calibri"/>
              </a:rPr>
              <a:t>PASS</a:t>
            </a:r>
            <a:r>
              <a:rPr b="0" i="0" lang="en-US" sz="11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  458ms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9" name="Google Shape;679;p25"/>
          <p:cNvSpPr/>
          <p:nvPr/>
        </p:nvSpPr>
        <p:spPr>
          <a:xfrm>
            <a:off x="749808" y="5358384"/>
            <a:ext cx="31546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all 5 offline messages retained and delivered on reattach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0" name="Google Shape;680;p25"/>
          <p:cNvSpPr/>
          <p:nvPr/>
        </p:nvSpPr>
        <p:spPr>
          <a:xfrm>
            <a:off x="4343400" y="4572000"/>
            <a:ext cx="3520440" cy="1371600"/>
          </a:xfrm>
          <a:prstGeom prst="roundRect">
            <a:avLst>
              <a:gd fmla="val 5333" name="adj"/>
            </a:avLst>
          </a:prstGeom>
          <a:solidFill>
            <a:srgbClr val="E6F4EC"/>
          </a:solidFill>
          <a:ln cap="flat" cmpd="sng" w="15875">
            <a:solidFill>
              <a:srgbClr val="C061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1" name="Google Shape;681;p25"/>
          <p:cNvSpPr/>
          <p:nvPr/>
        </p:nvSpPr>
        <p:spPr>
          <a:xfrm>
            <a:off x="4526280" y="4736592"/>
            <a:ext cx="457200" cy="457200"/>
          </a:xfrm>
          <a:prstGeom prst="ellipse">
            <a:avLst/>
          </a:prstGeom>
          <a:solidFill>
            <a:srgbClr val="1E9E6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682" name="Google Shape;682;p2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49724" y="4860036"/>
            <a:ext cx="210312" cy="210312"/>
          </a:xfrm>
          <a:prstGeom prst="rect">
            <a:avLst/>
          </a:prstGeom>
          <a:noFill/>
          <a:ln>
            <a:noFill/>
          </a:ln>
        </p:spPr>
      </p:pic>
      <p:sp>
        <p:nvSpPr>
          <p:cNvPr id="683" name="Google Shape;683;p25"/>
          <p:cNvSpPr/>
          <p:nvPr/>
        </p:nvSpPr>
        <p:spPr>
          <a:xfrm>
            <a:off x="5093208" y="4718304"/>
            <a:ext cx="2606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612F"/>
              </a:buClr>
              <a:buSzPts val="1500"/>
              <a:buFont typeface="Bookman Old Style"/>
              <a:buNone/>
            </a:pPr>
            <a:r>
              <a:rPr b="1" i="0" lang="en-US" sz="1500" u="none" cap="none" strike="noStrike">
                <a:solidFill>
                  <a:srgbClr val="C0612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RabbitMQ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4" name="Google Shape;684;p25"/>
          <p:cNvSpPr/>
          <p:nvPr/>
        </p:nvSpPr>
        <p:spPr>
          <a:xfrm>
            <a:off x="5093208" y="5029200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9E63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E9E63"/>
                </a:solidFill>
                <a:latin typeface="Calibri"/>
                <a:ea typeface="Calibri"/>
                <a:cs typeface="Calibri"/>
                <a:sym typeface="Calibri"/>
              </a:rPr>
              <a:t>PASS</a:t>
            </a:r>
            <a:r>
              <a:rPr b="0" i="0" lang="en-US" sz="11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  488ms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5" name="Google Shape;685;p25"/>
          <p:cNvSpPr/>
          <p:nvPr/>
        </p:nvSpPr>
        <p:spPr>
          <a:xfrm>
            <a:off x="4526280" y="5358384"/>
            <a:ext cx="31546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all 5 offline messages retained and delivered on reattach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6" name="Google Shape;686;p25"/>
          <p:cNvSpPr/>
          <p:nvPr/>
        </p:nvSpPr>
        <p:spPr>
          <a:xfrm>
            <a:off x="8119872" y="4572000"/>
            <a:ext cx="3520440" cy="1371600"/>
          </a:xfrm>
          <a:prstGeom prst="roundRect">
            <a:avLst>
              <a:gd fmla="val 5333" name="adj"/>
            </a:avLst>
          </a:prstGeom>
          <a:solidFill>
            <a:srgbClr val="E6F4EC"/>
          </a:solidFill>
          <a:ln cap="flat" cmpd="sng" w="15875">
            <a:solidFill>
              <a:srgbClr val="43479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7" name="Google Shape;687;p25"/>
          <p:cNvSpPr/>
          <p:nvPr/>
        </p:nvSpPr>
        <p:spPr>
          <a:xfrm>
            <a:off x="8302752" y="4736592"/>
            <a:ext cx="457200" cy="457200"/>
          </a:xfrm>
          <a:prstGeom prst="ellipse">
            <a:avLst/>
          </a:prstGeom>
          <a:solidFill>
            <a:srgbClr val="1E9E6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688" name="Google Shape;688;p2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426196" y="4860036"/>
            <a:ext cx="210312" cy="210312"/>
          </a:xfrm>
          <a:prstGeom prst="rect">
            <a:avLst/>
          </a:prstGeom>
          <a:noFill/>
          <a:ln>
            <a:noFill/>
          </a:ln>
        </p:spPr>
      </p:pic>
      <p:sp>
        <p:nvSpPr>
          <p:cNvPr id="689" name="Google Shape;689;p25"/>
          <p:cNvSpPr/>
          <p:nvPr/>
        </p:nvSpPr>
        <p:spPr>
          <a:xfrm>
            <a:off x="8869680" y="4718304"/>
            <a:ext cx="2606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3479B"/>
              </a:buClr>
              <a:buSzPts val="1500"/>
              <a:buFont typeface="Bookman Old Style"/>
              <a:buNone/>
            </a:pPr>
            <a:r>
              <a:rPr b="1" i="0" lang="en-US" sz="1500" u="none" cap="none" strike="noStrike">
                <a:solidFill>
                  <a:srgbClr val="43479B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Kafka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0" name="Google Shape;690;p25"/>
          <p:cNvSpPr/>
          <p:nvPr/>
        </p:nvSpPr>
        <p:spPr>
          <a:xfrm>
            <a:off x="8869680" y="5029200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9E63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E9E63"/>
                </a:solidFill>
                <a:latin typeface="Calibri"/>
                <a:ea typeface="Calibri"/>
                <a:cs typeface="Calibri"/>
                <a:sym typeface="Calibri"/>
              </a:rPr>
              <a:t>PASS</a:t>
            </a:r>
            <a:r>
              <a:rPr b="0" i="0" lang="en-US" sz="11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  5609ms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1" name="Google Shape;691;p25"/>
          <p:cNvSpPr/>
          <p:nvPr/>
        </p:nvSpPr>
        <p:spPr>
          <a:xfrm>
            <a:off x="8302752" y="5358384"/>
            <a:ext cx="31546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all 5 retained and delivered on reattach (committed offsets)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2" name="Google Shape;692;p25"/>
          <p:cNvSpPr/>
          <p:nvPr/>
        </p:nvSpPr>
        <p:spPr>
          <a:xfrm>
            <a:off x="566928" y="6053328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314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6314F"/>
                </a:solidFill>
                <a:latin typeface="Calibri"/>
                <a:ea typeface="Calibri"/>
                <a:cs typeface="Calibri"/>
                <a:sym typeface="Calibri"/>
              </a:rPr>
              <a:t>Read   </a:t>
            </a:r>
            <a:r>
              <a:rPr b="0" i="1" lang="en-US" sz="12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All pass; Kafka does it via persisted consumer-group offsets.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97" name="Shape 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Google Shape;698;p26"/>
          <p:cNvSpPr/>
          <p:nvPr/>
        </p:nvSpPr>
        <p:spPr>
          <a:xfrm>
            <a:off x="548640" y="347472"/>
            <a:ext cx="841248" cy="530352"/>
          </a:xfrm>
          <a:prstGeom prst="roundRect">
            <a:avLst>
              <a:gd fmla="val 17241" name="adj"/>
            </a:avLst>
          </a:prstGeom>
          <a:solidFill>
            <a:srgbClr val="1631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9" name="Google Shape;699;p26"/>
          <p:cNvSpPr/>
          <p:nvPr/>
        </p:nvSpPr>
        <p:spPr>
          <a:xfrm>
            <a:off x="548640" y="347472"/>
            <a:ext cx="841248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Bookman Old Style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S18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0" name="Google Shape;700;p26"/>
          <p:cNvSpPr/>
          <p:nvPr/>
        </p:nvSpPr>
        <p:spPr>
          <a:xfrm>
            <a:off x="1536192" y="329184"/>
            <a:ext cx="76809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314F"/>
              </a:buClr>
              <a:buSzPts val="2400"/>
              <a:buFont typeface="Bookman Old Style"/>
              <a:buNone/>
            </a:pPr>
            <a:r>
              <a:rPr b="1" i="0" lang="en-US" sz="2400" u="none" cap="none" strike="noStrike">
                <a:solidFill>
                  <a:srgbClr val="16314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Single active consumer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1" name="Google Shape;701;p26"/>
          <p:cNvSpPr/>
          <p:nvPr/>
        </p:nvSpPr>
        <p:spPr>
          <a:xfrm>
            <a:off x="9692640" y="457200"/>
            <a:ext cx="1947672" cy="365760"/>
          </a:xfrm>
          <a:prstGeom prst="roundRect">
            <a:avLst>
              <a:gd fmla="val 50000" name="adj"/>
            </a:avLst>
          </a:prstGeom>
          <a:solidFill>
            <a:srgbClr val="F4F6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2" name="Google Shape;702;p26"/>
          <p:cNvSpPr/>
          <p:nvPr/>
        </p:nvSpPr>
        <p:spPr>
          <a:xfrm>
            <a:off x="9692640" y="457200"/>
            <a:ext cx="194767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6314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6314F"/>
                </a:solidFill>
                <a:latin typeface="Calibri"/>
                <a:ea typeface="Calibri"/>
                <a:cs typeface="Calibri"/>
                <a:sym typeface="Calibri"/>
              </a:rPr>
              <a:t>HA FAILOVER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3" name="Google Shape;703;p26"/>
          <p:cNvSpPr/>
          <p:nvPr/>
        </p:nvSpPr>
        <p:spPr>
          <a:xfrm>
            <a:off x="566928" y="950976"/>
            <a:ext cx="11064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670"/>
              </a:buClr>
              <a:buSzPts val="1450"/>
              <a:buFont typeface="Calibri"/>
              <a:buNone/>
            </a:pPr>
            <a:r>
              <a:rPr b="0" i="1" lang="en-US" sz="14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Two consumers, but only one is active; if it fails, the standby takes over and order is preserved.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704" name="Google Shape;704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608" y="1371600"/>
            <a:ext cx="10698480" cy="2991948"/>
          </a:xfrm>
          <a:prstGeom prst="rect">
            <a:avLst/>
          </a:prstGeom>
          <a:noFill/>
          <a:ln>
            <a:noFill/>
          </a:ln>
        </p:spPr>
      </p:pic>
      <p:sp>
        <p:nvSpPr>
          <p:cNvPr id="705" name="Google Shape;705;p26"/>
          <p:cNvSpPr/>
          <p:nvPr/>
        </p:nvSpPr>
        <p:spPr>
          <a:xfrm>
            <a:off x="566928" y="4572000"/>
            <a:ext cx="3520440" cy="1371600"/>
          </a:xfrm>
          <a:prstGeom prst="roundRect">
            <a:avLst>
              <a:gd fmla="val 5333" name="adj"/>
            </a:avLst>
          </a:prstGeom>
          <a:solidFill>
            <a:srgbClr val="E6F4EC"/>
          </a:solidFill>
          <a:ln cap="flat" cmpd="sng" w="15875">
            <a:solidFill>
              <a:srgbClr val="0F6E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6" name="Google Shape;706;p26"/>
          <p:cNvSpPr/>
          <p:nvPr/>
        </p:nvSpPr>
        <p:spPr>
          <a:xfrm>
            <a:off x="749808" y="4736592"/>
            <a:ext cx="457200" cy="457200"/>
          </a:xfrm>
          <a:prstGeom prst="ellipse">
            <a:avLst/>
          </a:prstGeom>
          <a:solidFill>
            <a:srgbClr val="1E9E6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707" name="Google Shape;707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73252" y="4860036"/>
            <a:ext cx="210312" cy="210312"/>
          </a:xfrm>
          <a:prstGeom prst="rect">
            <a:avLst/>
          </a:prstGeom>
          <a:noFill/>
          <a:ln>
            <a:noFill/>
          </a:ln>
        </p:spPr>
      </p:pic>
      <p:sp>
        <p:nvSpPr>
          <p:cNvPr id="708" name="Google Shape;708;p26"/>
          <p:cNvSpPr/>
          <p:nvPr/>
        </p:nvSpPr>
        <p:spPr>
          <a:xfrm>
            <a:off x="1316736" y="4718304"/>
            <a:ext cx="2606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6E6E"/>
              </a:buClr>
              <a:buSzPts val="1500"/>
              <a:buFont typeface="Bookman Old Style"/>
              <a:buNone/>
            </a:pPr>
            <a:r>
              <a:rPr b="1" i="0" lang="en-US" sz="1500" u="none" cap="none" strike="noStrike">
                <a:solidFill>
                  <a:srgbClr val="0F6E6E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Artemis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9" name="Google Shape;709;p26"/>
          <p:cNvSpPr/>
          <p:nvPr/>
        </p:nvSpPr>
        <p:spPr>
          <a:xfrm>
            <a:off x="1316736" y="5029200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9E63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E9E63"/>
                </a:solidFill>
                <a:latin typeface="Calibri"/>
                <a:ea typeface="Calibri"/>
                <a:cs typeface="Calibri"/>
                <a:sym typeface="Calibri"/>
              </a:rPr>
              <a:t>PASS</a:t>
            </a:r>
            <a:r>
              <a:rPr b="0" i="0" lang="en-US" sz="11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  807ms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0" name="Google Shape;710;p26"/>
          <p:cNvSpPr/>
          <p:nvPr/>
        </p:nvSpPr>
        <p:spPr>
          <a:xfrm>
            <a:off x="749808" y="5358384"/>
            <a:ext cx="31546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active served 5, standby took over 5 after failover, order preserved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1" name="Google Shape;711;p26"/>
          <p:cNvSpPr/>
          <p:nvPr/>
        </p:nvSpPr>
        <p:spPr>
          <a:xfrm>
            <a:off x="4343400" y="4572000"/>
            <a:ext cx="3520440" cy="1371600"/>
          </a:xfrm>
          <a:prstGeom prst="roundRect">
            <a:avLst>
              <a:gd fmla="val 5333" name="adj"/>
            </a:avLst>
          </a:prstGeom>
          <a:solidFill>
            <a:srgbClr val="E6F4EC"/>
          </a:solidFill>
          <a:ln cap="flat" cmpd="sng" w="15875">
            <a:solidFill>
              <a:srgbClr val="C061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2" name="Google Shape;712;p26"/>
          <p:cNvSpPr/>
          <p:nvPr/>
        </p:nvSpPr>
        <p:spPr>
          <a:xfrm>
            <a:off x="4526280" y="4736592"/>
            <a:ext cx="457200" cy="457200"/>
          </a:xfrm>
          <a:prstGeom prst="ellipse">
            <a:avLst/>
          </a:prstGeom>
          <a:solidFill>
            <a:srgbClr val="1E9E6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713" name="Google Shape;713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49724" y="4860036"/>
            <a:ext cx="210312" cy="210312"/>
          </a:xfrm>
          <a:prstGeom prst="rect">
            <a:avLst/>
          </a:prstGeom>
          <a:noFill/>
          <a:ln>
            <a:noFill/>
          </a:ln>
        </p:spPr>
      </p:pic>
      <p:sp>
        <p:nvSpPr>
          <p:cNvPr id="714" name="Google Shape;714;p26"/>
          <p:cNvSpPr/>
          <p:nvPr/>
        </p:nvSpPr>
        <p:spPr>
          <a:xfrm>
            <a:off x="5093208" y="4718304"/>
            <a:ext cx="2606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612F"/>
              </a:buClr>
              <a:buSzPts val="1500"/>
              <a:buFont typeface="Bookman Old Style"/>
              <a:buNone/>
            </a:pPr>
            <a:r>
              <a:rPr b="1" i="0" lang="en-US" sz="1500" u="none" cap="none" strike="noStrike">
                <a:solidFill>
                  <a:srgbClr val="C0612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RabbitMQ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5" name="Google Shape;715;p26"/>
          <p:cNvSpPr/>
          <p:nvPr/>
        </p:nvSpPr>
        <p:spPr>
          <a:xfrm>
            <a:off x="5093208" y="5029200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9E63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E9E63"/>
                </a:solidFill>
                <a:latin typeface="Calibri"/>
                <a:ea typeface="Calibri"/>
                <a:cs typeface="Calibri"/>
                <a:sym typeface="Calibri"/>
              </a:rPr>
              <a:t>PASS</a:t>
            </a:r>
            <a:r>
              <a:rPr b="0" i="0" lang="en-US" sz="11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  833ms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6" name="Google Shape;716;p26"/>
          <p:cNvSpPr/>
          <p:nvPr/>
        </p:nvSpPr>
        <p:spPr>
          <a:xfrm>
            <a:off x="4526280" y="5358384"/>
            <a:ext cx="31546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active served 5, standby took over 5 after failover, order preserved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7" name="Google Shape;717;p26"/>
          <p:cNvSpPr/>
          <p:nvPr/>
        </p:nvSpPr>
        <p:spPr>
          <a:xfrm>
            <a:off x="8119872" y="4572000"/>
            <a:ext cx="3520440" cy="1371600"/>
          </a:xfrm>
          <a:prstGeom prst="roundRect">
            <a:avLst>
              <a:gd fmla="val 5333" name="adj"/>
            </a:avLst>
          </a:prstGeom>
          <a:solidFill>
            <a:srgbClr val="F7E2DE"/>
          </a:solidFill>
          <a:ln cap="flat" cmpd="sng" w="15875">
            <a:solidFill>
              <a:srgbClr val="43479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26"/>
          <p:cNvSpPr/>
          <p:nvPr/>
        </p:nvSpPr>
        <p:spPr>
          <a:xfrm>
            <a:off x="8302752" y="4736592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719" name="Google Shape;719;p2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426196" y="4860036"/>
            <a:ext cx="210312" cy="210312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26"/>
          <p:cNvSpPr/>
          <p:nvPr/>
        </p:nvSpPr>
        <p:spPr>
          <a:xfrm>
            <a:off x="8869680" y="4718304"/>
            <a:ext cx="2606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3479B"/>
              </a:buClr>
              <a:buSzPts val="1500"/>
              <a:buFont typeface="Bookman Old Style"/>
              <a:buNone/>
            </a:pPr>
            <a:r>
              <a:rPr b="1" i="0" lang="en-US" sz="1500" u="none" cap="none" strike="noStrike">
                <a:solidFill>
                  <a:srgbClr val="43479B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Kafka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1" name="Google Shape;721;p26"/>
          <p:cNvSpPr/>
          <p:nvPr/>
        </p:nvSpPr>
        <p:spPr>
          <a:xfrm>
            <a:off x="8869680" y="5029200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FAIL</a:t>
            </a:r>
            <a:r>
              <a:rPr b="0" i="0" lang="en-US" sz="11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  5418ms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2" name="Google Shape;722;p26"/>
          <p:cNvSpPr/>
          <p:nvPr/>
        </p:nvSpPr>
        <p:spPr>
          <a:xfrm>
            <a:off x="8302752" y="5358384"/>
            <a:ext cx="31546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both consumers were active before failover (2/3)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3" name="Google Shape;723;p26"/>
          <p:cNvSpPr/>
          <p:nvPr/>
        </p:nvSpPr>
        <p:spPr>
          <a:xfrm>
            <a:off x="566928" y="6053328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314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6314F"/>
                </a:solidFill>
                <a:latin typeface="Calibri"/>
                <a:ea typeface="Calibri"/>
                <a:cs typeface="Calibri"/>
                <a:sym typeface="Calibri"/>
              </a:rPr>
              <a:t>Read   </a:t>
            </a:r>
            <a:r>
              <a:rPr b="0" i="1" lang="en-US" sz="12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Kafka activates &gt;1 group member — no single-active concept. Tunable: a 1-partition topic approximates it, at the cost of S9/S12 spread.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p27"/>
          <p:cNvSpPr/>
          <p:nvPr/>
        </p:nvSpPr>
        <p:spPr>
          <a:xfrm>
            <a:off x="548640" y="347472"/>
            <a:ext cx="841248" cy="530352"/>
          </a:xfrm>
          <a:prstGeom prst="roundRect">
            <a:avLst>
              <a:gd fmla="val 17241" name="adj"/>
            </a:avLst>
          </a:prstGeom>
          <a:solidFill>
            <a:srgbClr val="1631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0" name="Google Shape;730;p27"/>
          <p:cNvSpPr/>
          <p:nvPr/>
        </p:nvSpPr>
        <p:spPr>
          <a:xfrm>
            <a:off x="548640" y="347472"/>
            <a:ext cx="841248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Bookman Old Style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S19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1" name="Google Shape;731;p27"/>
          <p:cNvSpPr/>
          <p:nvPr/>
        </p:nvSpPr>
        <p:spPr>
          <a:xfrm>
            <a:off x="1536192" y="329184"/>
            <a:ext cx="76809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314F"/>
              </a:buClr>
              <a:buSzPts val="2400"/>
              <a:buFont typeface="Bookman Old Style"/>
              <a:buNone/>
            </a:pPr>
            <a:r>
              <a:rPr b="1" i="0" lang="en-US" sz="2400" u="none" cap="none" strike="noStrike">
                <a:solidFill>
                  <a:srgbClr val="16314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Stream replay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2" name="Google Shape;732;p27"/>
          <p:cNvSpPr/>
          <p:nvPr/>
        </p:nvSpPr>
        <p:spPr>
          <a:xfrm>
            <a:off x="9692640" y="457200"/>
            <a:ext cx="1947672" cy="365760"/>
          </a:xfrm>
          <a:prstGeom prst="roundRect">
            <a:avLst>
              <a:gd fmla="val 50000" name="adj"/>
            </a:avLst>
          </a:prstGeom>
          <a:solidFill>
            <a:srgbClr val="F4F6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3" name="Google Shape;733;p27"/>
          <p:cNvSpPr/>
          <p:nvPr/>
        </p:nvSpPr>
        <p:spPr>
          <a:xfrm>
            <a:off x="9692640" y="457200"/>
            <a:ext cx="194767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6314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6314F"/>
                </a:solidFill>
                <a:latin typeface="Calibri"/>
                <a:ea typeface="Calibri"/>
                <a:cs typeface="Calibri"/>
                <a:sym typeface="Calibri"/>
              </a:rPr>
              <a:t>STREAMING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4" name="Google Shape;734;p27"/>
          <p:cNvSpPr/>
          <p:nvPr/>
        </p:nvSpPr>
        <p:spPr>
          <a:xfrm>
            <a:off x="566928" y="950976"/>
            <a:ext cx="11064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670"/>
              </a:buClr>
              <a:buSzPts val="1450"/>
              <a:buFont typeface="Calibri"/>
              <a:buNone/>
            </a:pPr>
            <a:r>
              <a:rPr b="0" i="1" lang="en-US" sz="14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A brand-new subscriber replays the entire history from the beginning (offset 0).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735" name="Google Shape;735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608" y="1371600"/>
            <a:ext cx="10698480" cy="2991948"/>
          </a:xfrm>
          <a:prstGeom prst="rect">
            <a:avLst/>
          </a:prstGeom>
          <a:noFill/>
          <a:ln>
            <a:noFill/>
          </a:ln>
        </p:spPr>
      </p:pic>
      <p:sp>
        <p:nvSpPr>
          <p:cNvPr id="736" name="Google Shape;736;p27"/>
          <p:cNvSpPr/>
          <p:nvPr/>
        </p:nvSpPr>
        <p:spPr>
          <a:xfrm>
            <a:off x="566928" y="4572000"/>
            <a:ext cx="3520440" cy="1371600"/>
          </a:xfrm>
          <a:prstGeom prst="roundRect">
            <a:avLst>
              <a:gd fmla="val 5333" name="adj"/>
            </a:avLst>
          </a:prstGeom>
          <a:solidFill>
            <a:srgbClr val="FBF1D8"/>
          </a:solidFill>
          <a:ln cap="flat" cmpd="sng" w="15875">
            <a:solidFill>
              <a:srgbClr val="0F6E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7" name="Google Shape;737;p27"/>
          <p:cNvSpPr/>
          <p:nvPr/>
        </p:nvSpPr>
        <p:spPr>
          <a:xfrm>
            <a:off x="749808" y="4736592"/>
            <a:ext cx="457200" cy="457200"/>
          </a:xfrm>
          <a:prstGeom prst="ellipse">
            <a:avLst/>
          </a:prstGeom>
          <a:solidFill>
            <a:srgbClr val="C2962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738" name="Google Shape;738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73252" y="4860036"/>
            <a:ext cx="210312" cy="210312"/>
          </a:xfrm>
          <a:prstGeom prst="rect">
            <a:avLst/>
          </a:prstGeom>
          <a:noFill/>
          <a:ln>
            <a:noFill/>
          </a:ln>
        </p:spPr>
      </p:pic>
      <p:sp>
        <p:nvSpPr>
          <p:cNvPr id="739" name="Google Shape;739;p27"/>
          <p:cNvSpPr/>
          <p:nvPr/>
        </p:nvSpPr>
        <p:spPr>
          <a:xfrm>
            <a:off x="1316736" y="4718304"/>
            <a:ext cx="2606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6E6E"/>
              </a:buClr>
              <a:buSzPts val="1500"/>
              <a:buFont typeface="Bookman Old Style"/>
              <a:buNone/>
            </a:pPr>
            <a:r>
              <a:rPr b="1" i="0" lang="en-US" sz="1500" u="none" cap="none" strike="noStrike">
                <a:solidFill>
                  <a:srgbClr val="0F6E6E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Artemis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0" name="Google Shape;740;p27"/>
          <p:cNvSpPr/>
          <p:nvPr/>
        </p:nvSpPr>
        <p:spPr>
          <a:xfrm>
            <a:off x="1316736" y="5029200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962A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C2962A"/>
                </a:solidFill>
                <a:latin typeface="Calibri"/>
                <a:ea typeface="Calibri"/>
                <a:cs typeface="Calibri"/>
                <a:sym typeface="Calibri"/>
              </a:rPr>
              <a:t>UNSUPPORTED</a:t>
            </a:r>
            <a:r>
              <a:rPr b="0" i="0" lang="en-US" sz="11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  0ms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1" name="Google Shape;741;p27"/>
          <p:cNvSpPr/>
          <p:nvPr/>
        </p:nvSpPr>
        <p:spPr>
          <a:xfrm>
            <a:off x="749808" y="5358384"/>
            <a:ext cx="31546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broker cannot replay consumed history (no stream/offset support)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2" name="Google Shape;742;p27"/>
          <p:cNvSpPr/>
          <p:nvPr/>
        </p:nvSpPr>
        <p:spPr>
          <a:xfrm>
            <a:off x="4343400" y="4572000"/>
            <a:ext cx="3520440" cy="1371600"/>
          </a:xfrm>
          <a:prstGeom prst="roundRect">
            <a:avLst>
              <a:gd fmla="val 5333" name="adj"/>
            </a:avLst>
          </a:prstGeom>
          <a:solidFill>
            <a:srgbClr val="E6F4EC"/>
          </a:solidFill>
          <a:ln cap="flat" cmpd="sng" w="15875">
            <a:solidFill>
              <a:srgbClr val="C061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3" name="Google Shape;743;p27"/>
          <p:cNvSpPr/>
          <p:nvPr/>
        </p:nvSpPr>
        <p:spPr>
          <a:xfrm>
            <a:off x="4526280" y="4736592"/>
            <a:ext cx="457200" cy="457200"/>
          </a:xfrm>
          <a:prstGeom prst="ellipse">
            <a:avLst/>
          </a:prstGeom>
          <a:solidFill>
            <a:srgbClr val="1E9E6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744" name="Google Shape;744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649724" y="4860036"/>
            <a:ext cx="210312" cy="210312"/>
          </a:xfrm>
          <a:prstGeom prst="rect">
            <a:avLst/>
          </a:prstGeom>
          <a:noFill/>
          <a:ln>
            <a:noFill/>
          </a:ln>
        </p:spPr>
      </p:pic>
      <p:sp>
        <p:nvSpPr>
          <p:cNvPr id="745" name="Google Shape;745;p27"/>
          <p:cNvSpPr/>
          <p:nvPr/>
        </p:nvSpPr>
        <p:spPr>
          <a:xfrm>
            <a:off x="5093208" y="4718304"/>
            <a:ext cx="2606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612F"/>
              </a:buClr>
              <a:buSzPts val="1500"/>
              <a:buFont typeface="Bookman Old Style"/>
              <a:buNone/>
            </a:pPr>
            <a:r>
              <a:rPr b="1" i="0" lang="en-US" sz="1500" u="none" cap="none" strike="noStrike">
                <a:solidFill>
                  <a:srgbClr val="C0612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RabbitMQ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6" name="Google Shape;746;p27"/>
          <p:cNvSpPr/>
          <p:nvPr/>
        </p:nvSpPr>
        <p:spPr>
          <a:xfrm>
            <a:off x="5093208" y="5029200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9E63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E9E63"/>
                </a:solidFill>
                <a:latin typeface="Calibri"/>
                <a:ea typeface="Calibri"/>
                <a:cs typeface="Calibri"/>
                <a:sym typeface="Calibri"/>
              </a:rPr>
              <a:t>PASS</a:t>
            </a:r>
            <a:r>
              <a:rPr b="0" i="0" lang="en-US" sz="11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  737ms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7" name="Google Shape;747;p27"/>
          <p:cNvSpPr/>
          <p:nvPr/>
        </p:nvSpPr>
        <p:spPr>
          <a:xfrm>
            <a:off x="4526280" y="5358384"/>
            <a:ext cx="31546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fresh subscriber replayed all 8 messages from offset 0 (stream queue)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8" name="Google Shape;748;p27"/>
          <p:cNvSpPr/>
          <p:nvPr/>
        </p:nvSpPr>
        <p:spPr>
          <a:xfrm>
            <a:off x="8119872" y="4572000"/>
            <a:ext cx="3520440" cy="1371600"/>
          </a:xfrm>
          <a:prstGeom prst="roundRect">
            <a:avLst>
              <a:gd fmla="val 5333" name="adj"/>
            </a:avLst>
          </a:prstGeom>
          <a:solidFill>
            <a:srgbClr val="E6F4EC"/>
          </a:solidFill>
          <a:ln cap="flat" cmpd="sng" w="15875">
            <a:solidFill>
              <a:srgbClr val="43479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9" name="Google Shape;749;p27"/>
          <p:cNvSpPr/>
          <p:nvPr/>
        </p:nvSpPr>
        <p:spPr>
          <a:xfrm>
            <a:off x="8302752" y="4736592"/>
            <a:ext cx="457200" cy="457200"/>
          </a:xfrm>
          <a:prstGeom prst="ellipse">
            <a:avLst/>
          </a:prstGeom>
          <a:solidFill>
            <a:srgbClr val="1E9E6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750" name="Google Shape;750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426196" y="4860036"/>
            <a:ext cx="210312" cy="210312"/>
          </a:xfrm>
          <a:prstGeom prst="rect">
            <a:avLst/>
          </a:prstGeom>
          <a:noFill/>
          <a:ln>
            <a:noFill/>
          </a:ln>
        </p:spPr>
      </p:pic>
      <p:sp>
        <p:nvSpPr>
          <p:cNvPr id="751" name="Google Shape;751;p27"/>
          <p:cNvSpPr/>
          <p:nvPr/>
        </p:nvSpPr>
        <p:spPr>
          <a:xfrm>
            <a:off x="8869680" y="4718304"/>
            <a:ext cx="2606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3479B"/>
              </a:buClr>
              <a:buSzPts val="1500"/>
              <a:buFont typeface="Bookman Old Style"/>
              <a:buNone/>
            </a:pPr>
            <a:r>
              <a:rPr b="1" i="0" lang="en-US" sz="1500" u="none" cap="none" strike="noStrike">
                <a:solidFill>
                  <a:srgbClr val="43479B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Kafka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2" name="Google Shape;752;p27"/>
          <p:cNvSpPr/>
          <p:nvPr/>
        </p:nvSpPr>
        <p:spPr>
          <a:xfrm>
            <a:off x="8869680" y="5029200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9E63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E9E63"/>
                </a:solidFill>
                <a:latin typeface="Calibri"/>
                <a:ea typeface="Calibri"/>
                <a:cs typeface="Calibri"/>
                <a:sym typeface="Calibri"/>
              </a:rPr>
              <a:t>PASS</a:t>
            </a:r>
            <a:r>
              <a:rPr b="0" i="0" lang="en-US" sz="11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  5822ms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3" name="Google Shape;753;p27"/>
          <p:cNvSpPr/>
          <p:nvPr/>
        </p:nvSpPr>
        <p:spPr>
          <a:xfrm>
            <a:off x="8302752" y="5358384"/>
            <a:ext cx="31546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1F29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fresh subscriber replayed all 8 messages from offset 0 (full history)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4" name="Google Shape;754;p27"/>
          <p:cNvSpPr/>
          <p:nvPr/>
        </p:nvSpPr>
        <p:spPr>
          <a:xfrm>
            <a:off x="566928" y="6053328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314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6314F"/>
                </a:solidFill>
                <a:latin typeface="Calibri"/>
                <a:ea typeface="Calibri"/>
                <a:cs typeface="Calibri"/>
                <a:sym typeface="Calibri"/>
              </a:rPr>
              <a:t>Read   </a:t>
            </a:r>
            <a:r>
              <a:rPr b="0" i="1" lang="en-US" sz="12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The one scenario Artemis CAN'T do; Kafka's core strength, Rabbit via stream queues.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6314F"/>
        </a:solidFill>
      </p:bgPr>
    </p:bg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28"/>
          <p:cNvSpPr/>
          <p:nvPr/>
        </p:nvSpPr>
        <p:spPr>
          <a:xfrm>
            <a:off x="822960" y="77724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FD3C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8FD3CF"/>
                </a:solidFill>
                <a:latin typeface="Calibri"/>
                <a:ea typeface="Calibri"/>
                <a:cs typeface="Calibri"/>
                <a:sym typeface="Calibri"/>
              </a:rPr>
              <a:t>CROSS-CUTTING OBSERVATIONS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1" name="Google Shape;761;p28"/>
          <p:cNvSpPr/>
          <p:nvPr/>
        </p:nvSpPr>
        <p:spPr>
          <a:xfrm>
            <a:off x="822960" y="1234440"/>
            <a:ext cx="10515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Bookman Old Style"/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Log vs queue/scheduler is the headline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2" name="Google Shape;762;p28"/>
          <p:cNvSpPr/>
          <p:nvPr/>
        </p:nvSpPr>
        <p:spPr>
          <a:xfrm>
            <a:off x="822960" y="2057400"/>
            <a:ext cx="10561320" cy="914400"/>
          </a:xfrm>
          <a:prstGeom prst="roundRect">
            <a:avLst>
              <a:gd fmla="val 10000" name="adj"/>
            </a:avLst>
          </a:prstGeom>
          <a:solidFill>
            <a:srgbClr val="1B3A5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3" name="Google Shape;763;p28"/>
          <p:cNvSpPr/>
          <p:nvPr/>
        </p:nvSpPr>
        <p:spPr>
          <a:xfrm>
            <a:off x="1051560" y="2258568"/>
            <a:ext cx="512064" cy="512064"/>
          </a:xfrm>
          <a:prstGeom prst="ellipse">
            <a:avLst/>
          </a:prstGeom>
          <a:solidFill>
            <a:srgbClr val="0A4F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764" name="Google Shape;764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89817" y="2396825"/>
            <a:ext cx="235549" cy="235549"/>
          </a:xfrm>
          <a:prstGeom prst="rect">
            <a:avLst/>
          </a:prstGeom>
          <a:noFill/>
          <a:ln>
            <a:noFill/>
          </a:ln>
        </p:spPr>
      </p:pic>
      <p:sp>
        <p:nvSpPr>
          <p:cNvPr id="765" name="Google Shape;765;p28"/>
          <p:cNvSpPr/>
          <p:nvPr/>
        </p:nvSpPr>
        <p:spPr>
          <a:xfrm>
            <a:off x="1737360" y="2167128"/>
            <a:ext cx="9509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Bookman Old Style"/>
              <a:buNone/>
            </a:pPr>
            <a:r>
              <a:rPr b="1" i="0" lang="en-US" sz="1550" u="none" cap="none" strike="noStrik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Artemis — broadest fit (18/19, zero fails)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6" name="Google Shape;766;p28"/>
          <p:cNvSpPr/>
          <p:nvPr/>
        </p:nvSpPr>
        <p:spPr>
          <a:xfrm>
            <a:off x="1737360" y="2514600"/>
            <a:ext cx="9509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C3D2E0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C3D2E0"/>
                </a:solidFill>
                <a:latin typeface="Calibri"/>
                <a:ea typeface="Calibri"/>
                <a:cs typeface="Calibri"/>
                <a:sym typeface="Calibri"/>
              </a:rPr>
              <a:t>The only broker with native scheduling + cancel + list (S2–S4) AND broker-native dedup (S13). Its single by-design gap is stream replay (S19).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7" name="Google Shape;767;p28"/>
          <p:cNvSpPr/>
          <p:nvPr/>
        </p:nvSpPr>
        <p:spPr>
          <a:xfrm>
            <a:off x="822960" y="3063240"/>
            <a:ext cx="10561320" cy="914400"/>
          </a:xfrm>
          <a:prstGeom prst="roundRect">
            <a:avLst>
              <a:gd fmla="val 10000" name="adj"/>
            </a:avLst>
          </a:prstGeom>
          <a:solidFill>
            <a:srgbClr val="1B3A5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8" name="Google Shape;768;p28"/>
          <p:cNvSpPr/>
          <p:nvPr/>
        </p:nvSpPr>
        <p:spPr>
          <a:xfrm>
            <a:off x="1051560" y="3264408"/>
            <a:ext cx="512064" cy="512064"/>
          </a:xfrm>
          <a:prstGeom prst="ellipse">
            <a:avLst/>
          </a:prstGeom>
          <a:solidFill>
            <a:srgbClr val="0A4F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769" name="Google Shape;769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89817" y="3402665"/>
            <a:ext cx="235549" cy="235549"/>
          </a:xfrm>
          <a:prstGeom prst="rect">
            <a:avLst/>
          </a:prstGeom>
          <a:noFill/>
          <a:ln>
            <a:noFill/>
          </a:ln>
        </p:spPr>
      </p:pic>
      <p:sp>
        <p:nvSpPr>
          <p:cNvPr id="770" name="Google Shape;770;p28"/>
          <p:cNvSpPr/>
          <p:nvPr/>
        </p:nvSpPr>
        <p:spPr>
          <a:xfrm>
            <a:off x="1737360" y="3172968"/>
            <a:ext cx="9509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Bookman Old Style"/>
              <a:buNone/>
            </a:pPr>
            <a:r>
              <a:rPr b="1" i="0" lang="en-US" sz="1550" u="none" cap="none" strike="noStrik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RabbitMQ — the middle (16/19, zero fails)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1" name="Google Shape;771;p28"/>
          <p:cNvSpPr/>
          <p:nvPr/>
        </p:nvSpPr>
        <p:spPr>
          <a:xfrm>
            <a:off x="1737360" y="3520440"/>
            <a:ext cx="9509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C3D2E0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C3D2E0"/>
                </a:solidFill>
                <a:latin typeface="Calibri"/>
                <a:ea typeface="Calibri"/>
                <a:cs typeface="Calibri"/>
                <a:sym typeface="Calibri"/>
              </a:rPr>
              <a:t>Full pub/sub, DLQ, retry, priority, groups, and stream replay (S19) — but no scheduled-message cancel/list (S3/S4) and no native dedup (S13).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2" name="Google Shape;772;p28"/>
          <p:cNvSpPr/>
          <p:nvPr/>
        </p:nvSpPr>
        <p:spPr>
          <a:xfrm>
            <a:off x="822960" y="4069080"/>
            <a:ext cx="10561320" cy="914400"/>
          </a:xfrm>
          <a:prstGeom prst="roundRect">
            <a:avLst>
              <a:gd fmla="val 10000" name="adj"/>
            </a:avLst>
          </a:prstGeom>
          <a:solidFill>
            <a:srgbClr val="1B3A5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3" name="Google Shape;773;p28"/>
          <p:cNvSpPr/>
          <p:nvPr/>
        </p:nvSpPr>
        <p:spPr>
          <a:xfrm>
            <a:off x="1051560" y="4270248"/>
            <a:ext cx="512064" cy="512064"/>
          </a:xfrm>
          <a:prstGeom prst="ellipse">
            <a:avLst/>
          </a:prstGeom>
          <a:solidFill>
            <a:srgbClr val="0A4F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774" name="Google Shape;774;p2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89817" y="4408505"/>
            <a:ext cx="235549" cy="235549"/>
          </a:xfrm>
          <a:prstGeom prst="rect">
            <a:avLst/>
          </a:prstGeom>
          <a:noFill/>
          <a:ln>
            <a:noFill/>
          </a:ln>
        </p:spPr>
      </p:pic>
      <p:sp>
        <p:nvSpPr>
          <p:cNvPr id="775" name="Google Shape;775;p28"/>
          <p:cNvSpPr/>
          <p:nvPr/>
        </p:nvSpPr>
        <p:spPr>
          <a:xfrm>
            <a:off x="1737360" y="4178808"/>
            <a:ext cx="9509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Bookman Old Style"/>
              <a:buNone/>
            </a:pPr>
            <a:r>
              <a:rPr b="1" i="0" lang="en-US" sz="1550" u="none" cap="none" strike="noStrik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Kafka — a log, not a queue (9/19)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6" name="Google Shape;776;p28"/>
          <p:cNvSpPr/>
          <p:nvPr/>
        </p:nvSpPr>
        <p:spPr>
          <a:xfrm>
            <a:off x="1737360" y="4526280"/>
            <a:ext cx="9509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C3D2E0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C3D2E0"/>
                </a:solidFill>
                <a:latin typeface="Calibri"/>
                <a:ea typeface="Calibri"/>
                <a:cs typeface="Calibri"/>
                <a:sym typeface="Calibri"/>
              </a:rPr>
              <a:t>Its 4 fails and 6 unsupported aren't bugs — they're the boundary of a partitioned log. Kafka wins where logs win: fanout, competing consumers, partitioned ordering (S12), durable-offset subs (S17), full-history replay (S19).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7" name="Google Shape;777;p28"/>
          <p:cNvSpPr/>
          <p:nvPr/>
        </p:nvSpPr>
        <p:spPr>
          <a:xfrm>
            <a:off x="822960" y="5074920"/>
            <a:ext cx="10561320" cy="914400"/>
          </a:xfrm>
          <a:prstGeom prst="roundRect">
            <a:avLst>
              <a:gd fmla="val 10000" name="adj"/>
            </a:avLst>
          </a:prstGeom>
          <a:solidFill>
            <a:srgbClr val="1B3A5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8" name="Google Shape;778;p28"/>
          <p:cNvSpPr/>
          <p:nvPr/>
        </p:nvSpPr>
        <p:spPr>
          <a:xfrm>
            <a:off x="1051560" y="5276088"/>
            <a:ext cx="512064" cy="512064"/>
          </a:xfrm>
          <a:prstGeom prst="ellipse">
            <a:avLst/>
          </a:prstGeom>
          <a:solidFill>
            <a:srgbClr val="0A4F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779" name="Google Shape;779;p2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189817" y="5414345"/>
            <a:ext cx="235549" cy="235549"/>
          </a:xfrm>
          <a:prstGeom prst="rect">
            <a:avLst/>
          </a:prstGeom>
          <a:noFill/>
          <a:ln>
            <a:noFill/>
          </a:ln>
        </p:spPr>
      </p:pic>
      <p:sp>
        <p:nvSpPr>
          <p:cNvPr id="780" name="Google Shape;780;p28"/>
          <p:cNvSpPr/>
          <p:nvPr/>
        </p:nvSpPr>
        <p:spPr>
          <a:xfrm>
            <a:off x="1737360" y="5184648"/>
            <a:ext cx="9509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Bookman Old Style"/>
              <a:buNone/>
            </a:pPr>
            <a:r>
              <a:rPr b="1" i="0" lang="en-US" sz="1550" u="none" cap="none" strike="noStrik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Latency signal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1" name="Google Shape;781;p28"/>
          <p:cNvSpPr/>
          <p:nvPr/>
        </p:nvSpPr>
        <p:spPr>
          <a:xfrm>
            <a:off x="1737360" y="5532120"/>
            <a:ext cx="9509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C3D2E0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C3D2E0"/>
                </a:solidFill>
                <a:latin typeface="Calibri"/>
                <a:ea typeface="Calibri"/>
                <a:cs typeface="Calibri"/>
                <a:sym typeface="Calibri"/>
              </a:rPr>
              <a:t>Kafka scenarios that subscribe/rebalance cost seconds (S7 ~20s; S9/S12/S17/S18/S19 ~5s) vs tens of ms for Artemis/RabbitMQ — relevant for short-lived consumers, dynamic scaling, and request/reply budgets.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2" name="Google Shape;782;p28"/>
          <p:cNvSpPr/>
          <p:nvPr/>
        </p:nvSpPr>
        <p:spPr>
          <a:xfrm>
            <a:off x="822960" y="6199632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DB6CC"/>
              </a:buClr>
              <a:buSzPts val="1250"/>
              <a:buFont typeface="Calibri"/>
              <a:buNone/>
            </a:pPr>
            <a:r>
              <a:rPr b="0" i="1" lang="en-US" sz="1250" u="none" cap="none" strike="noStrike">
                <a:solidFill>
                  <a:srgbClr val="9DB6CC"/>
                </a:solidFill>
                <a:latin typeface="Calibri"/>
                <a:ea typeface="Calibri"/>
                <a:cs typeface="Calibri"/>
                <a:sym typeface="Calibri"/>
              </a:rPr>
              <a:t>Run 2: idempotency fail-open is fixed, so S10 now passes on all three — no measurement caveats remain.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6314F"/>
        </a:solidFill>
      </p:bgPr>
    </p:bg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29"/>
          <p:cNvSpPr/>
          <p:nvPr/>
        </p:nvSpPr>
        <p:spPr>
          <a:xfrm>
            <a:off x="-2011680" y="4114800"/>
            <a:ext cx="5120640" cy="5120640"/>
          </a:xfrm>
          <a:prstGeom prst="ellipse">
            <a:avLst/>
          </a:prstGeom>
          <a:solidFill>
            <a:srgbClr val="0A4F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9" name="Google Shape;789;p29"/>
          <p:cNvSpPr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FD3C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8FD3CF"/>
                </a:solidFill>
                <a:latin typeface="Calibri"/>
                <a:ea typeface="Calibri"/>
                <a:cs typeface="Calibri"/>
                <a:sym typeface="Calibri"/>
              </a:rPr>
              <a:t>RECOMMENDATION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0" name="Google Shape;790;p29"/>
          <p:cNvSpPr/>
          <p:nvPr/>
        </p:nvSpPr>
        <p:spPr>
          <a:xfrm>
            <a:off x="822960" y="1078992"/>
            <a:ext cx="106070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Bookman Old Style"/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Route workloads by shape, not by a single winner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1" name="Google Shape;791;p29"/>
          <p:cNvSpPr/>
          <p:nvPr/>
        </p:nvSpPr>
        <p:spPr>
          <a:xfrm>
            <a:off x="822960" y="1965960"/>
            <a:ext cx="3337560" cy="2788920"/>
          </a:xfrm>
          <a:prstGeom prst="roundRect">
            <a:avLst>
              <a:gd fmla="val 3279" name="adj"/>
            </a:avLst>
          </a:prstGeom>
          <a:solidFill>
            <a:srgbClr val="16344F"/>
          </a:solidFill>
          <a:ln cap="flat" cmpd="sng" w="19050">
            <a:solidFill>
              <a:srgbClr val="43479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2" name="Google Shape;792;p29"/>
          <p:cNvSpPr/>
          <p:nvPr/>
        </p:nvSpPr>
        <p:spPr>
          <a:xfrm>
            <a:off x="1051560" y="2121408"/>
            <a:ext cx="29260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EB1E6"/>
              </a:buClr>
              <a:buSzPts val="1650"/>
              <a:buFont typeface="Bookman Old Style"/>
              <a:buNone/>
            </a:pPr>
            <a:r>
              <a:rPr b="1" i="0" lang="en-US" sz="1650" u="none" cap="none" strike="noStrike">
                <a:solidFill>
                  <a:srgbClr val="AEB1E6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Keep Kafka for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3" name="Google Shape;793;p29"/>
          <p:cNvSpPr/>
          <p:nvPr/>
        </p:nvSpPr>
        <p:spPr>
          <a:xfrm>
            <a:off x="1078992" y="2606040"/>
            <a:ext cx="2971800" cy="20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52400" lvl="0" marL="152400" marR="0" rtl="0" algn="l">
              <a:spcBef>
                <a:spcPts val="0"/>
              </a:spcBef>
              <a:spcAft>
                <a:spcPts val="0"/>
              </a:spcAft>
              <a:buClr>
                <a:srgbClr val="DCE6EE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DCE6EE"/>
                </a:solidFill>
                <a:latin typeface="Calibri"/>
                <a:ea typeface="Calibri"/>
                <a:cs typeface="Calibri"/>
                <a:sym typeface="Calibri"/>
              </a:rPr>
              <a:t>High-throughput streaming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52400" lvl="0" marL="152400" marR="0" rtl="0" algn="l">
              <a:spcBef>
                <a:spcPts val="600"/>
              </a:spcBef>
              <a:spcAft>
                <a:spcPts val="0"/>
              </a:spcAft>
              <a:buClr>
                <a:srgbClr val="DCE6EE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DCE6EE"/>
                </a:solidFill>
                <a:latin typeface="Calibri"/>
                <a:ea typeface="Calibri"/>
                <a:cs typeface="Calibri"/>
                <a:sym typeface="Calibri"/>
              </a:rPr>
              <a:t>Partitioned ordering at scale (S12)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52400" lvl="0" marL="152400" marR="0" rtl="0" algn="l">
              <a:spcBef>
                <a:spcPts val="600"/>
              </a:spcBef>
              <a:spcAft>
                <a:spcPts val="0"/>
              </a:spcAft>
              <a:buClr>
                <a:srgbClr val="DCE6EE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DCE6EE"/>
                </a:solidFill>
                <a:latin typeface="Calibri"/>
                <a:ea typeface="Calibri"/>
                <a:cs typeface="Calibri"/>
                <a:sym typeface="Calibri"/>
              </a:rPr>
              <a:t>Durable-offset subscriptions (S17)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52400" lvl="0" marL="152400" marR="0" rtl="0" algn="l">
              <a:spcBef>
                <a:spcPts val="600"/>
              </a:spcBef>
              <a:spcAft>
                <a:spcPts val="0"/>
              </a:spcAft>
              <a:buClr>
                <a:srgbClr val="DCE6EE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DCE6EE"/>
                </a:solidFill>
                <a:latin typeface="Calibri"/>
                <a:ea typeface="Calibri"/>
                <a:cs typeface="Calibri"/>
                <a:sym typeface="Calibri"/>
              </a:rPr>
              <a:t>Full-history replay (S19)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4" name="Google Shape;794;p29"/>
          <p:cNvSpPr/>
          <p:nvPr/>
        </p:nvSpPr>
        <p:spPr>
          <a:xfrm>
            <a:off x="4389120" y="1965960"/>
            <a:ext cx="3337560" cy="2788920"/>
          </a:xfrm>
          <a:prstGeom prst="roundRect">
            <a:avLst>
              <a:gd fmla="val 3279" name="adj"/>
            </a:avLst>
          </a:prstGeom>
          <a:solidFill>
            <a:srgbClr val="16344F"/>
          </a:solidFill>
          <a:ln cap="flat" cmpd="sng" w="19050">
            <a:solidFill>
              <a:srgbClr val="0F6E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5" name="Google Shape;795;p29"/>
          <p:cNvSpPr/>
          <p:nvPr/>
        </p:nvSpPr>
        <p:spPr>
          <a:xfrm>
            <a:off x="4617720" y="2121408"/>
            <a:ext cx="29260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FD3CF"/>
              </a:buClr>
              <a:buSzPts val="1650"/>
              <a:buFont typeface="Bookman Old Style"/>
              <a:buNone/>
            </a:pPr>
            <a:r>
              <a:rPr b="1" i="0" lang="en-US" sz="1650" u="none" cap="none" strike="noStrike">
                <a:solidFill>
                  <a:srgbClr val="8FD3C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Use Artemis for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6" name="Google Shape;796;p29"/>
          <p:cNvSpPr/>
          <p:nvPr/>
        </p:nvSpPr>
        <p:spPr>
          <a:xfrm>
            <a:off x="4645152" y="2606040"/>
            <a:ext cx="2971800" cy="20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52400" lvl="0" marL="152400" marR="0" rtl="0" algn="l">
              <a:spcBef>
                <a:spcPts val="0"/>
              </a:spcBef>
              <a:spcAft>
                <a:spcPts val="0"/>
              </a:spcAft>
              <a:buClr>
                <a:srgbClr val="DCE6EE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DCE6EE"/>
                </a:solidFill>
                <a:latin typeface="Calibri"/>
                <a:ea typeface="Calibri"/>
                <a:cs typeface="Calibri"/>
                <a:sym typeface="Calibri"/>
              </a:rPr>
              <a:t>Scheduled + cancellable work (S2–S4)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52400" lvl="0" marL="152400" marR="0" rtl="0" algn="l">
              <a:spcBef>
                <a:spcPts val="600"/>
              </a:spcBef>
              <a:spcAft>
                <a:spcPts val="0"/>
              </a:spcAft>
              <a:buClr>
                <a:srgbClr val="DCE6EE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DCE6EE"/>
                </a:solidFill>
                <a:latin typeface="Calibri"/>
                <a:ea typeface="Calibri"/>
                <a:cs typeface="Calibri"/>
                <a:sym typeface="Calibri"/>
              </a:rPr>
              <a:t>Dead-letter, priority, per-msg TTL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52400" lvl="0" marL="152400" marR="0" rtl="0" algn="l">
              <a:spcBef>
                <a:spcPts val="600"/>
              </a:spcBef>
              <a:spcAft>
                <a:spcPts val="0"/>
              </a:spcAft>
              <a:buClr>
                <a:srgbClr val="DCE6EE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DCE6EE"/>
                </a:solidFill>
                <a:latin typeface="Calibri"/>
                <a:ea typeface="Calibri"/>
                <a:cs typeface="Calibri"/>
                <a:sym typeface="Calibri"/>
              </a:rPr>
              <a:t>Broker-native dedup (S13)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52400" lvl="0" marL="152400" marR="0" rtl="0" algn="l">
              <a:spcBef>
                <a:spcPts val="600"/>
              </a:spcBef>
              <a:spcAft>
                <a:spcPts val="0"/>
              </a:spcAft>
              <a:buClr>
                <a:srgbClr val="DCE6EE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DCE6EE"/>
                </a:solidFill>
                <a:latin typeface="Calibri"/>
                <a:ea typeface="Calibri"/>
                <a:cs typeface="Calibri"/>
                <a:sym typeface="Calibri"/>
              </a:rPr>
              <a:t>Single-active failover (S18)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7" name="Google Shape;797;p29"/>
          <p:cNvSpPr/>
          <p:nvPr/>
        </p:nvSpPr>
        <p:spPr>
          <a:xfrm>
            <a:off x="7955280" y="1965960"/>
            <a:ext cx="3337560" cy="2788920"/>
          </a:xfrm>
          <a:prstGeom prst="roundRect">
            <a:avLst>
              <a:gd fmla="val 3279" name="adj"/>
            </a:avLst>
          </a:prstGeom>
          <a:solidFill>
            <a:srgbClr val="16344F"/>
          </a:solidFill>
          <a:ln cap="flat" cmpd="sng" w="19050">
            <a:solidFill>
              <a:srgbClr val="C061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8" name="Google Shape;798;p29"/>
          <p:cNvSpPr/>
          <p:nvPr/>
        </p:nvSpPr>
        <p:spPr>
          <a:xfrm>
            <a:off x="8183880" y="2121408"/>
            <a:ext cx="29260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7B58C"/>
              </a:buClr>
              <a:buSzPts val="1650"/>
              <a:buFont typeface="Bookman Old Style"/>
              <a:buNone/>
            </a:pPr>
            <a:r>
              <a:rPr b="1" i="0" lang="en-US" sz="1650" u="none" cap="none" strike="noStrike">
                <a:solidFill>
                  <a:srgbClr val="E7B58C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RabbitMQ if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9" name="Google Shape;799;p29"/>
          <p:cNvSpPr/>
          <p:nvPr/>
        </p:nvSpPr>
        <p:spPr>
          <a:xfrm>
            <a:off x="8211312" y="2606040"/>
            <a:ext cx="2971800" cy="20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52400" lvl="0" marL="152400" marR="0" rtl="0" algn="l">
              <a:spcBef>
                <a:spcPts val="0"/>
              </a:spcBef>
              <a:spcAft>
                <a:spcPts val="0"/>
              </a:spcAft>
              <a:buClr>
                <a:srgbClr val="DCE6EE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DCE6EE"/>
                </a:solidFill>
                <a:latin typeface="Calibri"/>
                <a:ea typeface="Calibri"/>
                <a:cs typeface="Calibri"/>
                <a:sym typeface="Calibri"/>
              </a:rPr>
              <a:t>You also need replay in one broker (S19)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52400" lvl="0" marL="152400" marR="0" rtl="0" algn="l">
              <a:spcBef>
                <a:spcPts val="600"/>
              </a:spcBef>
              <a:spcAft>
                <a:spcPts val="0"/>
              </a:spcAft>
              <a:buClr>
                <a:srgbClr val="DCE6EE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DCE6EE"/>
                </a:solidFill>
                <a:latin typeface="Calibri"/>
                <a:ea typeface="Calibri"/>
                <a:cs typeface="Calibri"/>
                <a:sym typeface="Calibri"/>
              </a:rPr>
              <a:t>You accept no scheduled cancel/list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52400" lvl="0" marL="152400" marR="0" rtl="0" algn="l">
              <a:spcBef>
                <a:spcPts val="600"/>
              </a:spcBef>
              <a:spcAft>
                <a:spcPts val="0"/>
              </a:spcAft>
              <a:buClr>
                <a:srgbClr val="DCE6EE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DCE6EE"/>
                </a:solidFill>
                <a:latin typeface="Calibri"/>
                <a:ea typeface="Calibri"/>
                <a:cs typeface="Calibri"/>
                <a:sym typeface="Calibri"/>
              </a:rPr>
              <a:t>App-level idempotency instead of dedup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52400" lvl="0" marL="152400" marR="0" rtl="0" algn="l">
              <a:spcBef>
                <a:spcPts val="600"/>
              </a:spcBef>
              <a:spcAft>
                <a:spcPts val="0"/>
              </a:spcAft>
              <a:buClr>
                <a:srgbClr val="DCE6EE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DCE6EE"/>
                </a:solidFill>
                <a:latin typeface="Calibri"/>
                <a:ea typeface="Calibri"/>
                <a:cs typeface="Calibri"/>
                <a:sym typeface="Calibri"/>
              </a:rPr>
              <a:t>Note: scheduling = archived plugin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0" name="Google Shape;800;p29"/>
          <p:cNvSpPr/>
          <p:nvPr/>
        </p:nvSpPr>
        <p:spPr>
          <a:xfrm>
            <a:off x="822960" y="4956048"/>
            <a:ext cx="10652760" cy="960120"/>
          </a:xfrm>
          <a:prstGeom prst="roundRect">
            <a:avLst>
              <a:gd fmla="val 9524" name="adj"/>
            </a:avLst>
          </a:prstGeom>
          <a:solidFill>
            <a:srgbClr val="1F406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1" name="Google Shape;801;p29"/>
          <p:cNvSpPr/>
          <p:nvPr/>
        </p:nvSpPr>
        <p:spPr>
          <a:xfrm>
            <a:off x="1097280" y="4956048"/>
            <a:ext cx="10149840" cy="960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For the Azure Service Bus scheduled-messaging replacement specifically: </a:t>
            </a:r>
            <a:r>
              <a:rPr b="1" i="0" lang="en-US" sz="1400" u="none" cap="none" strike="noStrike">
                <a:solidFill>
                  <a:srgbClr val="8FD3CF"/>
                </a:solidFill>
                <a:latin typeface="Calibri"/>
                <a:ea typeface="Calibri"/>
                <a:cs typeface="Calibri"/>
                <a:sym typeface="Calibri"/>
              </a:rPr>
              <a:t>Artemis</a:t>
            </a:r>
            <a:r>
              <a:rPr b="0" i="0" lang="en-US" sz="1400" u="none" cap="none" strike="noStrike">
                <a:solidFill>
                  <a:srgbClr val="DCE6EE"/>
                </a:solidFill>
                <a:latin typeface="Calibri"/>
                <a:ea typeface="Calibri"/>
                <a:cs typeface="Calibri"/>
                <a:sym typeface="Calibri"/>
              </a:rPr>
              <a:t> — the only broker that passed scheduling + cancel + list (S2–S4) and native dedup (S13).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2" name="Google Shape;802;p29"/>
          <p:cNvSpPr/>
          <p:nvPr/>
        </p:nvSpPr>
        <p:spPr>
          <a:xfrm>
            <a:off x="822960" y="6053328"/>
            <a:ext cx="10607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DB6CC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9DB6CC"/>
                </a:solidFill>
                <a:latin typeface="Calibri"/>
                <a:ea typeface="Calibri"/>
                <a:cs typeface="Calibri"/>
                <a:sym typeface="Calibri"/>
              </a:rPr>
              <a:t>Caveats: Kafka consumer-group rebalance costs seconds · idempotency fail-open (S10) now passes on all three · ASB (appendix) is reference-only, not measured.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07" name="Shape 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" name="Google Shape;808;p3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314F"/>
              </a:buClr>
              <a:buSzPts val="2600"/>
              <a:buFont typeface="Bookman Old Style"/>
              <a:buNone/>
            </a:pPr>
            <a:r>
              <a:rPr b="1" i="0" lang="en-US" sz="2600" u="none" cap="none" strike="noStrike">
                <a:solidFill>
                  <a:srgbClr val="16314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Why the adapters are hand-rolled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9" name="Google Shape;809;p30"/>
          <p:cNvSpPr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670"/>
              </a:buClr>
              <a:buSzPts val="1450"/>
              <a:buFont typeface="Calibri"/>
              <a:buNone/>
            </a:pPr>
            <a:r>
              <a:rPr b="0" i="1" lang="en-US" sz="14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We evaluated the two leading .NET messaging frameworks as the foundation — and rejected both for this requirement.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810" name="Google Shape;810;p30"/>
          <p:cNvGraphicFramePr/>
          <p:nvPr/>
        </p:nvGraphicFramePr>
        <p:xfrm>
          <a:off x="548640" y="169164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{1150A3C2-1550-49CB-926A-73FA1EEA900E}</a:tableStyleId>
              </a:tblPr>
              <a:tblGrid>
                <a:gridCol w="2286000"/>
                <a:gridCol w="2423150"/>
                <a:gridCol w="3246125"/>
                <a:gridCol w="1783075"/>
                <a:gridCol w="1353300"/>
              </a:tblGrid>
              <a:tr h="6583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50"/>
                        <a:buFont typeface="Calibri"/>
                        <a:buNone/>
                      </a:pPr>
                      <a:r>
                        <a:rPr b="1" lang="en-US" sz="11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Framework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8100" marB="38100" marR="88900" marL="889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14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50"/>
                        <a:buFont typeface="Calibri"/>
                        <a:buNone/>
                      </a:pPr>
                      <a:r>
                        <a:rPr b="1" lang="en-US" sz="11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Targets Artemis?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8100" marB="38100" marR="88900" marL="889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14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50"/>
                        <a:buFont typeface="Calibri"/>
                        <a:buNone/>
                      </a:pPr>
                      <a:r>
                        <a:rPr b="1" lang="en-US" sz="11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Broker-native scheduling on Artemis?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8100" marB="38100" marR="88900" marL="889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14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50"/>
                        <a:buFont typeface="Calibri"/>
                        <a:buNone/>
                      </a:pPr>
                      <a:r>
                        <a:rPr b="1" lang="en-US" sz="11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License (mid-2026)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8100" marB="38100" marR="88900" marL="889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14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50"/>
                        <a:buFont typeface="Calibri"/>
                        <a:buNone/>
                      </a:pPr>
                      <a:r>
                        <a:rPr b="1" lang="en-US" sz="11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Verdict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8100" marB="38100" marR="88900" marL="889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14F"/>
                    </a:solidFill>
                  </a:tcPr>
                </a:tc>
              </a:tr>
              <a:tr h="6583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314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6314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Wolverine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8100" marB="38100" marR="88900" marL="889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392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C039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✗  no Artemis / AMQP-1.0 transport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8100" marB="38100" marR="88900" marL="889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E2D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B667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5B667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  can't reach Artemis at all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8100" marB="38100" marR="88900" marL="889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3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F29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OSS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8100" marB="38100" marR="88900" marL="889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392B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C039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REJECTED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8100" marB="38100" marR="88900" marL="889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E2DE"/>
                    </a:solidFill>
                  </a:tcPr>
                </a:tc>
              </a:tr>
              <a:tr h="6583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314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6314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MassTransit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8100" marB="38100" marR="88900" marL="889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8A6A1E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8A6A1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⚠  via ActiveMQ transport (Artemis-compat)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8100" marB="38100" marR="88900" marL="889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BF1D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392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C039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✗  scheduler sets an ActiveMQ-Classic header Artemis ignores → fires immediately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8100" marB="38100" marR="88900" marL="889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E2D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3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1F29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v8 OSS (EOL 2026) · v9 commercial, no ActiveMQ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8100" marB="38100" marR="88900" marL="889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392B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C039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REJECTED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8100" marB="38100" marR="88900" marL="889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E2DE"/>
                    </a:solidFill>
                  </a:tcPr>
                </a:tc>
              </a:tr>
              <a:tr h="6583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6E6E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F6E6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Hand-rolled IMessageScheduler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8100" marB="38100" marR="88900" marL="889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46A47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46A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✓  AMQP 1.0 (rhea / AMQPNetLite)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8100" marB="38100" marR="88900" marL="889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46A47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46A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✓  x-opt-delivery-time — verified live (S2–S4)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8100" marB="38100" marR="88900" marL="889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3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F29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OSS, no dependency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8100" marB="38100" marR="88900" marL="889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46A47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46A4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CHOSEN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8100" marB="38100" marR="88900" marL="889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6F4EC"/>
                    </a:solidFill>
                  </a:tcPr>
                </a:tc>
              </a:tr>
            </a:tbl>
          </a:graphicData>
        </a:graphic>
      </p:graphicFrame>
      <p:sp>
        <p:nvSpPr>
          <p:cNvPr id="811" name="Google Shape;811;p30"/>
          <p:cNvSpPr/>
          <p:nvPr/>
        </p:nvSpPr>
        <p:spPr>
          <a:xfrm>
            <a:off x="548640" y="4526280"/>
            <a:ext cx="11091672" cy="1371600"/>
          </a:xfrm>
          <a:prstGeom prst="roundRect">
            <a:avLst>
              <a:gd fmla="val 6667" name="adj"/>
            </a:avLst>
          </a:prstGeom>
          <a:solidFill>
            <a:srgbClr val="EDF2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2" name="Google Shape;812;p30"/>
          <p:cNvSpPr/>
          <p:nvPr/>
        </p:nvSpPr>
        <p:spPr>
          <a:xfrm>
            <a:off x="822960" y="4800600"/>
            <a:ext cx="566928" cy="566928"/>
          </a:xfrm>
          <a:prstGeom prst="ellipse">
            <a:avLst/>
          </a:prstGeom>
          <a:solidFill>
            <a:srgbClr val="1631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813" name="Google Shape;813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6031" y="4953671"/>
            <a:ext cx="260787" cy="260787"/>
          </a:xfrm>
          <a:prstGeom prst="rect">
            <a:avLst/>
          </a:prstGeom>
          <a:noFill/>
          <a:ln>
            <a:noFill/>
          </a:ln>
        </p:spPr>
      </p:pic>
      <p:sp>
        <p:nvSpPr>
          <p:cNvPr id="814" name="Google Shape;814;p30"/>
          <p:cNvSpPr/>
          <p:nvPr/>
        </p:nvSpPr>
        <p:spPr>
          <a:xfrm>
            <a:off x="1600200" y="4526280"/>
            <a:ext cx="978408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16314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6314F"/>
                </a:solidFill>
                <a:latin typeface="Calibri"/>
                <a:ea typeface="Calibri"/>
                <a:cs typeface="Calibri"/>
                <a:sym typeface="Calibri"/>
              </a:rPr>
              <a:t>The deciding factor.  </a:t>
            </a:r>
            <a:r>
              <a:rPr b="0" i="0" lang="en-US" sz="125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MassTransit's Artemis scheduler sets </a:t>
            </a:r>
            <a:r>
              <a:rPr b="1" i="0" lang="en-US" sz="1250" u="none" cap="none" strike="noStrike">
                <a:solidFill>
                  <a:srgbClr val="43479B"/>
                </a:solidFill>
                <a:latin typeface="Consolas"/>
                <a:ea typeface="Consolas"/>
                <a:cs typeface="Consolas"/>
                <a:sym typeface="Consolas"/>
              </a:rPr>
              <a:t>AMQ_SCHEDULED_DELAY</a:t>
            </a:r>
            <a:r>
              <a:rPr b="0" i="0" lang="en-US" sz="125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 — an ActiveMQ-Classic (5.x) header that Artemis does not implement — so MassTransit-scheduled messages on Artemis are delivered immediately, not deferred (issue #3213). Both frameworks otherwise push scheduling back into the application plus a database; the hand-rolled seam schedules </a:t>
            </a:r>
            <a:r>
              <a:rPr b="1" i="0" lang="en-US" sz="1250" u="none" cap="none" strike="noStrike">
                <a:solidFill>
                  <a:srgbClr val="16314F"/>
                </a:solidFill>
                <a:latin typeface="Calibri"/>
                <a:ea typeface="Calibri"/>
                <a:cs typeface="Calibri"/>
                <a:sym typeface="Calibri"/>
              </a:rPr>
              <a:t>at the broker</a:t>
            </a:r>
            <a:r>
              <a:rPr b="0" i="0" lang="en-US" sz="1250" u="none" cap="none" strike="noStrike">
                <a:solidFill>
                  <a:srgbClr val="1F2933"/>
                </a:solidFill>
                <a:latin typeface="Calibri"/>
                <a:ea typeface="Calibri"/>
                <a:cs typeface="Calibri"/>
                <a:sym typeface="Calibri"/>
              </a:rPr>
              <a:t>, which is the entire point of replacing Azure Service Bus scheduled messaging.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5" name="Google Shape;815;p30"/>
          <p:cNvSpPr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670"/>
              </a:buClr>
              <a:buSzPts val="1150"/>
              <a:buFont typeface="Calibri"/>
              <a:buNone/>
            </a:pPr>
            <a:r>
              <a:rPr b="0" i="1" lang="en-US" sz="1150" u="none" cap="none" strike="noStrike">
                <a:solidFill>
                  <a:srgbClr val="5B6670"/>
                </a:solidFill>
                <a:latin typeface="Calibri"/>
                <a:ea typeface="Calibri"/>
                <a:cs typeface="Calibri"/>
                <a:sym typeface="Calibri"/>
              </a:rPr>
              <a:t>Scheduling demonstrated end-to-end in both TypeScript and .NET, against both brokers, with no paid or end-of-life dependency.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6314F"/>
        </a:solidFill>
      </p:bgPr>
    </p:bg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p31"/>
          <p:cNvSpPr/>
          <p:nvPr/>
        </p:nvSpPr>
        <p:spPr>
          <a:xfrm>
            <a:off x="9418320" y="-1828800"/>
            <a:ext cx="4937760" cy="4937760"/>
          </a:xfrm>
          <a:prstGeom prst="ellipse">
            <a:avLst/>
          </a:prstGeom>
          <a:solidFill>
            <a:srgbClr val="1B3A5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2" name="Google Shape;822;p31"/>
          <p:cNvSpPr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FD3C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8FD3CF"/>
                </a:solidFill>
                <a:latin typeface="Calibri"/>
                <a:ea typeface="Calibri"/>
                <a:cs typeface="Calibri"/>
                <a:sym typeface="Calibri"/>
              </a:rPr>
              <a:t>SUGGESTED MIGRATION ROUTE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3" name="Google Shape;823;p31"/>
          <p:cNvSpPr/>
          <p:nvPr/>
        </p:nvSpPr>
        <p:spPr>
          <a:xfrm>
            <a:off x="822960" y="987552"/>
            <a:ext cx="106070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Bookman Old Style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One seam, four steps, reversible at every stage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4" name="Google Shape;824;p31"/>
          <p:cNvSpPr/>
          <p:nvPr/>
        </p:nvSpPr>
        <p:spPr>
          <a:xfrm>
            <a:off x="822960" y="1828800"/>
            <a:ext cx="2670048" cy="2697480"/>
          </a:xfrm>
          <a:prstGeom prst="roundRect">
            <a:avLst>
              <a:gd fmla="val 3425" name="adj"/>
            </a:avLst>
          </a:prstGeom>
          <a:solidFill>
            <a:srgbClr val="16344F"/>
          </a:solidFill>
          <a:ln cap="flat" cmpd="sng" w="12700">
            <a:solidFill>
              <a:srgbClr val="2C52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5" name="Google Shape;825;p31"/>
          <p:cNvSpPr/>
          <p:nvPr/>
        </p:nvSpPr>
        <p:spPr>
          <a:xfrm>
            <a:off x="1042416" y="2029968"/>
            <a:ext cx="548640" cy="548640"/>
          </a:xfrm>
          <a:prstGeom prst="ellipse">
            <a:avLst/>
          </a:prstGeom>
          <a:solidFill>
            <a:srgbClr val="0A4F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826" name="Google Shape;826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90549" y="2178101"/>
            <a:ext cx="252374" cy="252374"/>
          </a:xfrm>
          <a:prstGeom prst="rect">
            <a:avLst/>
          </a:prstGeom>
          <a:noFill/>
          <a:ln>
            <a:noFill/>
          </a:ln>
        </p:spPr>
      </p:pic>
      <p:sp>
        <p:nvSpPr>
          <p:cNvPr id="827" name="Google Shape;827;p31"/>
          <p:cNvSpPr/>
          <p:nvPr/>
        </p:nvSpPr>
        <p:spPr>
          <a:xfrm>
            <a:off x="2779776" y="2029968"/>
            <a:ext cx="493776" cy="493776"/>
          </a:xfrm>
          <a:prstGeom prst="ellipse">
            <a:avLst/>
          </a:prstGeom>
          <a:solidFill>
            <a:srgbClr val="0F6E6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8" name="Google Shape;828;p31"/>
          <p:cNvSpPr/>
          <p:nvPr/>
        </p:nvSpPr>
        <p:spPr>
          <a:xfrm>
            <a:off x="2779776" y="2029968"/>
            <a:ext cx="493776" cy="493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Bookman Old Style"/>
              <a:buNone/>
            </a:pPr>
            <a:r>
              <a:rPr b="1" i="0" lang="en-US" sz="1900" u="none" cap="none" strike="noStrik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1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9" name="Google Shape;829;p31"/>
          <p:cNvSpPr/>
          <p:nvPr/>
        </p:nvSpPr>
        <p:spPr>
          <a:xfrm>
            <a:off x="1024128" y="2697480"/>
            <a:ext cx="2267712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FD3CF"/>
              </a:buClr>
              <a:buSzPts val="1450"/>
              <a:buFont typeface="Bookman Old Style"/>
              <a:buNone/>
            </a:pPr>
            <a:r>
              <a:rPr b="1" i="0" lang="en-US" sz="1450" u="none" cap="none" strike="noStrike">
                <a:solidFill>
                  <a:srgbClr val="8FD3C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Introduce the seam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0" name="Google Shape;830;p31"/>
          <p:cNvSpPr/>
          <p:nvPr/>
        </p:nvSpPr>
        <p:spPr>
          <a:xfrm>
            <a:off x="1024128" y="3200400"/>
            <a:ext cx="2267712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D5E2E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D5E2EC"/>
                </a:solidFill>
                <a:latin typeface="Calibri"/>
                <a:ea typeface="Calibri"/>
                <a:cs typeface="Calibri"/>
                <a:sym typeface="Calibri"/>
              </a:rPr>
              <a:t>Two interfaces — IMessageScheduler + IMessageBus — in a shared package. Abstractions only; no existing file changes yet.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1" name="Google Shape;831;p31"/>
          <p:cNvSpPr/>
          <p:nvPr/>
        </p:nvSpPr>
        <p:spPr>
          <a:xfrm>
            <a:off x="3447288" y="1828800"/>
            <a:ext cx="256032" cy="2697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E7E9C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5E7E9C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2" name="Google Shape;832;p31"/>
          <p:cNvSpPr/>
          <p:nvPr/>
        </p:nvSpPr>
        <p:spPr>
          <a:xfrm>
            <a:off x="3657600" y="1828800"/>
            <a:ext cx="2670048" cy="2697480"/>
          </a:xfrm>
          <a:prstGeom prst="roundRect">
            <a:avLst>
              <a:gd fmla="val 3425" name="adj"/>
            </a:avLst>
          </a:prstGeom>
          <a:solidFill>
            <a:srgbClr val="16344F"/>
          </a:solidFill>
          <a:ln cap="flat" cmpd="sng" w="12700">
            <a:solidFill>
              <a:srgbClr val="2C52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3" name="Google Shape;833;p31"/>
          <p:cNvSpPr/>
          <p:nvPr/>
        </p:nvSpPr>
        <p:spPr>
          <a:xfrm>
            <a:off x="3877056" y="2029968"/>
            <a:ext cx="548640" cy="548640"/>
          </a:xfrm>
          <a:prstGeom prst="ellipse">
            <a:avLst/>
          </a:prstGeom>
          <a:solidFill>
            <a:srgbClr val="0A4F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834" name="Google Shape;834;p3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025189" y="2178101"/>
            <a:ext cx="252374" cy="252374"/>
          </a:xfrm>
          <a:prstGeom prst="rect">
            <a:avLst/>
          </a:prstGeom>
          <a:noFill/>
          <a:ln>
            <a:noFill/>
          </a:ln>
        </p:spPr>
      </p:pic>
      <p:sp>
        <p:nvSpPr>
          <p:cNvPr id="835" name="Google Shape;835;p31"/>
          <p:cNvSpPr/>
          <p:nvPr/>
        </p:nvSpPr>
        <p:spPr>
          <a:xfrm>
            <a:off x="5614416" y="2029968"/>
            <a:ext cx="493776" cy="493776"/>
          </a:xfrm>
          <a:prstGeom prst="ellipse">
            <a:avLst/>
          </a:prstGeom>
          <a:solidFill>
            <a:srgbClr val="0F6E6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6" name="Google Shape;836;p31"/>
          <p:cNvSpPr/>
          <p:nvPr/>
        </p:nvSpPr>
        <p:spPr>
          <a:xfrm>
            <a:off x="5614416" y="2029968"/>
            <a:ext cx="493776" cy="493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Bookman Old Style"/>
              <a:buNone/>
            </a:pPr>
            <a:r>
              <a:rPr b="1" i="0" lang="en-US" sz="1900" u="none" cap="none" strike="noStrik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2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7" name="Google Shape;837;p31"/>
          <p:cNvSpPr/>
          <p:nvPr/>
        </p:nvSpPr>
        <p:spPr>
          <a:xfrm>
            <a:off x="3858768" y="2697480"/>
            <a:ext cx="2267712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FD3CF"/>
              </a:buClr>
              <a:buSzPts val="1450"/>
              <a:buFont typeface="Bookman Old Style"/>
              <a:buNone/>
            </a:pPr>
            <a:r>
              <a:rPr b="1" i="0" lang="en-US" sz="1450" u="none" cap="none" strike="noStrike">
                <a:solidFill>
                  <a:srgbClr val="8FD3C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Adaptation layer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8" name="Google Shape;838;p31"/>
          <p:cNvSpPr/>
          <p:nvPr/>
        </p:nvSpPr>
        <p:spPr>
          <a:xfrm>
            <a:off x="3858768" y="3200400"/>
            <a:ext cx="2267712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D5E2E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D5E2EC"/>
                </a:solidFill>
                <a:latin typeface="Calibri"/>
                <a:ea typeface="Calibri"/>
                <a:cs typeface="Calibri"/>
                <a:sym typeface="Calibri"/>
              </a:rPr>
              <a:t>Route existing wrappers and every direct @azure/service-bus import through the seam. ≈17 wrappers + ≈22 direct sites (treat as a floor — likely more).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9" name="Google Shape;839;p31"/>
          <p:cNvSpPr/>
          <p:nvPr/>
        </p:nvSpPr>
        <p:spPr>
          <a:xfrm>
            <a:off x="6281928" y="1828800"/>
            <a:ext cx="256032" cy="2697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E7E9C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5E7E9C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0" name="Google Shape;840;p31"/>
          <p:cNvSpPr/>
          <p:nvPr/>
        </p:nvSpPr>
        <p:spPr>
          <a:xfrm>
            <a:off x="6492240" y="1828800"/>
            <a:ext cx="2670048" cy="2697480"/>
          </a:xfrm>
          <a:prstGeom prst="roundRect">
            <a:avLst>
              <a:gd fmla="val 3425" name="adj"/>
            </a:avLst>
          </a:prstGeom>
          <a:solidFill>
            <a:srgbClr val="16344F"/>
          </a:solidFill>
          <a:ln cap="flat" cmpd="sng" w="12700">
            <a:solidFill>
              <a:srgbClr val="2C52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1" name="Google Shape;841;p31"/>
          <p:cNvSpPr/>
          <p:nvPr/>
        </p:nvSpPr>
        <p:spPr>
          <a:xfrm>
            <a:off x="6711696" y="2029968"/>
            <a:ext cx="548640" cy="548640"/>
          </a:xfrm>
          <a:prstGeom prst="ellipse">
            <a:avLst/>
          </a:prstGeom>
          <a:solidFill>
            <a:srgbClr val="0A4F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842" name="Google Shape;842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859829" y="2178101"/>
            <a:ext cx="252374" cy="252374"/>
          </a:xfrm>
          <a:prstGeom prst="rect">
            <a:avLst/>
          </a:prstGeom>
          <a:noFill/>
          <a:ln>
            <a:noFill/>
          </a:ln>
        </p:spPr>
      </p:pic>
      <p:sp>
        <p:nvSpPr>
          <p:cNvPr id="843" name="Google Shape;843;p31"/>
          <p:cNvSpPr/>
          <p:nvPr/>
        </p:nvSpPr>
        <p:spPr>
          <a:xfrm>
            <a:off x="8449056" y="2029968"/>
            <a:ext cx="493776" cy="493776"/>
          </a:xfrm>
          <a:prstGeom prst="ellipse">
            <a:avLst/>
          </a:prstGeom>
          <a:solidFill>
            <a:srgbClr val="0F6E6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4" name="Google Shape;844;p31"/>
          <p:cNvSpPr/>
          <p:nvPr/>
        </p:nvSpPr>
        <p:spPr>
          <a:xfrm>
            <a:off x="8449056" y="2029968"/>
            <a:ext cx="493776" cy="493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Bookman Old Style"/>
              <a:buNone/>
            </a:pPr>
            <a:r>
              <a:rPr b="1" i="0" lang="en-US" sz="1900" u="none" cap="none" strike="noStrik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3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5" name="Google Shape;845;p31"/>
          <p:cNvSpPr/>
          <p:nvPr/>
        </p:nvSpPr>
        <p:spPr>
          <a:xfrm>
            <a:off x="6693408" y="2697480"/>
            <a:ext cx="2267712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FD3CF"/>
              </a:buClr>
              <a:buSzPts val="1450"/>
              <a:buFont typeface="Bookman Old Style"/>
              <a:buNone/>
            </a:pPr>
            <a:r>
              <a:rPr b="1" i="0" lang="en-US" sz="1450" u="none" cap="none" strike="noStrike">
                <a:solidFill>
                  <a:srgbClr val="8FD3C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Three adapters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6" name="Google Shape;846;p31"/>
          <p:cNvSpPr/>
          <p:nvPr/>
        </p:nvSpPr>
        <p:spPr>
          <a:xfrm>
            <a:off x="6693408" y="3200400"/>
            <a:ext cx="2267712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D5E2E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D5E2EC"/>
                </a:solidFill>
                <a:latin typeface="Calibri"/>
                <a:ea typeface="Calibri"/>
                <a:cs typeface="Calibri"/>
                <a:sym typeface="Calibri"/>
              </a:rPr>
              <a:t>AsbAdapter (today's behavior), ArtemisAdapter (x-opt-delivery-time + Jolokia cancel/list), InMemoryAdapter (tests). Each declares its Capabilities.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7" name="Google Shape;847;p31"/>
          <p:cNvSpPr/>
          <p:nvPr/>
        </p:nvSpPr>
        <p:spPr>
          <a:xfrm>
            <a:off x="9116568" y="1828800"/>
            <a:ext cx="256032" cy="2697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E7E9C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5E7E9C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8" name="Google Shape;848;p31"/>
          <p:cNvSpPr/>
          <p:nvPr/>
        </p:nvSpPr>
        <p:spPr>
          <a:xfrm>
            <a:off x="9326880" y="1828800"/>
            <a:ext cx="2670048" cy="2697480"/>
          </a:xfrm>
          <a:prstGeom prst="roundRect">
            <a:avLst>
              <a:gd fmla="val 3425" name="adj"/>
            </a:avLst>
          </a:prstGeom>
          <a:solidFill>
            <a:srgbClr val="16344F"/>
          </a:solidFill>
          <a:ln cap="flat" cmpd="sng" w="12700">
            <a:solidFill>
              <a:srgbClr val="2C52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9" name="Google Shape;849;p31"/>
          <p:cNvSpPr/>
          <p:nvPr/>
        </p:nvSpPr>
        <p:spPr>
          <a:xfrm>
            <a:off x="9546336" y="2029968"/>
            <a:ext cx="548640" cy="548640"/>
          </a:xfrm>
          <a:prstGeom prst="ellipse">
            <a:avLst/>
          </a:prstGeom>
          <a:solidFill>
            <a:srgbClr val="0A4F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850" name="Google Shape;850;p3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694469" y="2178101"/>
            <a:ext cx="252374" cy="252374"/>
          </a:xfrm>
          <a:prstGeom prst="rect">
            <a:avLst/>
          </a:prstGeom>
          <a:noFill/>
          <a:ln>
            <a:noFill/>
          </a:ln>
        </p:spPr>
      </p:pic>
      <p:sp>
        <p:nvSpPr>
          <p:cNvPr id="851" name="Google Shape;851;p31"/>
          <p:cNvSpPr/>
          <p:nvPr/>
        </p:nvSpPr>
        <p:spPr>
          <a:xfrm>
            <a:off x="11283696" y="2029968"/>
            <a:ext cx="493776" cy="493776"/>
          </a:xfrm>
          <a:prstGeom prst="ellipse">
            <a:avLst/>
          </a:prstGeom>
          <a:solidFill>
            <a:srgbClr val="0F6E6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2" name="Google Shape;852;p31"/>
          <p:cNvSpPr/>
          <p:nvPr/>
        </p:nvSpPr>
        <p:spPr>
          <a:xfrm>
            <a:off x="11283696" y="2029968"/>
            <a:ext cx="493776" cy="493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Bookman Old Style"/>
              <a:buNone/>
            </a:pPr>
            <a:r>
              <a:rPr b="1" i="0" lang="en-US" sz="1900" u="none" cap="none" strike="noStrike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4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3" name="Google Shape;853;p31"/>
          <p:cNvSpPr/>
          <p:nvPr/>
        </p:nvSpPr>
        <p:spPr>
          <a:xfrm>
            <a:off x="9528048" y="2697480"/>
            <a:ext cx="2267712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FD3CF"/>
              </a:buClr>
              <a:buSzPts val="1450"/>
              <a:buFont typeface="Bookman Old Style"/>
              <a:buNone/>
            </a:pPr>
            <a:r>
              <a:rPr b="1" i="0" lang="en-US" sz="1450" u="none" cap="none" strike="noStrike">
                <a:solidFill>
                  <a:srgbClr val="8FD3C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Factory + feature flag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4" name="Google Shape;854;p31"/>
          <p:cNvSpPr/>
          <p:nvPr/>
        </p:nvSpPr>
        <p:spPr>
          <a:xfrm>
            <a:off x="9528048" y="3200400"/>
            <a:ext cx="2267712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D5E2E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D5E2EC"/>
                </a:solidFill>
                <a:latin typeface="Calibri"/>
                <a:ea typeface="Calibri"/>
                <a:cs typeface="Calibri"/>
                <a:sym typeface="Calibri"/>
              </a:rPr>
              <a:t>createMessagingAdapter() reads MESSAGING_BROKER (asb | artemis | in-memory), wrapped in the Cockatiel resilience decorator. Defaults to asb.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5" name="Google Shape;855;p31"/>
          <p:cNvSpPr/>
          <p:nvPr/>
        </p:nvSpPr>
        <p:spPr>
          <a:xfrm>
            <a:off x="822960" y="4800600"/>
            <a:ext cx="10652760" cy="914400"/>
          </a:xfrm>
          <a:prstGeom prst="roundRect">
            <a:avLst>
              <a:gd fmla="val 10000" name="adj"/>
            </a:avLst>
          </a:prstGeom>
          <a:solidFill>
            <a:srgbClr val="1F406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6" name="Google Shape;856;p31"/>
          <p:cNvSpPr/>
          <p:nvPr/>
        </p:nvSpPr>
        <p:spPr>
          <a:xfrm>
            <a:off x="1051560" y="5001768"/>
            <a:ext cx="512064" cy="512064"/>
          </a:xfrm>
          <a:prstGeom prst="ellipse">
            <a:avLst/>
          </a:prstGeom>
          <a:solidFill>
            <a:srgbClr val="0A4F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857" name="Google Shape;857;p3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189817" y="5140025"/>
            <a:ext cx="235549" cy="235549"/>
          </a:xfrm>
          <a:prstGeom prst="rect">
            <a:avLst/>
          </a:prstGeom>
          <a:noFill/>
          <a:ln>
            <a:noFill/>
          </a:ln>
        </p:spPr>
      </p:pic>
      <p:sp>
        <p:nvSpPr>
          <p:cNvPr id="858" name="Google Shape;858;p31"/>
          <p:cNvSpPr/>
          <p:nvPr/>
        </p:nvSpPr>
        <p:spPr>
          <a:xfrm>
            <a:off x="1691640" y="4800600"/>
            <a:ext cx="9601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8FD3C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8FD3CF"/>
                </a:solidFill>
                <a:latin typeface="Calibri"/>
                <a:ea typeface="Calibri"/>
                <a:cs typeface="Calibri"/>
                <a:sym typeface="Calibri"/>
              </a:rPr>
              <a:t>Cutover   </a:t>
            </a:r>
            <a:r>
              <a:rPr b="0" i="0" lang="en-US" sz="1250" u="none" cap="none" strike="noStrike">
                <a:solidFill>
                  <a:srgbClr val="DCE6EE"/>
                </a:solidFill>
                <a:latin typeface="Calibri"/>
                <a:ea typeface="Calibri"/>
                <a:cs typeface="Calibri"/>
                <a:sym typeface="Calibri"/>
              </a:rPr>
              <a:t>Deploy on </a:t>
            </a:r>
            <a:r>
              <a:rPr b="1" i="0" lang="en-US" sz="125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asb</a:t>
            </a:r>
            <a:r>
              <a:rPr b="0" i="0" lang="en-US" sz="1250" u="none" cap="none" strike="noStrike">
                <a:solidFill>
                  <a:srgbClr val="DCE6EE"/>
                </a:solidFill>
                <a:latin typeface="Calibri"/>
                <a:ea typeface="Calibri"/>
                <a:cs typeface="Calibri"/>
                <a:sym typeface="Calibri"/>
              </a:rPr>
              <a:t> (identical to today)  →  drain / backfill scheduled messages  →  flip </a:t>
            </a:r>
            <a:r>
              <a:rPr b="1" i="0" lang="en-US" sz="125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MESSAGING_BROKER=artemis</a:t>
            </a:r>
            <a:r>
              <a:rPr b="0" i="0" lang="en-US" sz="1250" u="none" cap="none" strike="noStrike">
                <a:solidFill>
                  <a:srgbClr val="DCE6EE"/>
                </a:solidFill>
                <a:latin typeface="Calibri"/>
                <a:ea typeface="Calibri"/>
                <a:cs typeface="Calibri"/>
                <a:sym typeface="Calibri"/>
              </a:rPr>
              <a:t> per service, lowest-traffic first  →  delete AsbAdapter &amp; drop the SDK.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9" name="Google Shape;859;p31"/>
          <p:cNvSpPr/>
          <p:nvPr/>
        </p:nvSpPr>
        <p:spPr>
          <a:xfrm>
            <a:off x="822960" y="5852160"/>
            <a:ext cx="10607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DB6CC"/>
              </a:buClr>
              <a:buSzPts val="1150"/>
              <a:buFont typeface="Calibri"/>
              <a:buNone/>
            </a:pPr>
            <a:r>
              <a:rPr b="0" i="1" lang="en-US" sz="1150" u="none" cap="none" strike="noStrike">
                <a:solidFill>
                  <a:srgbClr val="9DB6CC"/>
                </a:solidFill>
                <a:latin typeface="Calibri"/>
                <a:ea typeface="Calibri"/>
                <a:cs typeface="Calibri"/>
                <a:sym typeface="Calibri"/>
              </a:rPr>
              <a:t>No service contains broker-selection logic; the flag is the only switch. Every stage is reversible by flipping back to asb.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