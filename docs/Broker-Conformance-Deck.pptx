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goal: this is honest capability MAPPING across three OSS brokers, not a winner-take-all score. Production today is Kafka + Azure Service Bus; this PoC measures Artemis, RabbitMQ, and Kafka self-hosted. Walk the legend - the circle-slash means a declared, by-design gap, which is very different from a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self-declared capabilities. Artemis declares the most; Kafka declares the least because it only implements what a partitioned log does natively. The totals on the right are the measured outcome: Artemis 17 pass, RabbitMQ 15, Kafka 8 - but read the buckets, not just the pass count. Kafka's gaps are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story on one slide. Read down the columns: Artemis is all green but one by-design gap (replay). RabbitMQ is green but three honest gaps. Kafka shows its shape clearly - green where logs win, amber/red where queue/scheduler features are needed. S10 now passes everywhere; the run-1 fail-open bug is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Proves the adapter contract works at all before anything harder.  Kafka's extra latency is one-time client/topic bootstrap, not steady-state.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log-vs-scheduler boundary: Kafka has no broker timer.  Artemis is native; RabbitMQ uses the delayed-message plugin (now archived).  Both queue brokers held ~3s as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⊘ here is an honest, declared gap — not a failure.  Decisive for the Azure Service Bus 'schedule now, cancel later' workload.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Observability of deferred work — you can see what's queued for the future.  Pairs with S3: Artemis alone can both list and cancel.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Server-side selective fan-out by message type.  In Kafka you'd filter client-side or fan into per-type topics — a design choice, not a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pattern logs do well — every consumer group reads the full stream.  All three broadcast cleanly to N independent consumers.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At-least-once with no loss on crash — all three deliver.  Kafka's redelivery via offset-seek + group rebalance cost ~20s here: a real latency signal.  Only Artemis reports a precise delivery-count.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Quarantine bad messages instead of retrying forever.  Kafka's gap here also gates S11 (retry queue) — same missing primitive.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Horizontal scale-out — a strength for all three.  Kafka's split granularity is the partition, so balance is coarser than a shared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Validates the application-level idempotency wrapper, independent of the broker.  With the store: deduped to one effect. Store down: fails open and still processes once.  This was the run-1 known issue; it is resolved.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Resilient backoff retry without head-of-line blocking.  Healthy traffic kept flowing in tens of ms while the poison message backed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Per-entity ordering at scale (e.g., all events for one order).  Rabbit's consistent-hash landed both groups on one queue here — order held, distribution skewed.  Kafka does this natively via key→partition.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Protection against accidental double-publish, handled in the broker.  Kafka's idempotent producer prevents retry-dupes, not application-level duplicate 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Urgent work jumping the queue is a queue feature, not a log feature.  In Kafka, offset order is the only order; priority would need separate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Synchronous-feeling RPC over async messaging.  Watch Kafka's rebalance latency against tight request/reply budgets.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stale work automatically, per message.  Kafka retention deletes by time/size for the whole topic — not per-message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missed events across disconnects.  Kafka's durable offsets are a natural fit for this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Ordered processing with hot standby, no duplicate active workers.  The 1-partition workaround trades away the parallelism that S9/S12 rely on.  One of the two most defensible 'Kafka isn't worse, it's different'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Rebuild state / onboard new consumers from history.  Artemis is a queue: consumed messages are gone — an honest ⊘, not a break.  This is exactly why Kafka stays in the stack for streaming workloads.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reframes the pass count. Kafka isn't 'worse' - it's a different primitive. The two most defensible talking points are the S18 single-active tunable (you can get it with a 1-partition topic, but you lose parallelism) and the consumer-group latency numbers. Land the headline: pick the tool by workload shape, log vs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recommendation is workload routing, not a single broker. Kafka stays for streaming/replay (we already run it). Artemis is the pick for the broker-native queue workloads, especially the ASB scheduling replacement - it's the only one that passed S2-S4 plus S13. RabbitMQ is viable but you give up scheduled cancel/list and native dedup, and its scheduling rides the archived plugin. Close on the caveats so nobody over-reads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load-bearing implementation finding. Wolverine has no Artemis/AMQP-1.0 transport, so it can't even participate in an Artemis comparison. MassTransit can reach Artemis but its scheduler targets an ActiveMQ Classic header Artemis ignores, so scheduled sends fire immediately - the one feature we most need is broken. Plus v8 is EOL end-2026 and v9 dropped ActiveMQ and went commercial. Hand-rolling a thin IMessageScheduler seam schedules at the broker via x-opt-delivery-time, verified live, with no framework lock-in.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migration is a single seam, not a big-bang rewrite. Step 1 adds interfaces with zero behavior change. Step 2 routes existing code through them - the file counts are an estimate from the current grep, treat them as a floor. Step 3 adds the three adapters, each declaring capabilities. Step 4 is a one-env-var factory wrapped in Cockatiel. Cutover is per-service and reversible: default asb, flip to artemis lowest-traffic first, then delete the ASB adapter once 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load-bearing fact: the broker is a horizontal-scaling backplane for real-time browser push, with no presence registry. cluster.ts runs two instances over one broker; a message published on A reaches a browser on B. Each connection just opens two transient auto-delete subscriptions (user.{id}, org.{id}) - the server stores nothing about who's connected. It reuses the same topic routing we validated in S5, so SSE is a new consumer, not a new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SSE as a near-zero-marginal-cost capability of the broker we're already adopting. The first five are push-style cases the current model supports today via two delivery shapes: per-user direct and per-org broadcast. Presence (the sixth) is deliberately a later step - the model doesn't store who's online, which is exactly what keeps the web tier stateless. Greenlight the push cases now; defer presence and guaranteed-replay cases to a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Resilience here is demonstrated, not asserted - three real failure modes injected and narrated live on both brokers. (1) A consumer crash with the message un-acked: the broker redelivers to a fresh consumer in ~45-50ms, nothing lost. (2) A transient blip is absorbed by retry; a sustained outage trips the breaker OPEN to protect the broker, then HALF-OPEN probes and CLOSED on recovery - the full lifecycle, not just retry. (3) A poison message is retried then dead-lettered to an isolated DLQ so it never blocks the main queue. Be explicit about the honest difference: Artemis DLQs after 3 attempts, RabbitMQ after 4, because quorum queues dead-letter when the count exceeds the limit. Same resilience decorator (Polly v8 / cockatiel) on both, so broker choice doesn't change the fault-tolerance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852160" cy="5852160"/>
          </a:xfrm>
          <a:prstGeom prst="ellipse">
            <a:avLst/>
          </a:prstGeom>
          <a:solidFill>
            <a:srgbClr val="21496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840480"/>
            <a:ext cx="4023360" cy="4023360"/>
          </a:xfrm>
          <a:prstGeom prst="ellipse">
            <a:avLst/>
          </a:prstGeom>
          <a:solidFill>
            <a:srgbClr val="0A4F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PLATFORM POC  —  CONFORMANCE SUITE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Broker Conformance: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 scenarios, three brokers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F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ActiveMQ Artemis</a:t>
            </a:r>
            <a:pPr indent="0" marL="0">
              <a:buNone/>
            </a:pPr>
            <a:r>
              <a:rPr lang="en-US" sz="2100" dirty="0">
                <a:solidFill>
                  <a:srgbClr val="7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2100" b="1" dirty="0">
                <a:solidFill>
                  <a:srgbClr val="E7B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pPr indent="0" marL="0">
              <a:buNone/>
            </a:pPr>
            <a:r>
              <a:rPr lang="en-US" sz="2100" dirty="0">
                <a:solidFill>
                  <a:srgbClr val="7C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2100" b="1" dirty="0">
                <a:solidFill>
                  <a:srgbClr val="AEB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capability mapping — not a score race. Measured against pluggable adapters through one resilience decorator.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532120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5532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behaves as required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5532120"/>
            <a:ext cx="384048" cy="384048"/>
          </a:xfrm>
          <a:prstGeom prst="ellipse">
            <a:avLst/>
          </a:prstGeom>
          <a:solidFill>
            <a:srgbClr val="C2962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56048" y="5532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— honest, by-design gap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553212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13648" y="5532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— a real break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Capability summary (self-declared)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adapter says it can do — before we measure whether it actually does.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818120" y="1600200"/>
            <a:ext cx="3794760" cy="1280160"/>
          </a:xfrm>
          <a:prstGeom prst="roundRect">
            <a:avLst>
              <a:gd name="adj" fmla="val 7143"/>
            </a:avLst>
          </a:prstGeom>
          <a:solidFill>
            <a:srgbClr val="E9F2F1"/>
          </a:solidFill>
          <a:ln w="19050">
            <a:solidFill>
              <a:srgbClr val="0F6E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7282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21671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✓   </a:t>
            </a:r>
            <a:pPr indent="0" marL="0">
              <a:buNone/>
            </a:pPr>
            <a:r>
              <a:rPr lang="en-US" sz="2600" b="1" dirty="0">
                <a:solidFill>
                  <a:srgbClr val="C2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⊘   </a:t>
            </a:r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✗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818120" y="3017520"/>
            <a:ext cx="3794760" cy="1280160"/>
          </a:xfrm>
          <a:prstGeom prst="roundRect">
            <a:avLst>
              <a:gd name="adj" fmla="val 7143"/>
            </a:avLst>
          </a:prstGeom>
          <a:solidFill>
            <a:srgbClr val="F6ECE4"/>
          </a:solidFill>
          <a:ln w="19050">
            <a:solidFill>
              <a:srgbClr val="C061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3145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0" y="35844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✓   </a:t>
            </a:r>
            <a:pPr indent="0" marL="0">
              <a:buNone/>
            </a:pPr>
            <a:r>
              <a:rPr lang="en-US" sz="2600" b="1" dirty="0">
                <a:solidFill>
                  <a:srgbClr val="C2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⊘   </a:t>
            </a:r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✗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818120" y="4434840"/>
            <a:ext cx="3794760" cy="1280160"/>
          </a:xfrm>
          <a:prstGeom prst="roundRect">
            <a:avLst>
              <a:gd name="adj" fmla="val 7143"/>
            </a:avLst>
          </a:prstGeom>
          <a:solidFill>
            <a:srgbClr val="ECEDF6"/>
          </a:solidFill>
          <a:ln w="19050">
            <a:solidFill>
              <a:srgbClr val="4347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45628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46720" y="50017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✓   </a:t>
            </a:r>
            <a:pPr indent="0" marL="0">
              <a:buNone/>
            </a:pPr>
            <a:r>
              <a:rPr lang="en-US" sz="2600" b="1" dirty="0">
                <a:solidFill>
                  <a:srgbClr val="C2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⊘   </a:t>
            </a:r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✗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28016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RabbitMQ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6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479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AMQP 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AMQP 0.9.1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scheduling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(plugin)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scheduled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scheduled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Pub/sub (topic filter)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Dead-letter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delivery-count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Broker-native dedup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replay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groups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818120" y="5943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are measured (next slides). 'yes/no' above is what the adapter declares.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Conformance matrix — 19 scenarios × 3 brokers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   ·   ⊘ unsupported (honest, by-design gap)   ·   ✗ fail (real break)</a:t>
            </a:r>
            <a:endParaRPr lang="en-US" sz="14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057400"/>
                <a:gridCol w="4599432"/>
                <a:gridCol w="1307592"/>
                <a:gridCol w="1371600"/>
                <a:gridCol w="1252728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Artemis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RabbitMQ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6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479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send/receive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send → consume round-trip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held until a future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✓ *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2D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scheduled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Retract a scheduled message before it fires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9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9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pending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Enumerate scheduled, not-yet-delivered messages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9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9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Pub/sub (topic routing)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Routing-key filtered subscriptions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9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Fanout multicast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publish → every subscriber gets a copy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ack/nack + redelivery on crash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Poison → dead-letter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Redeliver N times, then route to a DLQ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9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Competing consumers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queue, work split fairly, no dupes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Idempotent consumer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App-level dedup + fail-open on store outage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queue (non-blocking)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Non-blocking delayed retry; healthy msgs flow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9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groups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key stays ordered, pinned to one consumer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Broker-native dedup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drops duplicate publishes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9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9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High-priority message overtakes the backlog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2D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Request/reply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replyTo + correlationId RPC over messaging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TTL → expiry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Unconsumed message expires to an expiry address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2D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Durable subscription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subscriber gets messages on reattach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active consumer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active, standby fails over, order kept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2D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replay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subscriber replays full history from offset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9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CFE6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scenarios measured  ·  run 2 (idempotency fail-open fixed)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18✓ 1⊘ 0✗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16✓ 3⊘ 0✗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6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9✓ 6⊘ 4✗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479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and RabbitMQ have zero failures; Kafka's four fails (S2, S14, S16, S18) are all log-vs-queue boundaries.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66019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06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RabbitMQ scheduling (S2) rides the now-archived delayed-message plugin plus expiration-based orchestration — it passes, but is more operationally involved than Artemis's broker-native scheduling.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Immediate send/receive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one message and receive it — the basic round-trip that proves the connection and adapter work.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57ms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immediately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59ms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immediately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283ms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immediately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pass; Kafka slightly slower (one-time client/topic setup).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Scheduled delivery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message for ~3s in the future; the broker must hold it until then, not deliver it early.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3014ms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withheld, then delivered after ~3000ms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3026ms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withheld, then delivered after ~3000ms (delayed-message plugin)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7E2DE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1271ms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delivered early (not withheld)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has no timed delivery — a record is consumable as soon as it's written.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Cancel scheduled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 scheduled-but-undelivered message before its delivery time, so it never arrives.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5043ms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message successfully cancelled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BF1D8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C2962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cancel API on this broker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BF1D8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C2962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259ms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cancel API on this broker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Artemis can retract; Rabbit's plugin and Kafka have no removal API.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 pending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broker to enumerate the scheduled messages that haven't been delivered yet.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38ms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2 pending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BF1D8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C2962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inspection API on this broker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BF1D8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C2962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132ms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inspection API on this broker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Artemis exposes pending scheduled messages.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Pub/sub (topic routing)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subscribers with filters: one wants only order.created, the other wants every order.* event.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58ms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order.created→1 sub, order.#→both (2)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143ms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order.created→1 sub, order.#→both (2)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BF1D8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C2962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topic routing on this broker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topics aren't filtered subscriptions; filtering is a consumer concern.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Fanout multicast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once and have every independent subscriber receive its own copy (broadcast).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64ms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publish → 3 subscribers each received it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62ms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publish → 3 subscribers each received it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185ms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publish → 3 subscribers each received it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pass; Kafka models fanout as one consumer group per subscriber.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Explicit 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controls settlement: ack removes a message, nack redelivers it, and a crash redelivers it too.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721ms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ack→once; nack→redelivered (count=2); crash→redelivered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774ms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ack→once; nack→redelivered (count n/a); crash→redelivered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20532ms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functionally correct; no delivery counter; ~20s rebalance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 functionally; Kafka has no per-message counter and pays ~20s rebalance.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Poison → dead-letter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that always fails is retried a few times, then moved to a dead-letter queue instead of looping forever.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57ms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dead-lettered after 3 attempts (final deliveryCount=3)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147ms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dead-lettered after 4 attempts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BF1D8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C2962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dead-letter support on this broker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has no native DLQ (would need an app-managed topic).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Competing consumers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consumers share one queue and split the work fairly, with no message handled twice.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55ms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6/4, no dupes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61ms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5/5, no dupes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5207ms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7/3, no dupes (partitions across group members)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pass; Kafka splits by partition (less even, 7/3) and pays rebalance latency.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Idempotent consumer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APP-LEVEL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delivery can deliver twice; the app must process the effect once — and stay safe (fail-open) if the dedup store is down.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493ms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no-store→×2; with-store→×1; store-down→fail-open, ×1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488ms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no-store→×2; with-store→×1; store-down→fail-open, ×1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25499ms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no-store→×2; with-store→×1; store-down→fail-open, ×1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passes on all three — the earlier shared fail-open bug is fixed.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Retry queue (non-blocking)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poison message backs off in a retry queue and is eventually dead-lettered, while healthy messages keep flowing past it.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1315ms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ok in 23ms; poison→DLQ after 6 attempts; main unblocked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1384ms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ok in 72ms; poison→DLQ after 6 attempts; main unblocked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BF1D8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C2962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dead-letter support (gated by the same gap as S8)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queue brokers separate poison from healthy flow; Kafka can't (no DLQ).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Message groups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sharing a group key stay in order and all go to the same consumer, even with multiple consumers running.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56ms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per-group order preserved, pinned to one consumer (split 12/6)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139ms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per-group order preserved (split 0/18 — hash routed all to one)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5202ms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per-group order preserved, pinned to one consumer (split 12/6)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 — Kafka's native strength (key→partition). Rabbit's hash skewed to 0/18.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Broker-native dedup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producer sends the same message twice; the broker itself drops the duplicate.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862ms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dropped by the broker (1 delivery)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BF1D8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C2962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broker-native producer dedup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BF1D8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C2962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broker-native dedup (idempotent producer ≠ message dedup)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Artemis dedups at the broker; the others need app-level idempotency (cf. S10).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S14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Priority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high-priority message sent after a backlog of low-priority ones jumps ahead and is delivered first.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104ms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priority:9 overtook the backlog (arrived at index 1)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621ms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priority:9 overtook the backlog (arrived at index 1)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7E2DE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696ms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arrived at index 5 — no priority concept; FIFO per partition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has no priority — order is partition-offset order, full stop.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S15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Request/reply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Request/reply: the responder echoes back to a reply address, matched by a correlation id.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55ms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reply 'echo:ping' (correlationId matched)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75ms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reply 'echo:ping' (correlationId matched)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317ms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reply 'echo:ping' (correlationId via headers)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 — only needs replyTo + correlationId, which all three carry.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S16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TTL → expiry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unconsumed message with a short time-to-live expires and is routed to an expiry address.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658ms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message landed on the expiry address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684ms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message landed on the expiry address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7E2DE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13329ms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never reached the expiry address — no per-message TTL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only has topic-level retention, not per-message TTL-to-expiry routing.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S17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Durable subscription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SUB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subscriber goes offline; messages sent meanwhile are kept and delivered when it reconnects.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458ms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offline messages retained and delivered on reattach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488ms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offline messages retained and delivered on reattach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5609ms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retained and delivered on reattach (committed offsets)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pass; Kafka does it via persisted consumer-group offsets.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S18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Single active consumer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FAILOVER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consumers, but only one is active; if it fails, the standby takes over and order is preserved.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807ms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served 5, standby took over 5 after failover, order preserved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833ms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served 5, standby took over 5 after failover, order preserved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7E2DE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5418ms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consumers were active before failover (2/3)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activates &gt;1 group member — no single-active concept. Tunable: a 1-partition topic approximates it, at the cost of S9/S12 spread.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41248" cy="530352"/>
          </a:xfrm>
          <a:prstGeom prst="roundRect">
            <a:avLst>
              <a:gd name="adj" fmla="val 17241"/>
            </a:avLst>
          </a:prstGeom>
          <a:solidFill>
            <a:srgbClr val="1631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41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S19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36192" y="329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Stream replay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92640" y="457200"/>
            <a:ext cx="1947672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4572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95097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subscriber replays the entire history from the beginning (offset 0).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8" y="1371600"/>
            <a:ext cx="10698480" cy="29919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BF1D8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736592"/>
            <a:ext cx="457200" cy="457200"/>
          </a:xfrm>
          <a:prstGeom prst="ellipse">
            <a:avLst/>
          </a:prstGeom>
          <a:solidFill>
            <a:srgbClr val="C296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8600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6736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16736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0ms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9808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cannot replay consumed history (no stream/offset support)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C0612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48600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93208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737ms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26280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subscriber replayed all 8 messages from offset 0 (stream queue)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119872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6F4EC"/>
          </a:solidFill>
          <a:ln w="15875">
            <a:solidFill>
              <a:srgbClr val="43479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302752" y="4736592"/>
            <a:ext cx="457200" cy="457200"/>
          </a:xfrm>
          <a:prstGeom prst="ellipse">
            <a:avLst/>
          </a:prstGeom>
          <a:solidFill>
            <a:srgbClr val="1E9E6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4860036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47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869680" y="5029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5822ms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02752" y="535838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subscriber replayed all 8 messages from offset 0 (full history)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66928" y="6053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scenario Artemis CAN'T do; Kafka's core strength, Rabbit via stream queues.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OBSERVATIONS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 vs queue/scheduler is the headline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10561320" cy="914400"/>
          </a:xfrm>
          <a:prstGeom prst="roundRect">
            <a:avLst>
              <a:gd name="adj" fmla="val 10000"/>
            </a:avLst>
          </a:prstGeom>
          <a:solidFill>
            <a:srgbClr val="1B3A57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258568"/>
            <a:ext cx="512064" cy="512064"/>
          </a:xfrm>
          <a:prstGeom prst="ellipse">
            <a:avLst/>
          </a:prstGeom>
          <a:solidFill>
            <a:srgbClr val="0A4F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817" y="2396825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671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Artemis — broadest fit (18/19, zero fails)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37360" y="25146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broker with native scheduling + cancel + list (S2–S4) AND broker-native dedup (S13). Its single by-design gap is stream replay (S19).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063240"/>
            <a:ext cx="10561320" cy="914400"/>
          </a:xfrm>
          <a:prstGeom prst="roundRect">
            <a:avLst>
              <a:gd name="adj" fmla="val 10000"/>
            </a:avLst>
          </a:prstGeom>
          <a:solidFill>
            <a:srgbClr val="1B3A57"/>
          </a:solidFill>
          <a:ln/>
        </p:spPr>
      </p:sp>
      <p:sp>
        <p:nvSpPr>
          <p:cNvPr id="10" name="Shape 7"/>
          <p:cNvSpPr/>
          <p:nvPr/>
        </p:nvSpPr>
        <p:spPr>
          <a:xfrm>
            <a:off x="1051560" y="3264408"/>
            <a:ext cx="512064" cy="512064"/>
          </a:xfrm>
          <a:prstGeom prst="ellipse">
            <a:avLst/>
          </a:prstGeom>
          <a:solidFill>
            <a:srgbClr val="0A4F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817" y="3402665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17296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 — the middle (16/19, zero fails)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737360" y="35204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pub/sub, DLQ, retry, priority, groups, and stream replay (S19) — but no scheduled-message cancel/list (S3/S4) and no native dedup (S13).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069080"/>
            <a:ext cx="10561320" cy="914400"/>
          </a:xfrm>
          <a:prstGeom prst="roundRect">
            <a:avLst>
              <a:gd name="adj" fmla="val 10000"/>
            </a:avLst>
          </a:prstGeom>
          <a:solidFill>
            <a:srgbClr val="1B3A57"/>
          </a:solidFill>
          <a:ln/>
        </p:spPr>
      </p:sp>
      <p:sp>
        <p:nvSpPr>
          <p:cNvPr id="15" name="Shape 11"/>
          <p:cNvSpPr/>
          <p:nvPr/>
        </p:nvSpPr>
        <p:spPr>
          <a:xfrm>
            <a:off x="1051560" y="4270248"/>
            <a:ext cx="512064" cy="512064"/>
          </a:xfrm>
          <a:prstGeom prst="ellipse">
            <a:avLst/>
          </a:prstGeom>
          <a:solidFill>
            <a:srgbClr val="0A4F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817" y="4408505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Kafka — a log, not a queue (9/19)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37360" y="45262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4 fails and 6 unsupported aren't bugs — they're the boundary of a partitioned log. Kafka wins where logs win: fanout, competing consumers, partitioned ordering (S12), durable-offset subs (S17), full-history replay (S19).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22960" y="5074920"/>
            <a:ext cx="10561320" cy="914400"/>
          </a:xfrm>
          <a:prstGeom prst="roundRect">
            <a:avLst>
              <a:gd name="adj" fmla="val 10000"/>
            </a:avLst>
          </a:prstGeom>
          <a:solidFill>
            <a:srgbClr val="1B3A57"/>
          </a:solidFill>
          <a:ln/>
        </p:spPr>
      </p:sp>
      <p:sp>
        <p:nvSpPr>
          <p:cNvPr id="20" name="Shape 15"/>
          <p:cNvSpPr/>
          <p:nvPr/>
        </p:nvSpPr>
        <p:spPr>
          <a:xfrm>
            <a:off x="1051560" y="5276088"/>
            <a:ext cx="512064" cy="512064"/>
          </a:xfrm>
          <a:prstGeom prst="ellipse">
            <a:avLst/>
          </a:prstGeom>
          <a:solidFill>
            <a:srgbClr val="0A4F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817" y="5414345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18464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Latency signal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737360" y="55321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C3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scenarios that subscribe/rebalance cost seconds (S7 ~20s; S9/S12/S17/S18/S19 ~5s) vs tens of ms for Artemis/RabbitMQ — relevant for short-lived consumers, dynamic scaling, and request/reply budgets.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22960" y="6199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2: idempotency fail-open is fixed, so S10 now passes on all three — no measurement caveats remain.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114800"/>
            <a:ext cx="5120640" cy="5120640"/>
          </a:xfrm>
          <a:prstGeom prst="ellipse">
            <a:avLst/>
          </a:prstGeom>
          <a:solidFill>
            <a:srgbClr val="0A4F4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Route workloads by shape, not by a single winner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337560" cy="2788920"/>
          </a:xfrm>
          <a:prstGeom prst="roundRect">
            <a:avLst>
              <a:gd name="adj" fmla="val 3279"/>
            </a:avLst>
          </a:prstGeom>
          <a:solidFill>
            <a:srgbClr val="16344F"/>
          </a:solidFill>
          <a:ln w="19050">
            <a:solidFill>
              <a:srgbClr val="4347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21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AEB1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Keep Kafka for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78992" y="2606040"/>
            <a:ext cx="2971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streaming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ordering at scale (S12)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Durable-offset subscriptions (S17)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Full-history replay (S19)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337560" cy="2788920"/>
          </a:xfrm>
          <a:prstGeom prst="roundRect">
            <a:avLst>
              <a:gd name="adj" fmla="val 3279"/>
            </a:avLst>
          </a:prstGeom>
          <a:solidFill>
            <a:srgbClr val="16344F"/>
          </a:solidFill>
          <a:ln w="19050">
            <a:solidFill>
              <a:srgbClr val="0F6E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121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FD3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 Artemis for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645152" y="2606040"/>
            <a:ext cx="2971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+ cancellable work (S2–S4)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Dead-letter, priority, per-msg TTL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Broker-native dedup (S13)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Single-active failover (S18)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1965960"/>
            <a:ext cx="3337560" cy="2788920"/>
          </a:xfrm>
          <a:prstGeom prst="roundRect">
            <a:avLst>
              <a:gd name="adj" fmla="val 3279"/>
            </a:avLst>
          </a:prstGeom>
          <a:solidFill>
            <a:srgbClr val="16344F"/>
          </a:solidFill>
          <a:ln w="19050">
            <a:solidFill>
              <a:srgbClr val="C061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2121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7B5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RabbitMQ if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211312" y="2606040"/>
            <a:ext cx="2971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also need replay in one broker (S19)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accept no scheduled cancel/list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App-level idempotency instead of dedup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scheduling = archived plugin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956048"/>
            <a:ext cx="10652760" cy="960120"/>
          </a:xfrm>
          <a:prstGeom prst="roundRect">
            <a:avLst>
              <a:gd name="adj" fmla="val 9524"/>
            </a:avLst>
          </a:prstGeom>
          <a:solidFill>
            <a:srgbClr val="1F4068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956048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Azure Service Bus scheduled-messaging replacement specifically: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8F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only broker that passed scheduling + cancel + list (S2–S4) and native dedup (S13).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053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Kafka consumer-group rebalance costs seconds · idempotency fail-open (S10) now passes on all three · ASB (appendix) is reference-only, not measured.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the adapters are hand-rolled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evaluated the two leading .NET messaging frameworks as the foundation — and rejected both for this requirement.</a:t>
            </a:r>
            <a:endParaRPr lang="en-US" sz="14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423160"/>
                <a:gridCol w="3246120"/>
                <a:gridCol w="1783080"/>
                <a:gridCol w="135331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Targets Artemis?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Broker-native scheduling on Artemis?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(mid-2026)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Wolverine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 Artemis / AMQP-1.0 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2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 can't reach Artemis at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2D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MassTransit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6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via ActiveMQ transport (Artemis-compat)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scheduler sets an ActiveMQ-Classic header Artemis ignores → fires immediately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2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 OSS (EOL 2026) · v9 commercial, no ActiveMQ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2D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Hand-rolled IMessageScheduler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AMQP 1.0 (rhea / AMQPNetLite)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x-opt-delivery-time — verified live (S2–S4)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OSS, no dependency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2628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EDF2F6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4800600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031" y="4953671"/>
            <a:ext cx="260787" cy="2607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4526280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deciding factor.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MassTransit's Artemis scheduler sets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347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AMQ_SCHEDULED_DELAY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 ActiveMQ-Classic (5.x) header that Artemis does not implement — so MassTransit-scheduled messages on Artemis are delivered immediately, not deferred (issue #3213). Both frameworks otherwise push scheduling back into the application plus a database; the hand-rolled seam schedules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broker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is the entire point of replacing Azure Service Bus scheduled messaging.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demonstrated end-to-end in both TypeScript and .NET, against both brokers, with no paid or end-of-life dependency.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4937760" cy="493776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MIGRATION ROUTE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87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seam, four steps, reversible at every stage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670048" cy="2697480"/>
          </a:xfrm>
          <a:prstGeom prst="roundRect">
            <a:avLst>
              <a:gd name="adj" fmla="val 3425"/>
            </a:avLst>
          </a:prstGeom>
          <a:solidFill>
            <a:srgbClr val="16344F"/>
          </a:solidFill>
          <a:ln w="12700">
            <a:solidFill>
              <a:srgbClr val="2C52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2029968"/>
            <a:ext cx="548640" cy="548640"/>
          </a:xfrm>
          <a:prstGeom prst="ellipse">
            <a:avLst/>
          </a:prstGeom>
          <a:solidFill>
            <a:srgbClr val="0A4F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549" y="2178101"/>
            <a:ext cx="252374" cy="25237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79776" y="2029968"/>
            <a:ext cx="493776" cy="493776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9" name="Text 6"/>
          <p:cNvSpPr/>
          <p:nvPr/>
        </p:nvSpPr>
        <p:spPr>
          <a:xfrm>
            <a:off x="2779776" y="20299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24128" y="269748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D3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Introduce the seam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024128" y="320040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5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interfaces — IMessageScheduler + IMessageBus — in a shared package. Abstractions only; no existing file changes yet.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47288" y="1828800"/>
            <a:ext cx="2560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657600" y="1828800"/>
            <a:ext cx="2670048" cy="2697480"/>
          </a:xfrm>
          <a:prstGeom prst="roundRect">
            <a:avLst>
              <a:gd name="adj" fmla="val 3425"/>
            </a:avLst>
          </a:prstGeom>
          <a:solidFill>
            <a:srgbClr val="16344F"/>
          </a:solidFill>
          <a:ln w="12700">
            <a:solidFill>
              <a:srgbClr val="2C527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77056" y="2029968"/>
            <a:ext cx="548640" cy="548640"/>
          </a:xfrm>
          <a:prstGeom prst="ellipse">
            <a:avLst/>
          </a:prstGeom>
          <a:solidFill>
            <a:srgbClr val="0A4F4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189" y="2178101"/>
            <a:ext cx="252374" cy="25237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614416" y="2029968"/>
            <a:ext cx="493776" cy="493776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17" name="Text 13"/>
          <p:cNvSpPr/>
          <p:nvPr/>
        </p:nvSpPr>
        <p:spPr>
          <a:xfrm>
            <a:off x="5614416" y="20299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3858768" y="269748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D3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Adaptation layer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3858768" y="320040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5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existing wrappers and every direct @azure/service-bus import through the seam. ≈17 wrappers + ≈22 direct sites (treat as a floor — likely more).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281928" y="1828800"/>
            <a:ext cx="2560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6492240" y="1828800"/>
            <a:ext cx="2670048" cy="2697480"/>
          </a:xfrm>
          <a:prstGeom prst="roundRect">
            <a:avLst>
              <a:gd name="adj" fmla="val 3425"/>
            </a:avLst>
          </a:prstGeom>
          <a:solidFill>
            <a:srgbClr val="16344F"/>
          </a:solidFill>
          <a:ln w="12700">
            <a:solidFill>
              <a:srgbClr val="2C527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11696" y="2029968"/>
            <a:ext cx="548640" cy="548640"/>
          </a:xfrm>
          <a:prstGeom prst="ellipse">
            <a:avLst/>
          </a:prstGeom>
          <a:solidFill>
            <a:srgbClr val="0A4F4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829" y="2178101"/>
            <a:ext cx="252374" cy="25237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449056" y="2029968"/>
            <a:ext cx="493776" cy="493776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25" name="Text 20"/>
          <p:cNvSpPr/>
          <p:nvPr/>
        </p:nvSpPr>
        <p:spPr>
          <a:xfrm>
            <a:off x="8449056" y="20299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6693408" y="269748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D3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adapters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6693408" y="320040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5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AsbAdapter (today's behavior), ArtemisAdapter (x-opt-delivery-time + Jolokia cancel/list), InMemoryAdapter (tests). Each declares its Capabilities.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9116568" y="1828800"/>
            <a:ext cx="2560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9326880" y="1828800"/>
            <a:ext cx="2670048" cy="2697480"/>
          </a:xfrm>
          <a:prstGeom prst="roundRect">
            <a:avLst>
              <a:gd name="adj" fmla="val 3425"/>
            </a:avLst>
          </a:prstGeom>
          <a:solidFill>
            <a:srgbClr val="16344F"/>
          </a:solidFill>
          <a:ln w="12700">
            <a:solidFill>
              <a:srgbClr val="2C527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546336" y="2029968"/>
            <a:ext cx="548640" cy="548640"/>
          </a:xfrm>
          <a:prstGeom prst="ellipse">
            <a:avLst/>
          </a:prstGeom>
          <a:solidFill>
            <a:srgbClr val="0A4F4F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4469" y="2178101"/>
            <a:ext cx="252374" cy="252374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11283696" y="2029968"/>
            <a:ext cx="493776" cy="493776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33" name="Text 27"/>
          <p:cNvSpPr/>
          <p:nvPr/>
        </p:nvSpPr>
        <p:spPr>
          <a:xfrm>
            <a:off x="11283696" y="20299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900" dirty="0"/>
          </a:p>
        </p:txBody>
      </p:sp>
      <p:sp>
        <p:nvSpPr>
          <p:cNvPr id="34" name="Text 28"/>
          <p:cNvSpPr/>
          <p:nvPr/>
        </p:nvSpPr>
        <p:spPr>
          <a:xfrm>
            <a:off x="9528048" y="269748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D3C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Factory + feature flag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9528048" y="320040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5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createMessagingAdapter() reads MESSAGING_BROKER (asb | artemis | in-memory), wrapped in the Cockatiel resilience decorator. Defaults to asb.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822960" y="4800600"/>
            <a:ext cx="10652760" cy="914400"/>
          </a:xfrm>
          <a:prstGeom prst="roundRect">
            <a:avLst>
              <a:gd name="adj" fmla="val 10000"/>
            </a:avLst>
          </a:prstGeom>
          <a:solidFill>
            <a:srgbClr val="1F4068"/>
          </a:solidFill>
          <a:ln/>
        </p:spPr>
      </p:sp>
      <p:sp>
        <p:nvSpPr>
          <p:cNvPr id="37" name="Shape 31"/>
          <p:cNvSpPr/>
          <p:nvPr/>
        </p:nvSpPr>
        <p:spPr>
          <a:xfrm>
            <a:off x="1051560" y="5001768"/>
            <a:ext cx="512064" cy="512064"/>
          </a:xfrm>
          <a:prstGeom prst="ellipse">
            <a:avLst/>
          </a:prstGeom>
          <a:solidFill>
            <a:srgbClr val="0A4F4F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817" y="5140025"/>
            <a:ext cx="235549" cy="235549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691640" y="48006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8F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asb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(identical to today)  →  drain / backfill scheduled messages  →  flip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MESSAGING_BROKER=artemis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service, lowest-traffic first  →  delete AsbAdapter &amp; drop the SDK.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82296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 contains broker-selection logic; the flag is the only switch. Every stage is reversible by flipping back to asb.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SSE — already a real-time push backplane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 we're adopting for scheduled messaging is also a horizontal-scaling backplane for browser push. Proven cross-instance in the PoC.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3291840" y="2537460"/>
            <a:ext cx="1508760" cy="0"/>
          </a:xfrm>
          <a:prstGeom prst="line">
            <a:avLst/>
          </a:prstGeom>
          <a:noFill/>
          <a:ln w="34925">
            <a:solidFill>
              <a:srgbClr val="0F6E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2537460"/>
            <a:ext cx="1508760" cy="0"/>
          </a:xfrm>
          <a:prstGeom prst="line">
            <a:avLst/>
          </a:prstGeom>
          <a:noFill/>
          <a:ln w="34925">
            <a:solidFill>
              <a:srgbClr val="0F6E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2926080"/>
            <a:ext cx="0" cy="960120"/>
          </a:xfrm>
          <a:prstGeom prst="line">
            <a:avLst/>
          </a:prstGeom>
          <a:noFill/>
          <a:ln w="34925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48840" y="2926080"/>
            <a:ext cx="0" cy="960120"/>
          </a:xfrm>
          <a:prstGeom prst="line">
            <a:avLst/>
          </a:prstGeom>
          <a:noFill/>
          <a:ln w="22225">
            <a:solidFill>
              <a:srgbClr val="C2CD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20116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6314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65192" y="2157984"/>
            <a:ext cx="457200" cy="457200"/>
          </a:xfrm>
          <a:prstGeom prst="ellipse">
            <a:avLst/>
          </a:prstGeom>
          <a:solidFill>
            <a:srgbClr val="0A4F4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8636" y="2281428"/>
            <a:ext cx="210312" cy="210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67528" y="201168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5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D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  mbc.sse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05840" y="21488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F6E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05840" y="2148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instance A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:7001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915400" y="21488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F6E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915400" y="2148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instance B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:7002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05840" y="38862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9FB0B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05840" y="3886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Carol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915400" y="38862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9F2F1"/>
          </a:solidFill>
          <a:ln w="22225">
            <a:solidFill>
              <a:srgbClr val="0F6E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915400" y="3886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Dave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B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234440" y="17830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6ECE4"/>
          </a:solidFill>
          <a:ln/>
        </p:spPr>
      </p:sp>
      <p:sp>
        <p:nvSpPr>
          <p:cNvPr id="21" name="Text 18"/>
          <p:cNvSpPr/>
          <p:nvPr/>
        </p:nvSpPr>
        <p:spPr>
          <a:xfrm>
            <a:off x="123444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6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ON 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0" y="32461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9F2F1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CROSS-INSTANCE HOP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91540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receives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983480"/>
            <a:ext cx="3483864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26" name="Shape 23"/>
          <p:cNvSpPr/>
          <p:nvPr/>
        </p:nvSpPr>
        <p:spPr>
          <a:xfrm>
            <a:off x="768096" y="5175504"/>
            <a:ext cx="457200" cy="45720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5298948"/>
            <a:ext cx="210312" cy="21031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316736" y="5138928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Cross-instance hop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768096" y="5596128"/>
            <a:ext cx="3044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published on instance A reaches a browser connected to instance B — two instances, one broker. That hop is the proof.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352544" y="4983480"/>
            <a:ext cx="3483864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31" name="Shape 27"/>
          <p:cNvSpPr/>
          <p:nvPr/>
        </p:nvSpPr>
        <p:spPr>
          <a:xfrm>
            <a:off x="4572000" y="5175504"/>
            <a:ext cx="457200" cy="45720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444" y="5298948"/>
            <a:ext cx="210312" cy="21031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120640" y="5138928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presence registry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4572000" y="5596128"/>
            <a:ext cx="3044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connection opens two transient (exclusive + auto-delete) subs — user.{id} and org.{id}. Connections come and go without the server tracking who's where.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8156448" y="4983480"/>
            <a:ext cx="3483864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36" name="Shape 31"/>
          <p:cNvSpPr/>
          <p:nvPr/>
        </p:nvSpPr>
        <p:spPr>
          <a:xfrm>
            <a:off x="8375904" y="5175504"/>
            <a:ext cx="457200" cy="45720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348" y="5298948"/>
            <a:ext cx="210312" cy="21031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924544" y="5138928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Reuses S5 routing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8375904" y="5596128"/>
            <a:ext cx="3044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is a new consumer of validated pub/sub, not a new broker capability. The SSE edge is hexagonal — swappable behind a port.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SSE — potential future use cases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infrastructure, no new moving parts: real-time browser push becomes an incremental capability, not a new project.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386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0F6E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84248"/>
            <a:ext cx="475488" cy="475488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478" y="211263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5024" y="1947672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shipment / load status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8096" y="2532888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or partner state changes flow to dispatcher screens instantly, no polling. user.{id} for the assigned dispatcher; org.{id} for the tenant.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52544" y="1783080"/>
            <a:ext cx="348386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C0612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984248"/>
            <a:ext cx="475488" cy="475488"/>
          </a:xfrm>
          <a:prstGeom prst="ellipse">
            <a:avLst/>
          </a:prstGeom>
          <a:solidFill>
            <a:srgbClr val="C061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382" y="211263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38928" y="1947672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Org-wide operational broadcasts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2532888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“Carrier X is down,” rate changes, system notices fan out to every connected user in a tenant — isolated per org.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56448" y="1783080"/>
            <a:ext cx="348386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43479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5904" y="1984248"/>
            <a:ext cx="475488" cy="475488"/>
          </a:xfrm>
          <a:prstGeom prst="ellipse">
            <a:avLst/>
          </a:prstGeom>
          <a:solidFill>
            <a:srgbClr val="43479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286" y="2112630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42832" y="1947672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Per-user notifications / toasts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75904" y="2532888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Exceptions, approvals-needed, assignment hand-offs pushed to the one user who owns them, on any instance.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310128"/>
            <a:ext cx="348386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0F6E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511296"/>
            <a:ext cx="475488" cy="475488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478" y="3639678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35024" y="34747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dashboards &amp; counters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68096" y="4059936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queue depths, SLA timers update in place from the same event stream that drives back-end processing.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52544" y="3310128"/>
            <a:ext cx="348386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7780">
            <a:solidFill>
              <a:srgbClr val="C0612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3511296"/>
            <a:ext cx="475488" cy="475488"/>
          </a:xfrm>
          <a:prstGeom prst="ellipse">
            <a:avLst/>
          </a:prstGeom>
          <a:solidFill>
            <a:srgbClr val="C0612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382" y="3639678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38928" y="34747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Multi-tab / multi-device coherence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72000" y="4059936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signed in on several tabs or devices all receive the same user-direct stream — no extra wiring.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56448" y="3310128"/>
            <a:ext cx="3483864" cy="137160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7780">
            <a:solidFill>
              <a:srgbClr val="9AA6B2"/>
            </a:solidFill>
            <a:prstDash val="dash"/>
          </a:ln>
        </p:spPr>
      </p:sp>
      <p:sp>
        <p:nvSpPr>
          <p:cNvPr id="30" name="Shape 23"/>
          <p:cNvSpPr/>
          <p:nvPr/>
        </p:nvSpPr>
        <p:spPr>
          <a:xfrm>
            <a:off x="8375904" y="3511296"/>
            <a:ext cx="475488" cy="475488"/>
          </a:xfrm>
          <a:prstGeom prst="ellipse">
            <a:avLst/>
          </a:prstGeom>
          <a:solidFill>
            <a:srgbClr val="9AA6B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286" y="3639678"/>
            <a:ext cx="218724" cy="2187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42832" y="34747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76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Collaboration presence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10680192" y="3419856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ECEEF1"/>
          </a:solidFill>
          <a:ln/>
        </p:spPr>
      </p:sp>
      <p:sp>
        <p:nvSpPr>
          <p:cNvPr id="34" name="Text 26"/>
          <p:cNvSpPr/>
          <p:nvPr/>
        </p:nvSpPr>
        <p:spPr>
          <a:xfrm>
            <a:off x="10680192" y="34198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8375904" y="4059936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“Someone else is editing” signals — a deliberate later step: presence is the one thing the current model does not store.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548640" y="4956048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DF2F6"/>
          </a:solidFill>
          <a:ln/>
        </p:spPr>
      </p:sp>
      <p:sp>
        <p:nvSpPr>
          <p:cNvPr id="37" name="Shape 29"/>
          <p:cNvSpPr/>
          <p:nvPr/>
        </p:nvSpPr>
        <p:spPr>
          <a:xfrm>
            <a:off x="777240" y="5157216"/>
            <a:ext cx="530352" cy="530352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435" y="5300411"/>
            <a:ext cx="243962" cy="24396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463040" y="4956048"/>
            <a:ext cx="10012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low-risk to add. 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is free (the broker fans out; servers stay stateless about connections), it reuses the topic routing already validated in S5, and the SSE edge is isolated behind a port — so it never entangles the messaging core.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direct (user.{id}) and per-org broadcast (org.{id}) cover the large majority of operational real-time needs today.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Fault tolerance — tested, not asserted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production-grade failure modes, demonstrated live against both candidate queue brokers — 3 demonstrated, 0 failed.</a:t>
            </a:r>
            <a:endParaRPr lang="en-US" sz="14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5788152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injected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system did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crashes mid-handle (message un-acked)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redelivered the message to a fresh consumer.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recovered  ~45–50ms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blip, then a sustained outage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Retry-with-backoff absorbed the blip; the circuit breaker OPENED to fail fast, HALF-OPEN probed, CLOSED on recovery.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6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delivered end-to-end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Poison message (handler always fails)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Retried N times, then dead-lettered to an isolated DLQ — never blocks the main queue.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3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☠  parked in DLQ, not lost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050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CIRCUIT-BREAKER LIFECYCLE EXERCISED — under a real sustained outage, not just the happy retry path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051560" y="4498848"/>
            <a:ext cx="2148840" cy="530352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19050">
            <a:solidFill>
              <a:srgbClr val="1E9E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449884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9E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CLOSED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0" y="4764024"/>
            <a:ext cx="868680" cy="0"/>
          </a:xfrm>
          <a:prstGeom prst="line">
            <a:avLst/>
          </a:prstGeom>
          <a:noFill/>
          <a:ln w="19050">
            <a:solidFill>
              <a:srgbClr val="9FB0BD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3035808" y="4224528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pile up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069080" y="4498848"/>
            <a:ext cx="2148840" cy="530352"/>
          </a:xfrm>
          <a:prstGeom prst="roundRect">
            <a:avLst>
              <a:gd name="adj" fmla="val 50000"/>
            </a:avLst>
          </a:prstGeom>
          <a:solidFill>
            <a:srgbClr val="F7E2DE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9080" y="449884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17920" y="4764024"/>
            <a:ext cx="868680" cy="0"/>
          </a:xfrm>
          <a:prstGeom prst="line">
            <a:avLst/>
          </a:prstGeom>
          <a:noFill/>
          <a:ln w="19050">
            <a:solidFill>
              <a:srgbClr val="9FB0BD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6053328" y="4224528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for recovery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086600" y="4498848"/>
            <a:ext cx="2148840" cy="530352"/>
          </a:xfrm>
          <a:prstGeom prst="roundRect">
            <a:avLst>
              <a:gd name="adj" fmla="val 50000"/>
            </a:avLst>
          </a:prstGeom>
          <a:solidFill>
            <a:srgbClr val="FBF1D8"/>
          </a:solidFill>
          <a:ln w="19050">
            <a:solidFill>
              <a:srgbClr val="C296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86600" y="449884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96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HALF-OPEN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235440" y="4764024"/>
            <a:ext cx="868680" cy="0"/>
          </a:xfrm>
          <a:prstGeom prst="line">
            <a:avLst/>
          </a:prstGeom>
          <a:noFill/>
          <a:ln w="19050">
            <a:solidFill>
              <a:srgbClr val="9FB0BD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9070848" y="4224528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0104120" y="4498848"/>
            <a:ext cx="2148840" cy="530352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19050">
            <a:solidFill>
              <a:srgbClr val="1E9E6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104120" y="449884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9E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CLOSED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EDF2F6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522976"/>
            <a:ext cx="548640" cy="54864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5671109"/>
            <a:ext cx="252374" cy="25237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12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resilience layer over both brokers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retry + circuit breaker (.NET Polly v8 · TS cockatiel), a decorator no adapter knows exists. </a:t>
            </a:r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handling differs honestly: 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dead-letters after 3 attempts, RabbitMQ after 4 — quorum queues dead-letter when the count </a:t>
            </a:r>
            <a:pPr indent="0" marL="0">
              <a:lnSpc>
                <a:spcPct val="104000"/>
              </a:lnSpc>
              <a:buNone/>
            </a:pPr>
            <a:r>
              <a:rPr lang="en-US" sz="1200" b="1" i="1" dirty="0">
                <a:solidFill>
                  <a:srgbClr val="C06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</a:t>
            </a:r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limit. A real behavioural difference, surfaced rather than hidden.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live on both brokers via scripts/run-faults.sh · 0 failed: every injected fault was absorbed or contained by design.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Broker Conformance — Artemis / RabbitMQ / Kafka</dc:title>
  <dc:subject>PptxGenJS Presentation</dc:subject>
  <dc:creator>Platform Engineering</dc:creator>
  <cp:lastModifiedBy>Platform Engineering</cp:lastModifiedBy>
  <cp:revision>1</cp:revision>
  <dcterms:created xsi:type="dcterms:W3CDTF">2026-06-22T08:22:01Z</dcterms:created>
  <dcterms:modified xsi:type="dcterms:W3CDTF">2026-06-22T08:22:01Z</dcterms:modified>
</cp:coreProperties>
</file>