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21496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566160"/>
            <a:ext cx="4206240" cy="4206240"/>
          </a:xfrm>
          <a:prstGeom prst="ellipse">
            <a:avLst/>
          </a:prstGeom>
          <a:solidFill>
            <a:srgbClr val="0A4F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SELECTION  —  ARCHITECTURE REVIEW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Replacing Azure Service Bus</a:t>
            </a:r>
            <a:endParaRPr lang="en-US" sz="47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Scheduled Messaging</a:t>
            </a:r>
            <a:endParaRPr lang="en-US" sz="47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8F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ActiveMQ Artemis</a:t>
            </a:r>
            <a:pPr indent="0" marL="0">
              <a:buNone/>
            </a:pPr>
            <a:r>
              <a:rPr lang="en-US" sz="2300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indent="0" marL="0">
              <a:buNone/>
            </a:pPr>
            <a:r>
              <a:rPr lang="en-US" sz="2300" b="1" dirty="0">
                <a:solidFill>
                  <a:srgbClr val="E0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 for principal-engineer review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5532120"/>
            <a:ext cx="548640" cy="548640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567476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5532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scheduling over AMQP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52160" y="5532120"/>
            <a:ext cx="548640" cy="548640"/>
          </a:xfrm>
          <a:prstGeom prst="ellipse">
            <a:avLst/>
          </a:prstGeom>
          <a:solidFill>
            <a:srgbClr val="A04A2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806" y="567476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92240" y="5532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= an archived plugin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decision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 Bus is deprecated for our use case — we must preserve scheduled, cancellable delivery.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4160520" cy="4206240"/>
          </a:xfrm>
          <a:prstGeom prst="roundRect">
            <a:avLst>
              <a:gd name="adj" fmla="val 2637"/>
            </a:avLst>
          </a:prstGeom>
          <a:solidFill>
            <a:srgbClr val="16314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03120"/>
            <a:ext cx="777240" cy="777240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9362" y="23052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2128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core capability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97280" y="315468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message that triggers an action at a future time</a:t>
            </a:r>
            <a:endParaRPr lang="en-US" sz="1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cancel it before it fires.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97280" y="4617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part of Service Bus we depend on most — so it is the requirement we cannot compromise.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257800" y="178308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58968" y="2057400"/>
            <a:ext cx="713232" cy="713232"/>
          </a:xfrm>
          <a:prstGeom prst="ellipse">
            <a:avLst/>
          </a:prstGeom>
          <a:solidFill>
            <a:srgbClr val="E9F2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408" y="2242840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09360" y="1984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309360" y="2331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scheduling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549640" y="178308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750808" y="2057400"/>
            <a:ext cx="713232" cy="713232"/>
          </a:xfrm>
          <a:prstGeom prst="ellipse">
            <a:avLst/>
          </a:prstGeom>
          <a:solidFill>
            <a:srgbClr val="E9F2F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248" y="2242840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0" y="1984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R2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9601200" y="2331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AMQP (or strong case)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5257800" y="324612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58968" y="3520440"/>
            <a:ext cx="713232" cy="713232"/>
          </a:xfrm>
          <a:prstGeom prst="ellipse">
            <a:avLst/>
          </a:prstGeom>
          <a:solidFill>
            <a:srgbClr val="E9F2F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4408" y="3705880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09360" y="3447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R3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309360" y="3794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Docker Compose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8549640" y="324612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750808" y="3520440"/>
            <a:ext cx="713232" cy="713232"/>
          </a:xfrm>
          <a:prstGeom prst="ellipse">
            <a:avLst/>
          </a:prstGeom>
          <a:solidFill>
            <a:srgbClr val="E9F2F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6248" y="3705880"/>
            <a:ext cx="342351" cy="34235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01200" y="3447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R4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9601200" y="3794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+ TypeScript</a:t>
            </a:r>
            <a:endParaRPr lang="en-US" sz="1450" dirty="0"/>
          </a:p>
        </p:txBody>
      </p:sp>
      <p:sp>
        <p:nvSpPr>
          <p:cNvPr id="30" name="Shape 23"/>
          <p:cNvSpPr/>
          <p:nvPr/>
        </p:nvSpPr>
        <p:spPr>
          <a:xfrm>
            <a:off x="5257800" y="470916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458968" y="4983480"/>
            <a:ext cx="713232" cy="713232"/>
          </a:xfrm>
          <a:prstGeom prst="ellipse">
            <a:avLst/>
          </a:prstGeom>
          <a:solidFill>
            <a:srgbClr val="E9F2F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4408" y="5168920"/>
            <a:ext cx="342351" cy="34235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309360" y="4910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R5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6309360" y="5257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stand up</a:t>
            </a:r>
            <a:endParaRPr lang="en-US" sz="1450" dirty="0"/>
          </a:p>
        </p:txBody>
      </p:sp>
      <p:sp>
        <p:nvSpPr>
          <p:cNvPr id="35" name="Shape 27"/>
          <p:cNvSpPr/>
          <p:nvPr/>
        </p:nvSpPr>
        <p:spPr>
          <a:xfrm>
            <a:off x="8549640" y="470916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750808" y="4983480"/>
            <a:ext cx="713232" cy="713232"/>
          </a:xfrm>
          <a:prstGeom prst="ellipse">
            <a:avLst/>
          </a:prstGeom>
          <a:solidFill>
            <a:srgbClr val="E9F2F1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6248" y="5168920"/>
            <a:ext cx="342351" cy="342351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601200" y="4910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R6</a:t>
            </a: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9601200" y="5257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maintenance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Nine candidates, two real finalists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satisfy AMQP + scheduling + local Docker + .NET/TS without a disqualifying gap.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457200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25400">
            <a:solidFill>
              <a:srgbClr val="0F6E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21408"/>
            <a:ext cx="868680" cy="868680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137" y="2347265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148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Apache ActiveMQ Artemis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14884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pPr indent="0" marL="0">
              <a:buNone/>
            </a:pPr>
            <a:r>
              <a:rPr lang="en-US" sz="15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10 fit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97280" y="331012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is a native broker primitive.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97280" y="38404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match to Service Bus; the one to beat.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812280" y="1828800"/>
            <a:ext cx="457200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25400">
            <a:solidFill>
              <a:srgbClr val="A04A2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0" y="2121408"/>
            <a:ext cx="868680" cy="868680"/>
          </a:xfrm>
          <a:prstGeom prst="ellipse">
            <a:avLst/>
          </a:prstGeom>
          <a:solidFill>
            <a:srgbClr val="A04A2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177" y="2347265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83880" y="2148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818388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0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pPr indent="0" marL="0">
              <a:buNone/>
            </a:pPr>
            <a:r>
              <a:rPr lang="en-US" sz="15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10 fit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7132320" y="331012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DX — but scheduling is a plugin.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7132320" y="38404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everywhere except the one thing that matters most here.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77240" y="5029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earlier: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2788920" y="5047488"/>
            <a:ext cx="1673352" cy="420624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88920" y="5047488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NATS — no AMQP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608576" y="5047488"/>
            <a:ext cx="1673352" cy="420624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08576" y="5047488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Pulsar — not AMQP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428232" y="5047488"/>
            <a:ext cx="1673352" cy="420624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28232" y="5047488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— no local dev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247888" y="5047488"/>
            <a:ext cx="1673352" cy="420624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247888" y="5047488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— no scheduling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10067544" y="5047488"/>
            <a:ext cx="1673352" cy="420624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067544" y="5047488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no scheduling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777240" y="5623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NATS JetStream is a credible third only if AMQP is dropped entirely.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DECISIVE QUESTION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Is scheduled delivery a first-class broker primitive</a:t>
            </a:r>
            <a:endParaRPr lang="en-US" sz="2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 a workaround bolted onto a broker that wasn’t built for it?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3200400"/>
            <a:ext cx="5074920" cy="2697480"/>
          </a:xfrm>
          <a:prstGeom prst="roundRect">
            <a:avLst>
              <a:gd name="adj" fmla="val 4068"/>
            </a:avLst>
          </a:prstGeom>
          <a:solidFill>
            <a:srgbClr val="13403F"/>
          </a:solidFill>
          <a:ln w="19050">
            <a:solidFill>
              <a:srgbClr val="0F6E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3520440"/>
            <a:ext cx="731520" cy="731520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195" y="37106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3566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FD3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Primitive  ·  Artemis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43000" y="43891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broker, persisted, survives failover, cancellable, observable.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3640" y="3200400"/>
            <a:ext cx="5074920" cy="2697480"/>
          </a:xfrm>
          <a:prstGeom prst="roundRect">
            <a:avLst>
              <a:gd name="adj" fmla="val 4068"/>
            </a:avLst>
          </a:prstGeom>
          <a:solidFill>
            <a:srgbClr val="47291C"/>
          </a:solidFill>
          <a:ln w="19050">
            <a:solidFill>
              <a:srgbClr val="A04A2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3520440"/>
            <a:ext cx="731520" cy="731520"/>
          </a:xfrm>
          <a:prstGeom prst="ellipse">
            <a:avLst/>
          </a:prstGeom>
          <a:solidFill>
            <a:srgbClr val="A04A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875" y="37106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3566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A9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Workaround  ·  RabbitMQ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83680" y="43891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0D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add-on plugin with documented limits, node-local storage, no clean cancel — now archived.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speed, ecosystem, and DX mostly favor RabbitMQ — but those are second-order to R1.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Head-to-head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for our use case — not as vendor-neutral metrics.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106070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749040"/>
                <a:gridCol w="37490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ActiveMQ Artemis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RabbitMQ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4A2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C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broker primitive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6E3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 (x-delayed-message)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scheduled msg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C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QueueControl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6E3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clean first-class API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0D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Durability / HA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C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Journalled; survives failover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6E3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Node-local Mnesia; not replicated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maintenance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C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feature, maintained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6E3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 archived Apr 2026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0D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AMQP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C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AMQP 1.0 native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6E3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0.9.1 + 1.0 (since 4.0)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Bus fit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C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close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6E3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 fits; scheduling doesn’t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0D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/ TypeScript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C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/ Good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6E3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/ Good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 of setup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C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6E3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0D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score (our use case)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 / 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 / 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4A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Scheduling: the crux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requirement we cannot compromise is where the two brokers diverge hardest.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0749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0F6E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9848" y="2029968"/>
            <a:ext cx="731520" cy="731520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043" y="2220163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574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 — native &amp; cancellable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1097280" y="299008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113" y="3070921"/>
            <a:ext cx="149230" cy="1492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27048" y="291693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scheduled-delivery time; the broker holds it — over AMQP.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097280" y="376732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113" y="3848161"/>
            <a:ext cx="149230" cy="1492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27048" y="369417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in the journal; survives restart &amp; failover.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1097280" y="454456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113" y="4625401"/>
            <a:ext cx="149230" cy="14923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27048" y="447141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/ remove via QueueControl — a real cancel story.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1097280" y="532180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8113" y="5402641"/>
            <a:ext cx="149230" cy="14923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27048" y="524865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scheduled.message.count metric to alert on pending work.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355080" y="1783080"/>
            <a:ext cx="50749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A04A2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647688" y="2029968"/>
            <a:ext cx="731520" cy="731520"/>
          </a:xfrm>
          <a:prstGeom prst="ellipse">
            <a:avLst/>
          </a:prstGeom>
          <a:solidFill>
            <a:srgbClr val="A04A2C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883" y="2220163"/>
            <a:ext cx="351130" cy="35113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498080" y="20574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 — the plugin path</a:t>
            </a:r>
            <a:endParaRPr lang="en-US" sz="1850" dirty="0"/>
          </a:p>
        </p:txBody>
      </p:sp>
      <p:sp>
        <p:nvSpPr>
          <p:cNvPr id="24" name="Shape 16"/>
          <p:cNvSpPr/>
          <p:nvPr/>
        </p:nvSpPr>
        <p:spPr>
          <a:xfrm>
            <a:off x="6675120" y="299008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5953" y="3070921"/>
            <a:ext cx="149230" cy="14923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104888" y="291693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scheduling; relies on x-delayed-message plugin.</a:t>
            </a:r>
            <a:endParaRPr lang="en-US" sz="1400" dirty="0"/>
          </a:p>
        </p:txBody>
      </p:sp>
      <p:sp>
        <p:nvSpPr>
          <p:cNvPr id="27" name="Shape 18"/>
          <p:cNvSpPr/>
          <p:nvPr/>
        </p:nvSpPr>
        <p:spPr>
          <a:xfrm>
            <a:off x="6675120" y="376732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5953" y="3848161"/>
            <a:ext cx="149230" cy="14923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104888" y="369417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delays only — the plugin's own guidance.</a:t>
            </a:r>
            <a:endParaRPr lang="en-US" sz="1400" dirty="0"/>
          </a:p>
        </p:txBody>
      </p:sp>
      <p:sp>
        <p:nvSpPr>
          <p:cNvPr id="30" name="Shape 20"/>
          <p:cNvSpPr/>
          <p:nvPr/>
        </p:nvSpPr>
        <p:spPr>
          <a:xfrm>
            <a:off x="6675120" y="454456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5953" y="4625401"/>
            <a:ext cx="149230" cy="14923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104888" y="447141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node-local in Mnesia; lost on node / plugin loss.</a:t>
            </a:r>
            <a:endParaRPr lang="en-US" sz="1400" dirty="0"/>
          </a:p>
        </p:txBody>
      </p:sp>
      <p:sp>
        <p:nvSpPr>
          <p:cNvPr id="33" name="Shape 22"/>
          <p:cNvSpPr/>
          <p:nvPr/>
        </p:nvSpPr>
        <p:spPr>
          <a:xfrm>
            <a:off x="6675120" y="532180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5953" y="5402641"/>
            <a:ext cx="149230" cy="14923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104888" y="524865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clean cancel API · plugin repo archived Apr 2026.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0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WE’D RELY ON MOST — IS THE PART NO LONGER MAINTAINED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RabbitMQ’s scheduling risk, in three numbers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68680" y="25146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A2F45"/>
          </a:solidFill>
          <a:ln w="12700">
            <a:solidFill>
              <a:srgbClr val="2E4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" y="2788920"/>
            <a:ext cx="658368" cy="658368"/>
          </a:xfrm>
          <a:prstGeom prst="ellipse">
            <a:avLst/>
          </a:prstGeom>
          <a:solidFill>
            <a:srgbClr val="A04A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464" y="296009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46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A9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Apr 2026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14300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archived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3000" y="4617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9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fixes, security patches, or version-compat guarantees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16552" y="25146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A2F45"/>
          </a:solidFill>
          <a:ln w="12700">
            <a:solidFill>
              <a:srgbClr val="2E4A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788920"/>
            <a:ext cx="658368" cy="658368"/>
          </a:xfrm>
          <a:prstGeom prst="ellipse">
            <a:avLst/>
          </a:prstGeom>
          <a:solidFill>
            <a:srgbClr val="A04A2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336" y="2960096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16552" y="3246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A9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4690872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replica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90872" y="4617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9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messages live in one node-local Mnesia table — lost with the node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55280" y="25146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A2F45"/>
          </a:solidFill>
          <a:ln w="12700">
            <a:solidFill>
              <a:srgbClr val="2E4A6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47888" y="2788920"/>
            <a:ext cx="658368" cy="658368"/>
          </a:xfrm>
          <a:prstGeom prst="ellipse">
            <a:avLst/>
          </a:prstGeom>
          <a:solidFill>
            <a:srgbClr val="A04A2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064" y="2960096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55280" y="3246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A9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4000" dirty="0"/>
          </a:p>
        </p:txBody>
      </p:sp>
      <p:sp>
        <p:nvSpPr>
          <p:cNvPr id="20" name="Text 15"/>
          <p:cNvSpPr/>
          <p:nvPr/>
        </p:nvSpPr>
        <p:spPr>
          <a:xfrm>
            <a:off x="822960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APIs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29600" y="4617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9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clean first-class way to pull back a scheduled message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68680" y="56235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is fatal for short, best-effort delays. All three are disqualifying for durable, cancellable, long-lived scheduling.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Migration &amp; semantic fit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is AMQP 1.0 with scheduled-enqueue + cancel — Artemis matches that worldview almost one-for-one.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16314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037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Azure Service Bus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AMQP 1.0 · scheduled-enqueue · cancel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2331720"/>
            <a:ext cx="77724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37760" y="205740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0F6E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74920" y="22037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074920" y="2624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protocol · same concept · mgmt cancel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38160" y="20574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connection / SDK swap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611880"/>
            <a:ext cx="5074920" cy="2286000"/>
          </a:xfrm>
          <a:prstGeom prst="roundRect">
            <a:avLst>
              <a:gd name="adj" fmla="val 4800"/>
            </a:avLst>
          </a:prstGeom>
          <a:solidFill>
            <a:srgbClr val="E9F2F1"/>
          </a:solidFill>
          <a:ln/>
        </p:spPr>
      </p:sp>
      <p:sp>
        <p:nvSpPr>
          <p:cNvPr id="13" name="Shape 10"/>
          <p:cNvSpPr/>
          <p:nvPr/>
        </p:nvSpPr>
        <p:spPr>
          <a:xfrm>
            <a:off x="1051560" y="3886200"/>
            <a:ext cx="640080" cy="640080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981" y="405262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3886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Clients stay in the AMQP 1.0 model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097280" y="46177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—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Apache.NMS.AMQP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—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Rhea (AMQP 1.0)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309360" y="3611880"/>
            <a:ext cx="5074920" cy="2286000"/>
          </a:xfrm>
          <a:prstGeom prst="roundRect">
            <a:avLst>
              <a:gd name="adj" fmla="val 4800"/>
            </a:avLst>
          </a:prstGeom>
          <a:solidFill>
            <a:srgbClr val="F6ECE7"/>
          </a:solidFill>
          <a:ln/>
        </p:spPr>
      </p:sp>
      <p:sp>
        <p:nvSpPr>
          <p:cNvPr id="18" name="Shape 14"/>
          <p:cNvSpPr/>
          <p:nvPr/>
        </p:nvSpPr>
        <p:spPr>
          <a:xfrm>
            <a:off x="6583680" y="3886200"/>
            <a:ext cx="640080" cy="640080"/>
          </a:xfrm>
          <a:prstGeom prst="ellipse">
            <a:avLst/>
          </a:prstGeom>
          <a:solidFill>
            <a:srgbClr val="A04A2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101" y="405262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15200" y="3886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RabbitMQ: protocol fits, semantics don’t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629400" y="4617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AMQP 1.0 is native since 4.0 — but you’d re-implement the exact Service Bus scheduling behavior on top of the constrained plugin path.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honest case for RabbitMQ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 genuinely excellent broker. It loses here for one narrow reason — not because it’s weak.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0F6E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Choose RabbitMQ when…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51560" y="271576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93" y="2796601"/>
            <a:ext cx="149230" cy="1492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262432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are short and best-effort — retry backoff, debounce, “remind in 30 min.”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051560" y="353872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93" y="3619561"/>
            <a:ext cx="149230" cy="1492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81328" y="344728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the easiest day-one setup and the largest hiring pool.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1051560" y="436168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93" y="4442521"/>
            <a:ext cx="149230" cy="1492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81328" y="427024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the most mature official .NET client.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051560" y="518464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93" y="5265481"/>
            <a:ext cx="149230" cy="1492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81328" y="509320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rich exchange/binding routing topologies more than native scheduling.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126480" y="178308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6314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46520" y="2057400"/>
            <a:ext cx="713232" cy="713232"/>
          </a:xfrm>
          <a:prstGeom prst="ellipse">
            <a:avLst/>
          </a:prstGeom>
          <a:solidFill>
            <a:srgbClr val="A04A2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1960" y="2242840"/>
            <a:ext cx="342351" cy="34235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269480" y="20848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…but not for this system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6446520" y="2971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use case is precisely the one the plugin warns against: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6446520" y="35661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</a:t>
            </a:r>
            <a:pPr indent="0" marL="0">
              <a:buNone/>
            </a:pPr>
            <a:r>
              <a:rPr lang="en-US" sz="1800" dirty="0">
                <a:solidFill>
                  <a:srgbClr val="7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cancellable</a:t>
            </a:r>
            <a:pPr indent="0" marL="0">
              <a:buNone/>
            </a:pPr>
            <a:r>
              <a:rPr lang="en-US" sz="1800" dirty="0">
                <a:solidFill>
                  <a:srgbClr val="7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long-lived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6446520" y="4434840"/>
            <a:ext cx="4663440" cy="1325880"/>
          </a:xfrm>
          <a:prstGeom prst="roundRect">
            <a:avLst>
              <a:gd name="adj" fmla="val 6897"/>
            </a:avLst>
          </a:prstGeom>
          <a:solidFill>
            <a:srgbClr val="1F4068"/>
          </a:solidFill>
          <a:ln/>
        </p:spPr>
      </p:sp>
      <p:sp>
        <p:nvSpPr>
          <p:cNvPr id="25" name="Text 18"/>
          <p:cNvSpPr/>
          <p:nvPr/>
        </p:nvSpPr>
        <p:spPr>
          <a:xfrm>
            <a:off x="6675120" y="45720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system’s core purpose on a broker’s weakest — and now archived — feature is the wrong foundation.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5029200" cy="5029200"/>
          </a:xfrm>
          <a:prstGeom prst="ellipse">
            <a:avLst/>
          </a:prstGeom>
          <a:solidFill>
            <a:srgbClr val="0A4F4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Adopt Apache ActiveMQ Artemis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finalist that treats scheduled delivery as a native, first-class primitive — over the same AMQP 1.0 Service Bus speaks, with a real cancel path. Keep RabbitMQ only as a fallback for short, best-effort delays.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we are — and what’s next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931920"/>
            <a:ext cx="2560320" cy="1874520"/>
          </a:xfrm>
          <a:prstGeom prst="roundRect">
            <a:avLst>
              <a:gd name="adj" fmla="val 4878"/>
            </a:avLst>
          </a:prstGeom>
          <a:solidFill>
            <a:srgbClr val="1F4068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4160520"/>
            <a:ext cx="548640" cy="548640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4800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PoC underway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5212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Cancel, failover, horizon — from .NET &amp; 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66160" y="3931920"/>
            <a:ext cx="2560320" cy="1874520"/>
          </a:xfrm>
          <a:prstGeom prst="roundRect">
            <a:avLst>
              <a:gd name="adj" fmla="val 4878"/>
            </a:avLst>
          </a:prstGeom>
          <a:solidFill>
            <a:srgbClr val="1F4068"/>
          </a:solidFill>
          <a:ln/>
        </p:spPr>
      </p:sp>
      <p:sp>
        <p:nvSpPr>
          <p:cNvPr id="13" name="Shape 11"/>
          <p:cNvSpPr/>
          <p:nvPr/>
        </p:nvSpPr>
        <p:spPr>
          <a:xfrm>
            <a:off x="3794760" y="4160520"/>
            <a:ext cx="548640" cy="548640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14" name="Text 12"/>
          <p:cNvSpPr/>
          <p:nvPr/>
        </p:nvSpPr>
        <p:spPr>
          <a:xfrm>
            <a:off x="37947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94760" y="4800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Scheduling abstraction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94760" y="5212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enqueue-at-time / cancel-by-id; stays swappable.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3931920"/>
            <a:ext cx="2560320" cy="1874520"/>
          </a:xfrm>
          <a:prstGeom prst="roundRect">
            <a:avLst>
              <a:gd name="adj" fmla="val 4878"/>
            </a:avLst>
          </a:prstGeom>
          <a:solidFill>
            <a:srgbClr val="1F4068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4160520"/>
            <a:ext cx="548640" cy="548640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37960" y="4800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Canary cutover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5212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abstraction.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52560" y="3931920"/>
            <a:ext cx="2560320" cy="1874520"/>
          </a:xfrm>
          <a:prstGeom prst="roundRect">
            <a:avLst>
              <a:gd name="adj" fmla="val 4878"/>
            </a:avLst>
          </a:prstGeom>
          <a:solidFill>
            <a:srgbClr val="1F4068"/>
          </a:solidFill>
          <a:ln/>
        </p:spPr>
      </p:sp>
      <p:sp>
        <p:nvSpPr>
          <p:cNvPr id="23" name="Shape 21"/>
          <p:cNvSpPr/>
          <p:nvPr/>
        </p:nvSpPr>
        <p:spPr>
          <a:xfrm>
            <a:off x="9281160" y="4160520"/>
            <a:ext cx="548640" cy="548640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81160" y="4800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Failover drill → prod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81160" y="5212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gated on PoC results.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 Artemis is operational unfamiliarity, not a feature gap — the PoC now underway retires it.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Artemis vs RabbitMQ</dc:title>
  <dc:subject>PptxGenJS Presentation</dc:subject>
  <dc:creator>Platform Engineering</dc:creator>
  <cp:lastModifiedBy>Platform Engineering</cp:lastModifiedBy>
  <cp:revision>1</cp:revision>
  <dcterms:created xsi:type="dcterms:W3CDTF">2026-06-17T12:15:54Z</dcterms:created>
  <dcterms:modified xsi:type="dcterms:W3CDTF">2026-06-17T12:15:54Z</dcterms:modified>
</cp:coreProperties>
</file>